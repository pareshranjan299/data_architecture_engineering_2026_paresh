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workflow and “Timeline for LCA Paid Media Automation” presentation.
[/Sources]
Cover slide. The approval wording is a proposed interpretation and should be confirmed with the CTO.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workflow and “Timeline for LCA Paid Media Automation” presentation.
[/Sources]
This slide follows the supplied flow. The exact external and internal approver identities remain to be confirmed.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workflow and “Timeline for LCA Paid Media Automation” presentation.
[/Sources]
The source deck does not define the exact summary fields, approver roles or acceptance criteria. The evidence lists are proposed design items to confirm.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workflow and “Timeline for LCA Paid Media Automation” presentation.
[/Sources]
AIO is treated as the canonical aggregated Gold view. Specific transformation and derived-column rules must be supplied by the project team.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workflow and “Timeline for LCA Paid Media Automation” presentation.
[/Sources]
This is a proposed logical architecture, not a confirmed AWS service selection. S3 is explicitly referenced in the source; the other components are implementation building blocks to validate.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workflow and “Timeline for LCA Paid Media Automation” presentation.
[/Sources]
Decision checklist based on gaps in the supplied flow and deck. These are questions to resolve, not confirmed requirements.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46BFE"/>
          </a:solidFill>
          <a:ln w="12700">
            <a:solidFill>
              <a:srgbClr val="246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05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7A87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AUTOMATION  |  PAID MEDIA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8229600" y="6510528"/>
            <a:ext cx="3429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A87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LCA Paid Media Architecture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83096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7A879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83096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7A879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image" Target="../media/image-2-9.png"/><Relationship Id="rId10" Type="http://schemas.openxmlformats.org/officeDocument/2006/relationships/image" Target="../media/image-2-10.svg"/><Relationship Id="rId11" Type="http://schemas.openxmlformats.org/officeDocument/2006/relationships/image" Target="../media/image-2-11.png"/><Relationship Id="rId12" Type="http://schemas.openxmlformats.org/officeDocument/2006/relationships/image" Target="../media/image-2-12.svg"/><Relationship Id="rId13" Type="http://schemas.openxmlformats.org/officeDocument/2006/relationships/image" Target="../media/image-2-13.png"/><Relationship Id="rId14" Type="http://schemas.openxmlformats.org/officeDocument/2006/relationships/image" Target="../media/image-2-14.svg"/><Relationship Id="rId15" Type="http://schemas.openxmlformats.org/officeDocument/2006/relationships/image" Target="../media/image-2-15.png"/><Relationship Id="rId16" Type="http://schemas.openxmlformats.org/officeDocument/2006/relationships/image" Target="../media/image-2-16.svg"/><Relationship Id="rId17" Type="http://schemas.openxmlformats.org/officeDocument/2006/relationships/image" Target="../media/image-2-17.png"/><Relationship Id="rId18" Type="http://schemas.openxmlformats.org/officeDocument/2006/relationships/image" Target="../media/image-2-18.svg"/><Relationship Id="rId19" Type="http://schemas.openxmlformats.org/officeDocument/2006/relationships/image" Target="../media/image-2-19.png"/><Relationship Id="rId20" Type="http://schemas.openxmlformats.org/officeDocument/2006/relationships/image" Target="../media/image-2-20.svg"/><Relationship Id="rId21" Type="http://schemas.openxmlformats.org/officeDocument/2006/relationships/image" Target="../media/image-2-21.png"/><Relationship Id="rId22" Type="http://schemas.openxmlformats.org/officeDocument/2006/relationships/image" Target="../media/image-2-22.svg"/><Relationship Id="rId23" Type="http://schemas.openxmlformats.org/officeDocument/2006/relationships/image" Target="../media/image-2-23.png"/><Relationship Id="rId24" Type="http://schemas.openxmlformats.org/officeDocument/2006/relationships/image" Target="../media/image-2-24.svg"/><Relationship Id="rId25" Type="http://schemas.openxmlformats.org/officeDocument/2006/relationships/slideLayout" Target="../slideLayouts/slideLayout2.xml"/><Relationship Id="rId2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image" Target="../media/image-5-9.png"/><Relationship Id="rId10" Type="http://schemas.openxmlformats.org/officeDocument/2006/relationships/image" Target="../media/image-5-10.svg"/><Relationship Id="rId11" Type="http://schemas.openxmlformats.org/officeDocument/2006/relationships/image" Target="../media/image-5-11.png"/><Relationship Id="rId12" Type="http://schemas.openxmlformats.org/officeDocument/2006/relationships/image" Target="../media/image-5-12.svg"/><Relationship Id="rId13" Type="http://schemas.openxmlformats.org/officeDocument/2006/relationships/image" Target="../media/image-5-13.png"/><Relationship Id="rId14" Type="http://schemas.openxmlformats.org/officeDocument/2006/relationships/image" Target="../media/image-5-14.svg"/><Relationship Id="rId15" Type="http://schemas.openxmlformats.org/officeDocument/2006/relationships/image" Target="../media/image-5-15.png"/><Relationship Id="rId16" Type="http://schemas.openxmlformats.org/officeDocument/2006/relationships/image" Target="../media/image-5-16.svg"/><Relationship Id="rId17" Type="http://schemas.openxmlformats.org/officeDocument/2006/relationships/image" Target="../media/image-5-17.png"/><Relationship Id="rId18" Type="http://schemas.openxmlformats.org/officeDocument/2006/relationships/image" Target="../media/image-5-18.svg"/><Relationship Id="rId19" Type="http://schemas.openxmlformats.org/officeDocument/2006/relationships/image" Target="../media/image-5-19.png"/><Relationship Id="rId20" Type="http://schemas.openxmlformats.org/officeDocument/2006/relationships/image" Target="../media/image-5-20.svg"/><Relationship Id="rId21" Type="http://schemas.openxmlformats.org/officeDocument/2006/relationships/image" Target="../media/image-5-21.png"/><Relationship Id="rId22" Type="http://schemas.openxmlformats.org/officeDocument/2006/relationships/image" Target="../media/image-5-22.svg"/><Relationship Id="rId23" Type="http://schemas.openxmlformats.org/officeDocument/2006/relationships/image" Target="../media/image-5-23.png"/><Relationship Id="rId24" Type="http://schemas.openxmlformats.org/officeDocument/2006/relationships/image" Target="../media/image-5-24.svg"/><Relationship Id="rId25" Type="http://schemas.openxmlformats.org/officeDocument/2006/relationships/image" Target="../media/image-5-25.png"/><Relationship Id="rId26" Type="http://schemas.openxmlformats.org/officeDocument/2006/relationships/image" Target="../media/image-5-26.svg"/><Relationship Id="rId27" Type="http://schemas.openxmlformats.org/officeDocument/2006/relationships/image" Target="../media/image-5-27.png"/><Relationship Id="rId28" Type="http://schemas.openxmlformats.org/officeDocument/2006/relationships/image" Target="../media/image-5-28.svg"/><Relationship Id="rId29" Type="http://schemas.openxmlformats.org/officeDocument/2006/relationships/image" Target="../media/image-5-29.png"/><Relationship Id="rId30" Type="http://schemas.openxmlformats.org/officeDocument/2006/relationships/image" Target="../media/image-5-30.svg"/><Relationship Id="rId31" Type="http://schemas.openxmlformats.org/officeDocument/2006/relationships/image" Target="../media/image-5-31.png"/><Relationship Id="rId32" Type="http://schemas.openxmlformats.org/officeDocument/2006/relationships/image" Target="../media/image-5-32.svg"/><Relationship Id="rId33" Type="http://schemas.openxmlformats.org/officeDocument/2006/relationships/image" Target="../media/image-5-33.png"/><Relationship Id="rId34" Type="http://schemas.openxmlformats.org/officeDocument/2006/relationships/image" Target="../media/image-5-34.svg"/><Relationship Id="rId35" Type="http://schemas.openxmlformats.org/officeDocument/2006/relationships/slideLayout" Target="../slideLayouts/slideLayout2.xml"/><Relationship Id="rId3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image" Target="../media/image-6-8.svg"/><Relationship Id="rId9" Type="http://schemas.openxmlformats.org/officeDocument/2006/relationships/image" Target="../media/image-6-9.png"/><Relationship Id="rId10" Type="http://schemas.openxmlformats.org/officeDocument/2006/relationships/image" Target="../media/image-6-10.svg"/><Relationship Id="rId11" Type="http://schemas.openxmlformats.org/officeDocument/2006/relationships/image" Target="../media/image-6-11.png"/><Relationship Id="rId12" Type="http://schemas.openxmlformats.org/officeDocument/2006/relationships/image" Target="../media/image-6-12.svg"/><Relationship Id="rId13" Type="http://schemas.openxmlformats.org/officeDocument/2006/relationships/image" Target="../media/image-6-13.png"/><Relationship Id="rId14" Type="http://schemas.openxmlformats.org/officeDocument/2006/relationships/image" Target="../media/image-6-14.svg"/><Relationship Id="rId15" Type="http://schemas.openxmlformats.org/officeDocument/2006/relationships/image" Target="../media/image-6-15.png"/><Relationship Id="rId16" Type="http://schemas.openxmlformats.org/officeDocument/2006/relationships/image" Target="../media/image-6-16.svg"/><Relationship Id="rId17" Type="http://schemas.openxmlformats.org/officeDocument/2006/relationships/image" Target="../media/image-6-17.png"/><Relationship Id="rId18" Type="http://schemas.openxmlformats.org/officeDocument/2006/relationships/image" Target="../media/image-6-18.svg"/><Relationship Id="rId19" Type="http://schemas.openxmlformats.org/officeDocument/2006/relationships/slideLayout" Target="../slideLayouts/slideLayout2.xml"/><Relationship Id="rId20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73152"/>
            <a:ext cx="12191695" cy="64008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183880" y="502920"/>
            <a:ext cx="3977640" cy="3977640"/>
          </a:xfrm>
          <a:prstGeom prst="ellipse">
            <a:avLst/>
          </a:prstGeom>
          <a:solidFill>
            <a:srgbClr val="EAF2FF">
              <a:alpha val="85000"/>
            </a:srgbClr>
          </a:solidFill>
          <a:ln w="12700">
            <a:solidFill>
              <a:srgbClr val="EAF2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15400" y="1143000"/>
            <a:ext cx="2880360" cy="2880360"/>
          </a:xfrm>
          <a:prstGeom prst="ellipse">
            <a:avLst/>
          </a:prstGeom>
          <a:solidFill>
            <a:srgbClr val="E8F8F5">
              <a:alpha val="88000"/>
            </a:srgbClr>
          </a:solidFill>
          <a:ln w="12700">
            <a:solidFill>
              <a:srgbClr val="E8F8F5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7772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246B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LCA PAID MEDIA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58368" y="1170432"/>
            <a:ext cx="70408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Automation</a:t>
            </a:r>
            <a:endParaRPr lang="en-US" sz="3300" dirty="0"/>
          </a:p>
          <a:p>
            <a:pPr indent="0" marL="0">
              <a:buNone/>
            </a:pPr>
            <a:r>
              <a:rPr lang="en-US" sz="33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&amp; Approval Flow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685800" y="2770632"/>
            <a:ext cx="6217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5262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visual blueprint from source intake to an approved, model-ready All-in-One data product.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685800" y="3584448"/>
            <a:ext cx="1691640" cy="256032"/>
          </a:xfrm>
          <a:prstGeom prst="roundRect">
            <a:avLst>
              <a:gd name="adj" fmla="val 21429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8952" y="3625596"/>
            <a:ext cx="1545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LOGICAL VIEW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85800" y="4023360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D29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→ Bronze → External Approval → Silver → Gold/AIO → Internal Approval → Model/LCA/Cockpit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9144000" y="1097280"/>
            <a:ext cx="2423160" cy="603504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25400">
            <a:solidFill>
              <a:srgbClr val="246BFE"/>
            </a:solidFill>
            <a:prstDash val="solid"/>
          </a:ln>
          <a:effectLst>
            <a:outerShdw sx="100000" sy="100000" kx="0" ky="0" algn="bl" rotWithShape="0" blurRad="15240" dist="889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9144000" y="1097280"/>
            <a:ext cx="118872" cy="603504"/>
          </a:xfrm>
          <a:prstGeom prst="rect">
            <a:avLst/>
          </a:prstGeom>
          <a:solidFill>
            <a:srgbClr val="246BFE"/>
          </a:solidFill>
          <a:ln w="12700">
            <a:solidFill>
              <a:srgbClr val="246B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45168" y="120700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29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345168" y="1426464"/>
            <a:ext cx="1737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262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files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9089136" y="1874520"/>
            <a:ext cx="2532888" cy="603504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25400">
            <a:solidFill>
              <a:srgbClr val="B87333"/>
            </a:solidFill>
            <a:prstDash val="solid"/>
          </a:ln>
          <a:effectLst>
            <a:outerShdw sx="100000" sy="100000" kx="0" ky="0" algn="bl" rotWithShape="0" blurRad="193548000" dist="112903000" dir="162000000000">
              <a:srgbClr val="000000">
                <a:alpha val="120000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089136" y="1874520"/>
            <a:ext cx="118872" cy="603504"/>
          </a:xfrm>
          <a:prstGeom prst="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45168" y="198424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29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BRONZE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345168" y="2203704"/>
            <a:ext cx="1737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262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DQ + summary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9034272" y="2651760"/>
            <a:ext cx="2642616" cy="603504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25400">
            <a:solidFill>
              <a:srgbClr val="A7B0BE"/>
            </a:solidFill>
            <a:prstDash val="solid"/>
          </a:ln>
          <a:effectLst>
            <a:outerShdw sx="100000" sy="100000" kx="0" ky="0" algn="bl" rotWithShape="0" blurRad="2458059600000" dist="1433868100000" dir="9720000000000000">
              <a:srgbClr val="000000">
                <a:alpha val="12000000000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034272" y="2651760"/>
            <a:ext cx="118872" cy="603504"/>
          </a:xfrm>
          <a:prstGeom prst="rect">
            <a:avLst/>
          </a:prstGeom>
          <a:solidFill>
            <a:srgbClr val="A7B0BE"/>
          </a:solidFill>
          <a:ln w="12700">
            <a:solidFill>
              <a:srgbClr val="A7B0B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45168" y="276148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29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SILVER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345168" y="2980944"/>
            <a:ext cx="1737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262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 + map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8979408" y="3429000"/>
            <a:ext cx="2752344" cy="603504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25400">
            <a:solidFill>
              <a:srgbClr val="D6A800"/>
            </a:solidFill>
            <a:prstDash val="solid"/>
          </a:ln>
          <a:effectLst>
            <a:outerShdw sx="100000" sy="100000" kx="0" ky="0" algn="bl" rotWithShape="0" blurRad="31217356920000000" dist="18210124870000000" dir="583200000000000000000">
              <a:srgbClr val="000000">
                <a:alpha val="1200000000000000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979408" y="3429000"/>
            <a:ext cx="118872" cy="603504"/>
          </a:xfrm>
          <a:prstGeom prst="rect">
            <a:avLst/>
          </a:prstGeom>
          <a:solidFill>
            <a:srgbClr val="D6A800"/>
          </a:solidFill>
          <a:ln w="12700">
            <a:solidFill>
              <a:srgbClr val="D6A8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345168" y="353872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29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 / AIO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345168" y="3758184"/>
            <a:ext cx="1737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262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Model-ready</a:t>
            </a:r>
            <a:endParaRPr lang="en-US" sz="880" dirty="0"/>
          </a:p>
        </p:txBody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503920" y="4407408"/>
            <a:ext cx="566928" cy="566928"/>
          </a:xfrm>
          <a:prstGeom prst="rect">
            <a:avLst/>
          </a:prstGeom>
        </p:spPr>
      </p:pic>
      <p:sp>
        <p:nvSpPr>
          <p:cNvPr id="28" name="Shape 25"/>
          <p:cNvSpPr/>
          <p:nvPr/>
        </p:nvSpPr>
        <p:spPr>
          <a:xfrm>
            <a:off x="9116568" y="4690872"/>
            <a:ext cx="621792" cy="0"/>
          </a:xfrm>
          <a:prstGeom prst="line">
            <a:avLst/>
          </a:prstGeom>
          <a:noFill/>
          <a:ln w="31750">
            <a:solidFill>
              <a:srgbClr val="2BAE66"/>
            </a:solidFill>
            <a:prstDash val="solid"/>
            <a:tailEnd type="triangle"/>
          </a:ln>
        </p:spPr>
      </p:sp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893808" y="4407408"/>
            <a:ext cx="566928" cy="566928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8412480" y="505663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BA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</a:t>
            </a:r>
            <a:endParaRPr lang="en-US" sz="850" dirty="0"/>
          </a:p>
        </p:txBody>
      </p:sp>
      <p:sp>
        <p:nvSpPr>
          <p:cNvPr id="31" name="Text 27"/>
          <p:cNvSpPr/>
          <p:nvPr/>
        </p:nvSpPr>
        <p:spPr>
          <a:xfrm>
            <a:off x="9784080" y="505663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0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CONSUMED</a:t>
            </a:r>
            <a:endParaRPr lang="en-US" sz="850" dirty="0"/>
          </a:p>
        </p:txBody>
      </p:sp>
      <p:sp>
        <p:nvSpPr>
          <p:cNvPr id="32" name="Shape 28"/>
          <p:cNvSpPr/>
          <p:nvPr/>
        </p:nvSpPr>
        <p:spPr>
          <a:xfrm>
            <a:off x="685800" y="4892040"/>
            <a:ext cx="662940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396460432884000000000" dist="231268585849000000000" dir="3.4992e+25">
              <a:srgbClr val="000000">
                <a:alpha val="1.2e+24"/>
              </a:srgbClr>
            </a:outerShdw>
          </a:effectLst>
        </p:spPr>
      </p:sp>
      <p:sp>
        <p:nvSpPr>
          <p:cNvPr id="33" name="Text 29"/>
          <p:cNvSpPr/>
          <p:nvPr/>
        </p:nvSpPr>
        <p:spPr>
          <a:xfrm>
            <a:off x="941832" y="507492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approval gates, two different questions</a:t>
            </a:r>
            <a:endParaRPr lang="en-US" sz="1250" dirty="0"/>
          </a:p>
        </p:txBody>
      </p:sp>
      <p:sp>
        <p:nvSpPr>
          <p:cNvPr id="34" name="Text 30"/>
          <p:cNvSpPr/>
          <p:nvPr/>
        </p:nvSpPr>
        <p:spPr>
          <a:xfrm>
            <a:off x="3703320" y="495604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62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External: “Did we understand the source data correctly?”</a:t>
            </a:r>
            <a:endParaRPr lang="en-US" sz="1000" dirty="0"/>
          </a:p>
        </p:txBody>
      </p:sp>
      <p:sp>
        <p:nvSpPr>
          <p:cNvPr id="35" name="Text 31"/>
          <p:cNvSpPr/>
          <p:nvPr/>
        </p:nvSpPr>
        <p:spPr>
          <a:xfrm>
            <a:off x="3703320" y="527608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62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Internal: “Is the final AIO ready for downstream use?”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83096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7A879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46888"/>
            <a:ext cx="88696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Data Flow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530352" y="749808"/>
            <a:ext cx="658368" cy="50292"/>
          </a:xfrm>
          <a:prstGeom prst="rect">
            <a:avLst/>
          </a:prstGeom>
          <a:solidFill>
            <a:srgbClr val="246BFE"/>
          </a:solidFill>
          <a:ln w="12700">
            <a:solidFill>
              <a:srgbClr val="246BF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98448" y="658368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2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pipeline promotes data only after the required approval gate is passed.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1481328"/>
            <a:ext cx="1572768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5.0350474976268e+24" dist="2.9371110402823e+24" dir="2.09952e+30">
              <a:srgbClr val="000000">
                <a:alpha val="1.2e+29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481328"/>
            <a:ext cx="1572768" cy="100584"/>
          </a:xfrm>
          <a:prstGeom prst="rect">
            <a:avLst/>
          </a:prstGeom>
          <a:solidFill>
            <a:srgbClr val="246BFE"/>
          </a:solidFill>
          <a:ln w="12700">
            <a:solidFill>
              <a:srgbClr val="246BF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2648" y="1627632"/>
            <a:ext cx="292608" cy="292608"/>
          </a:xfrm>
          <a:prstGeom prst="ellipse">
            <a:avLst/>
          </a:prstGeom>
          <a:solidFill>
            <a:srgbClr val="246BFE"/>
          </a:solidFill>
          <a:ln w="12700">
            <a:solidFill>
              <a:srgbClr val="246B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2648" y="1677924"/>
            <a:ext cx="292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545336" y="1636776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18488" y="1700784"/>
            <a:ext cx="237744" cy="23774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21792" y="2029968"/>
            <a:ext cx="1335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2939"/>
                </a:solidFill>
              </a:rPr>
              <a:t>Customer / Agency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21792" y="2350008"/>
            <a:ext cx="1335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dirty="0">
                <a:solidFill>
                  <a:srgbClr val="526273"/>
                </a:solidFill>
              </a:rPr>
              <a:t>Data owners and source providers</a:t>
            </a:r>
            <a:endParaRPr lang="en-US" sz="720" dirty="0"/>
          </a:p>
        </p:txBody>
      </p:sp>
      <p:sp>
        <p:nvSpPr>
          <p:cNvPr id="13" name="Shape 10"/>
          <p:cNvSpPr/>
          <p:nvPr/>
        </p:nvSpPr>
        <p:spPr>
          <a:xfrm>
            <a:off x="2313432" y="1481328"/>
            <a:ext cx="1572768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6.3945103219860365e+28" dist="3.730131021158521e+28" dir="1.259712e+35">
              <a:srgbClr val="000000">
                <a:alpha val="1.2e+34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313432" y="1481328"/>
            <a:ext cx="1572768" cy="100584"/>
          </a:xfrm>
          <a:prstGeom prst="rect">
            <a:avLst/>
          </a:prstGeom>
          <a:solidFill>
            <a:srgbClr val="4B8BFF"/>
          </a:solidFill>
          <a:ln w="12700">
            <a:solidFill>
              <a:srgbClr val="4B8BF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423160" y="1627632"/>
            <a:ext cx="292608" cy="292608"/>
          </a:xfrm>
          <a:prstGeom prst="ellipse">
            <a:avLst/>
          </a:prstGeom>
          <a:solidFill>
            <a:srgbClr val="4B8BFF"/>
          </a:solidFill>
          <a:ln w="12700">
            <a:solidFill>
              <a:srgbClr val="4B8B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423160" y="1677924"/>
            <a:ext cx="292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3355848" y="1636776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9000" y="1700784"/>
            <a:ext cx="237744" cy="237744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2432304" y="2029968"/>
            <a:ext cx="1335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2939"/>
                </a:solidFill>
              </a:rPr>
              <a:t>Source Files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2432304" y="2350008"/>
            <a:ext cx="1335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dirty="0">
                <a:solidFill>
                  <a:srgbClr val="526273"/>
                </a:solidFill>
              </a:rPr>
              <a:t>CSV, XLSX or approved delivery format</a:t>
            </a:r>
            <a:endParaRPr lang="en-US" sz="720" dirty="0"/>
          </a:p>
        </p:txBody>
      </p:sp>
      <p:sp>
        <p:nvSpPr>
          <p:cNvPr id="21" name="Shape 17"/>
          <p:cNvSpPr/>
          <p:nvPr/>
        </p:nvSpPr>
        <p:spPr>
          <a:xfrm>
            <a:off x="4123944" y="1481328"/>
            <a:ext cx="1572768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.121028108922266e+32" dist="4.737266396871322e+32" dir="7.558272e+39">
              <a:srgbClr val="000000">
                <a:alpha val="1.1999999999999999e+39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4123944" y="1481328"/>
            <a:ext cx="1572768" cy="100584"/>
          </a:xfrm>
          <a:prstGeom prst="rect">
            <a:avLst/>
          </a:prstGeom>
          <a:solidFill>
            <a:srgbClr val="00A9CE"/>
          </a:solidFill>
          <a:ln w="12700">
            <a:solidFill>
              <a:srgbClr val="00A9CE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4233672" y="1627632"/>
            <a:ext cx="292608" cy="292608"/>
          </a:xfrm>
          <a:prstGeom prst="ellipse">
            <a:avLst/>
          </a:prstGeom>
          <a:solidFill>
            <a:srgbClr val="00A9CE"/>
          </a:solidFill>
          <a:ln w="12700">
            <a:solidFill>
              <a:srgbClr val="00A9CE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4233672" y="1677924"/>
            <a:ext cx="292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50" dirty="0"/>
          </a:p>
        </p:txBody>
      </p:sp>
      <p:sp>
        <p:nvSpPr>
          <p:cNvPr id="25" name="Shape 21"/>
          <p:cNvSpPr/>
          <p:nvPr/>
        </p:nvSpPr>
        <p:spPr>
          <a:xfrm>
            <a:off x="5166360" y="1636776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E8F8FC"/>
          </a:solidFill>
          <a:ln w="12700">
            <a:solidFill>
              <a:srgbClr val="E8F8FC"/>
            </a:solidFill>
            <a:prstDash val="solid"/>
          </a:ln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39512" y="1700784"/>
            <a:ext cx="237744" cy="237744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4242816" y="2029968"/>
            <a:ext cx="1335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2939"/>
                </a:solidFill>
              </a:rPr>
              <a:t>S3 Raw</a:t>
            </a:r>
            <a:endParaRPr lang="en-US" sz="1050" dirty="0"/>
          </a:p>
        </p:txBody>
      </p:sp>
      <p:sp>
        <p:nvSpPr>
          <p:cNvPr id="28" name="Text 23"/>
          <p:cNvSpPr/>
          <p:nvPr/>
        </p:nvSpPr>
        <p:spPr>
          <a:xfrm>
            <a:off x="4242816" y="2350008"/>
            <a:ext cx="1335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dirty="0">
                <a:solidFill>
                  <a:srgbClr val="526273"/>
                </a:solidFill>
              </a:rPr>
              <a:t>Immutable landing copy in an organization folder</a:t>
            </a:r>
            <a:endParaRPr lang="en-US" sz="720" dirty="0"/>
          </a:p>
        </p:txBody>
      </p:sp>
      <p:sp>
        <p:nvSpPr>
          <p:cNvPr id="29" name="Shape 24"/>
          <p:cNvSpPr/>
          <p:nvPr/>
        </p:nvSpPr>
        <p:spPr>
          <a:xfrm>
            <a:off x="5934456" y="1481328"/>
            <a:ext cx="1572768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.0313705698331278e+37" dist="6.016328324026578e+36" dir="4.5349632000000006e+44">
              <a:srgbClr val="000000">
                <a:alpha val="1.1999999999999999e+44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5934456" y="1481328"/>
            <a:ext cx="1572768" cy="100584"/>
          </a:xfrm>
          <a:prstGeom prst="rect">
            <a:avLst/>
          </a:prstGeom>
          <a:solidFill>
            <a:srgbClr val="0FAE9B"/>
          </a:solidFill>
          <a:ln w="12700">
            <a:solidFill>
              <a:srgbClr val="0FAE9B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6044184" y="1627632"/>
            <a:ext cx="292608" cy="292608"/>
          </a:xfrm>
          <a:prstGeom prst="ellipse">
            <a:avLst/>
          </a:prstGeom>
          <a:solidFill>
            <a:srgbClr val="0FAE9B"/>
          </a:solidFill>
          <a:ln w="12700">
            <a:solidFill>
              <a:srgbClr val="0FAE9B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6044184" y="1677924"/>
            <a:ext cx="292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50" dirty="0"/>
          </a:p>
        </p:txBody>
      </p:sp>
      <p:sp>
        <p:nvSpPr>
          <p:cNvPr id="33" name="Shape 28"/>
          <p:cNvSpPr/>
          <p:nvPr/>
        </p:nvSpPr>
        <p:spPr>
          <a:xfrm>
            <a:off x="6976872" y="1636776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E8F8F5"/>
          </a:solidFill>
          <a:ln w="12700">
            <a:solidFill>
              <a:srgbClr val="E8F8F5"/>
            </a:solidFill>
            <a:prstDash val="solid"/>
          </a:ln>
        </p:spPr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050024" y="1700784"/>
            <a:ext cx="237744" cy="237744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6053328" y="2029968"/>
            <a:ext cx="1335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2939"/>
                </a:solidFill>
              </a:rPr>
              <a:t>Ingestion</a:t>
            </a:r>
            <a:endParaRPr lang="en-US" sz="1050" dirty="0"/>
          </a:p>
        </p:txBody>
      </p:sp>
      <p:sp>
        <p:nvSpPr>
          <p:cNvPr id="36" name="Text 30"/>
          <p:cNvSpPr/>
          <p:nvPr/>
        </p:nvSpPr>
        <p:spPr>
          <a:xfrm>
            <a:off x="6053328" y="2350008"/>
            <a:ext cx="1335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dirty="0">
                <a:solidFill>
                  <a:srgbClr val="526273"/>
                </a:solidFill>
              </a:rPr>
              <a:t>Column mapping, file checks and registration</a:t>
            </a:r>
            <a:endParaRPr lang="en-US" sz="720" dirty="0"/>
          </a:p>
        </p:txBody>
      </p:sp>
      <p:sp>
        <p:nvSpPr>
          <p:cNvPr id="37" name="Shape 31"/>
          <p:cNvSpPr/>
          <p:nvPr/>
        </p:nvSpPr>
        <p:spPr>
          <a:xfrm>
            <a:off x="7744968" y="1481328"/>
            <a:ext cx="1572768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.3098406236880722e+41" dist="7.640736971513754e+40" dir="2.72097792e+49">
              <a:srgbClr val="000000">
                <a:alpha val="1.2e+49"/>
              </a:srgbClr>
            </a:outerShdw>
          </a:effectLst>
        </p:spPr>
      </p:sp>
      <p:sp>
        <p:nvSpPr>
          <p:cNvPr id="38" name="Shape 32"/>
          <p:cNvSpPr/>
          <p:nvPr/>
        </p:nvSpPr>
        <p:spPr>
          <a:xfrm>
            <a:off x="7744968" y="1481328"/>
            <a:ext cx="1572768" cy="100584"/>
          </a:xfrm>
          <a:prstGeom prst="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7854696" y="1627632"/>
            <a:ext cx="292608" cy="292608"/>
          </a:xfrm>
          <a:prstGeom prst="ellipse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40" name="Text 34"/>
          <p:cNvSpPr/>
          <p:nvPr/>
        </p:nvSpPr>
        <p:spPr>
          <a:xfrm>
            <a:off x="7854696" y="1677924"/>
            <a:ext cx="292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50" dirty="0"/>
          </a:p>
        </p:txBody>
      </p:sp>
      <p:sp>
        <p:nvSpPr>
          <p:cNvPr id="41" name="Shape 35"/>
          <p:cNvSpPr/>
          <p:nvPr/>
        </p:nvSpPr>
        <p:spPr>
          <a:xfrm>
            <a:off x="8787384" y="1636776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7EEE8"/>
          </a:solidFill>
          <a:ln w="12700">
            <a:solidFill>
              <a:srgbClr val="F7EEE8"/>
            </a:solidFill>
            <a:prstDash val="solid"/>
          </a:ln>
        </p:spPr>
      </p:sp>
      <p:pic>
        <p:nvPicPr>
          <p:cNvPr id="42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860536" y="1700784"/>
            <a:ext cx="237744" cy="237744"/>
          </a:xfrm>
          <a:prstGeom prst="rect">
            <a:avLst/>
          </a:prstGeom>
        </p:spPr>
      </p:pic>
      <p:sp>
        <p:nvSpPr>
          <p:cNvPr id="43" name="Text 36"/>
          <p:cNvSpPr/>
          <p:nvPr/>
        </p:nvSpPr>
        <p:spPr>
          <a:xfrm>
            <a:off x="7863840" y="2029968"/>
            <a:ext cx="1335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2939"/>
                </a:solidFill>
              </a:rPr>
              <a:t>Bronze Layer</a:t>
            </a:r>
            <a:endParaRPr lang="en-US" sz="1050" dirty="0"/>
          </a:p>
        </p:txBody>
      </p:sp>
      <p:sp>
        <p:nvSpPr>
          <p:cNvPr id="44" name="Text 37"/>
          <p:cNvSpPr/>
          <p:nvPr/>
        </p:nvSpPr>
        <p:spPr>
          <a:xfrm>
            <a:off x="7863840" y="2350008"/>
            <a:ext cx="1335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dirty="0">
                <a:solidFill>
                  <a:srgbClr val="526273"/>
                </a:solidFill>
              </a:rPr>
              <a:t>Standardized raw + DQ checks + data summary</a:t>
            </a:r>
            <a:endParaRPr lang="en-US" sz="720" dirty="0"/>
          </a:p>
        </p:txBody>
      </p:sp>
      <p:sp>
        <p:nvSpPr>
          <p:cNvPr id="45" name="Shape 38"/>
          <p:cNvSpPr/>
          <p:nvPr/>
        </p:nvSpPr>
        <p:spPr>
          <a:xfrm>
            <a:off x="9555480" y="1481328"/>
            <a:ext cx="1572768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.6634975920838518e+45" dist="9.703735953822467e+44" dir="1.6325867520000003e+54">
              <a:srgbClr val="000000">
                <a:alpha val="1.2e+54"/>
              </a:srgbClr>
            </a:outerShdw>
          </a:effectLst>
        </p:spPr>
      </p:sp>
      <p:sp>
        <p:nvSpPr>
          <p:cNvPr id="46" name="Shape 39"/>
          <p:cNvSpPr/>
          <p:nvPr/>
        </p:nvSpPr>
        <p:spPr>
          <a:xfrm>
            <a:off x="9555480" y="1481328"/>
            <a:ext cx="1572768" cy="100584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47" name="Shape 40"/>
          <p:cNvSpPr/>
          <p:nvPr/>
        </p:nvSpPr>
        <p:spPr>
          <a:xfrm>
            <a:off x="9665208" y="1627632"/>
            <a:ext cx="292608" cy="29260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48" name="Text 41"/>
          <p:cNvSpPr/>
          <p:nvPr/>
        </p:nvSpPr>
        <p:spPr>
          <a:xfrm>
            <a:off x="9665208" y="1677924"/>
            <a:ext cx="292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50" dirty="0"/>
          </a:p>
        </p:txBody>
      </p:sp>
      <p:sp>
        <p:nvSpPr>
          <p:cNvPr id="49" name="Shape 42"/>
          <p:cNvSpPr/>
          <p:nvPr/>
        </p:nvSpPr>
        <p:spPr>
          <a:xfrm>
            <a:off x="10597896" y="1636776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FF6DB"/>
          </a:solidFill>
          <a:ln w="12700">
            <a:solidFill>
              <a:srgbClr val="FFF6DB"/>
            </a:solidFill>
            <a:prstDash val="solid"/>
          </a:ln>
        </p:spPr>
      </p:sp>
      <p:pic>
        <p:nvPicPr>
          <p:cNvPr id="50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671048" y="1700784"/>
            <a:ext cx="237744" cy="237744"/>
          </a:xfrm>
          <a:prstGeom prst="rect">
            <a:avLst/>
          </a:prstGeom>
        </p:spPr>
      </p:pic>
      <p:sp>
        <p:nvSpPr>
          <p:cNvPr id="51" name="Text 43"/>
          <p:cNvSpPr/>
          <p:nvPr/>
        </p:nvSpPr>
        <p:spPr>
          <a:xfrm>
            <a:off x="9674352" y="2029968"/>
            <a:ext cx="1335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2939"/>
                </a:solidFill>
              </a:rPr>
              <a:t>External Approval</a:t>
            </a:r>
            <a:endParaRPr lang="en-US" sz="1050" dirty="0"/>
          </a:p>
        </p:txBody>
      </p:sp>
      <p:sp>
        <p:nvSpPr>
          <p:cNvPr id="52" name="Text 44"/>
          <p:cNvSpPr/>
          <p:nvPr/>
        </p:nvSpPr>
        <p:spPr>
          <a:xfrm>
            <a:off x="9674352" y="2350008"/>
            <a:ext cx="1335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dirty="0">
                <a:solidFill>
                  <a:srgbClr val="526273"/>
                </a:solidFill>
              </a:rPr>
              <a:t>Client or external reviewer confirms the summary</a:t>
            </a:r>
            <a:endParaRPr lang="en-US" sz="720" dirty="0"/>
          </a:p>
        </p:txBody>
      </p:sp>
      <p:sp>
        <p:nvSpPr>
          <p:cNvPr id="53" name="Shape 45"/>
          <p:cNvSpPr/>
          <p:nvPr/>
        </p:nvSpPr>
        <p:spPr>
          <a:xfrm>
            <a:off x="2112264" y="2130552"/>
            <a:ext cx="164592" cy="0"/>
          </a:xfrm>
          <a:prstGeom prst="line">
            <a:avLst/>
          </a:prstGeom>
          <a:noFill/>
          <a:ln w="27940">
            <a:solidFill>
              <a:srgbClr val="246BFE"/>
            </a:solidFill>
            <a:prstDash val="solid"/>
            <a:tailEnd type="triangle"/>
          </a:ln>
        </p:spPr>
      </p:sp>
      <p:sp>
        <p:nvSpPr>
          <p:cNvPr id="54" name="Shape 46"/>
          <p:cNvSpPr/>
          <p:nvPr/>
        </p:nvSpPr>
        <p:spPr>
          <a:xfrm>
            <a:off x="3922776" y="2130552"/>
            <a:ext cx="164592" cy="0"/>
          </a:xfrm>
          <a:prstGeom prst="line">
            <a:avLst/>
          </a:prstGeom>
          <a:noFill/>
          <a:ln w="27940">
            <a:solidFill>
              <a:srgbClr val="246BFE"/>
            </a:solidFill>
            <a:prstDash val="solid"/>
            <a:tailEnd type="triangle"/>
          </a:ln>
        </p:spPr>
      </p:sp>
      <p:sp>
        <p:nvSpPr>
          <p:cNvPr id="55" name="Shape 47"/>
          <p:cNvSpPr/>
          <p:nvPr/>
        </p:nvSpPr>
        <p:spPr>
          <a:xfrm>
            <a:off x="5733288" y="2130552"/>
            <a:ext cx="164592" cy="0"/>
          </a:xfrm>
          <a:prstGeom prst="line">
            <a:avLst/>
          </a:prstGeom>
          <a:noFill/>
          <a:ln w="27940">
            <a:solidFill>
              <a:srgbClr val="246BFE"/>
            </a:solidFill>
            <a:prstDash val="solid"/>
            <a:tailEnd type="triangle"/>
          </a:ln>
        </p:spPr>
      </p:sp>
      <p:sp>
        <p:nvSpPr>
          <p:cNvPr id="56" name="Shape 48"/>
          <p:cNvSpPr/>
          <p:nvPr/>
        </p:nvSpPr>
        <p:spPr>
          <a:xfrm>
            <a:off x="7543800" y="2130552"/>
            <a:ext cx="164592" cy="0"/>
          </a:xfrm>
          <a:prstGeom prst="line">
            <a:avLst/>
          </a:prstGeom>
          <a:noFill/>
          <a:ln w="27940">
            <a:solidFill>
              <a:srgbClr val="246BFE"/>
            </a:solidFill>
            <a:prstDash val="solid"/>
            <a:tailEnd type="triangle"/>
          </a:ln>
        </p:spPr>
      </p:sp>
      <p:sp>
        <p:nvSpPr>
          <p:cNvPr id="57" name="Shape 49"/>
          <p:cNvSpPr/>
          <p:nvPr/>
        </p:nvSpPr>
        <p:spPr>
          <a:xfrm>
            <a:off x="9354312" y="2130552"/>
            <a:ext cx="164592" cy="0"/>
          </a:xfrm>
          <a:prstGeom prst="line">
            <a:avLst/>
          </a:prstGeom>
          <a:noFill/>
          <a:ln w="27940">
            <a:solidFill>
              <a:srgbClr val="246BFE"/>
            </a:solidFill>
            <a:prstDash val="solid"/>
            <a:tailEnd type="triangle"/>
          </a:ln>
        </p:spPr>
      </p:sp>
      <p:sp>
        <p:nvSpPr>
          <p:cNvPr id="58" name="Shape 50"/>
          <p:cNvSpPr/>
          <p:nvPr/>
        </p:nvSpPr>
        <p:spPr>
          <a:xfrm>
            <a:off x="502920" y="3977640"/>
            <a:ext cx="1572768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2.1126419419464918e+49" dist="1.2323744661354533e+49" dir="9.795520512000002e+58">
              <a:srgbClr val="000000">
                <a:alpha val="1.2e+59"/>
              </a:srgbClr>
            </a:outerShdw>
          </a:effectLst>
        </p:spPr>
      </p:sp>
      <p:sp>
        <p:nvSpPr>
          <p:cNvPr id="59" name="Shape 51"/>
          <p:cNvSpPr/>
          <p:nvPr/>
        </p:nvSpPr>
        <p:spPr>
          <a:xfrm>
            <a:off x="502920" y="3977640"/>
            <a:ext cx="1572768" cy="100584"/>
          </a:xfrm>
          <a:prstGeom prst="rect">
            <a:avLst/>
          </a:prstGeom>
          <a:solidFill>
            <a:srgbClr val="705CF6"/>
          </a:solidFill>
          <a:ln w="12700">
            <a:solidFill>
              <a:srgbClr val="705CF6"/>
            </a:solidFill>
            <a:prstDash val="solid"/>
          </a:ln>
        </p:spPr>
      </p:sp>
      <p:sp>
        <p:nvSpPr>
          <p:cNvPr id="60" name="Shape 52"/>
          <p:cNvSpPr/>
          <p:nvPr/>
        </p:nvSpPr>
        <p:spPr>
          <a:xfrm>
            <a:off x="612648" y="4123944"/>
            <a:ext cx="292608" cy="292608"/>
          </a:xfrm>
          <a:prstGeom prst="ellipse">
            <a:avLst/>
          </a:prstGeom>
          <a:solidFill>
            <a:srgbClr val="705CF6"/>
          </a:solidFill>
          <a:ln w="12700">
            <a:solidFill>
              <a:srgbClr val="705CF6"/>
            </a:solidFill>
            <a:prstDash val="solid"/>
          </a:ln>
        </p:spPr>
      </p:sp>
      <p:sp>
        <p:nvSpPr>
          <p:cNvPr id="61" name="Text 53"/>
          <p:cNvSpPr/>
          <p:nvPr/>
        </p:nvSpPr>
        <p:spPr>
          <a:xfrm>
            <a:off x="612648" y="4174236"/>
            <a:ext cx="292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850" dirty="0"/>
          </a:p>
        </p:txBody>
      </p:sp>
      <p:sp>
        <p:nvSpPr>
          <p:cNvPr id="62" name="Shape 54"/>
          <p:cNvSpPr/>
          <p:nvPr/>
        </p:nvSpPr>
        <p:spPr>
          <a:xfrm>
            <a:off x="1545336" y="413308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0EDFF"/>
          </a:solidFill>
          <a:ln w="12700">
            <a:solidFill>
              <a:srgbClr val="F0EDFF"/>
            </a:solidFill>
            <a:prstDash val="solid"/>
          </a:ln>
        </p:spPr>
      </p:sp>
      <p:pic>
        <p:nvPicPr>
          <p:cNvPr id="63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618488" y="4197096"/>
            <a:ext cx="237744" cy="237744"/>
          </a:xfrm>
          <a:prstGeom prst="rect">
            <a:avLst/>
          </a:prstGeom>
        </p:spPr>
      </p:pic>
      <p:sp>
        <p:nvSpPr>
          <p:cNvPr id="64" name="Text 55"/>
          <p:cNvSpPr/>
          <p:nvPr/>
        </p:nvSpPr>
        <p:spPr>
          <a:xfrm>
            <a:off x="621792" y="4526280"/>
            <a:ext cx="1335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2939"/>
                </a:solidFill>
              </a:rPr>
              <a:t>Model / LCA / Cockpit</a:t>
            </a:r>
            <a:endParaRPr lang="en-US" sz="1050" dirty="0"/>
          </a:p>
        </p:txBody>
      </p:sp>
      <p:sp>
        <p:nvSpPr>
          <p:cNvPr id="65" name="Text 56"/>
          <p:cNvSpPr/>
          <p:nvPr/>
        </p:nvSpPr>
        <p:spPr>
          <a:xfrm>
            <a:off x="621792" y="4846320"/>
            <a:ext cx="1335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dirty="0">
                <a:solidFill>
                  <a:srgbClr val="526273"/>
                </a:solidFill>
              </a:rPr>
              <a:t>Authorized downstream consumers</a:t>
            </a:r>
            <a:endParaRPr lang="en-US" sz="720" dirty="0"/>
          </a:p>
        </p:txBody>
      </p:sp>
      <p:sp>
        <p:nvSpPr>
          <p:cNvPr id="66" name="Shape 57"/>
          <p:cNvSpPr/>
          <p:nvPr/>
        </p:nvSpPr>
        <p:spPr>
          <a:xfrm>
            <a:off x="2313432" y="3977640"/>
            <a:ext cx="1572768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2.6830552662720448e+53" dist="1.5651155719920258e+53" dir="5.877312307200001e+63">
              <a:srgbClr val="000000">
                <a:alpha val="1.2000000000000001e+64"/>
              </a:srgbClr>
            </a:outerShdw>
          </a:effectLst>
        </p:spPr>
      </p:sp>
      <p:sp>
        <p:nvSpPr>
          <p:cNvPr id="67" name="Shape 58"/>
          <p:cNvSpPr/>
          <p:nvPr/>
        </p:nvSpPr>
        <p:spPr>
          <a:xfrm>
            <a:off x="2313432" y="3977640"/>
            <a:ext cx="1572768" cy="100584"/>
          </a:xfrm>
          <a:prstGeom prst="rect">
            <a:avLst/>
          </a:prstGeom>
          <a:solidFill>
            <a:srgbClr val="2BAE66"/>
          </a:solidFill>
          <a:ln w="12700">
            <a:solidFill>
              <a:srgbClr val="2BAE66"/>
            </a:solidFill>
            <a:prstDash val="solid"/>
          </a:ln>
        </p:spPr>
      </p:sp>
      <p:sp>
        <p:nvSpPr>
          <p:cNvPr id="68" name="Shape 59"/>
          <p:cNvSpPr/>
          <p:nvPr/>
        </p:nvSpPr>
        <p:spPr>
          <a:xfrm>
            <a:off x="2423160" y="4123944"/>
            <a:ext cx="292608" cy="292608"/>
          </a:xfrm>
          <a:prstGeom prst="ellipse">
            <a:avLst/>
          </a:prstGeom>
          <a:solidFill>
            <a:srgbClr val="2BAE66"/>
          </a:solidFill>
          <a:ln w="12700">
            <a:solidFill>
              <a:srgbClr val="2BAE66"/>
            </a:solidFill>
            <a:prstDash val="solid"/>
          </a:ln>
        </p:spPr>
      </p:sp>
      <p:sp>
        <p:nvSpPr>
          <p:cNvPr id="69" name="Text 60"/>
          <p:cNvSpPr/>
          <p:nvPr/>
        </p:nvSpPr>
        <p:spPr>
          <a:xfrm>
            <a:off x="2423160" y="4174236"/>
            <a:ext cx="292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50" dirty="0"/>
          </a:p>
        </p:txBody>
      </p:sp>
      <p:sp>
        <p:nvSpPr>
          <p:cNvPr id="70" name="Shape 61"/>
          <p:cNvSpPr/>
          <p:nvPr/>
        </p:nvSpPr>
        <p:spPr>
          <a:xfrm>
            <a:off x="3355848" y="413308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E8F8F5"/>
          </a:solidFill>
          <a:ln w="12700">
            <a:solidFill>
              <a:srgbClr val="E8F8F5"/>
            </a:solidFill>
            <a:prstDash val="solid"/>
          </a:ln>
        </p:spPr>
      </p:sp>
      <p:pic>
        <p:nvPicPr>
          <p:cNvPr id="71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429000" y="4197096"/>
            <a:ext cx="237744" cy="237744"/>
          </a:xfrm>
          <a:prstGeom prst="rect">
            <a:avLst/>
          </a:prstGeom>
        </p:spPr>
      </p:pic>
      <p:sp>
        <p:nvSpPr>
          <p:cNvPr id="72" name="Text 62"/>
          <p:cNvSpPr/>
          <p:nvPr/>
        </p:nvSpPr>
        <p:spPr>
          <a:xfrm>
            <a:off x="2432304" y="4526280"/>
            <a:ext cx="1335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2939"/>
                </a:solidFill>
              </a:rPr>
              <a:t>Final Data Product</a:t>
            </a:r>
            <a:endParaRPr lang="en-US" sz="1050" dirty="0"/>
          </a:p>
        </p:txBody>
      </p:sp>
      <p:sp>
        <p:nvSpPr>
          <p:cNvPr id="73" name="Text 63"/>
          <p:cNvSpPr/>
          <p:nvPr/>
        </p:nvSpPr>
        <p:spPr>
          <a:xfrm>
            <a:off x="2432304" y="4846320"/>
            <a:ext cx="1335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dirty="0">
                <a:solidFill>
                  <a:srgbClr val="526273"/>
                </a:solidFill>
              </a:rPr>
              <a:t>Approved version is published and accessible</a:t>
            </a:r>
            <a:endParaRPr lang="en-US" sz="720" dirty="0"/>
          </a:p>
        </p:txBody>
      </p:sp>
      <p:sp>
        <p:nvSpPr>
          <p:cNvPr id="74" name="Shape 64"/>
          <p:cNvSpPr/>
          <p:nvPr/>
        </p:nvSpPr>
        <p:spPr>
          <a:xfrm>
            <a:off x="4123944" y="3977640"/>
            <a:ext cx="1572768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3.407480188165497e+57" dist="1.9876967764298727e+57" dir="3.526387384320001e+68">
              <a:srgbClr val="000000">
                <a:alpha val="1.2e+69"/>
              </a:srgbClr>
            </a:outerShdw>
          </a:effectLst>
        </p:spPr>
      </p:sp>
      <p:sp>
        <p:nvSpPr>
          <p:cNvPr id="75" name="Shape 65"/>
          <p:cNvSpPr/>
          <p:nvPr/>
        </p:nvSpPr>
        <p:spPr>
          <a:xfrm>
            <a:off x="4123944" y="3977640"/>
            <a:ext cx="1572768" cy="10058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76" name="Shape 66"/>
          <p:cNvSpPr/>
          <p:nvPr/>
        </p:nvSpPr>
        <p:spPr>
          <a:xfrm>
            <a:off x="4233672" y="4123944"/>
            <a:ext cx="292608" cy="292608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77" name="Text 67"/>
          <p:cNvSpPr/>
          <p:nvPr/>
        </p:nvSpPr>
        <p:spPr>
          <a:xfrm>
            <a:off x="4233672" y="4174236"/>
            <a:ext cx="292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50" dirty="0"/>
          </a:p>
        </p:txBody>
      </p:sp>
      <p:sp>
        <p:nvSpPr>
          <p:cNvPr id="78" name="Shape 68"/>
          <p:cNvSpPr/>
          <p:nvPr/>
        </p:nvSpPr>
        <p:spPr>
          <a:xfrm>
            <a:off x="5166360" y="413308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E9EEF4"/>
          </a:solidFill>
          <a:ln w="12700">
            <a:solidFill>
              <a:srgbClr val="E9EEF4"/>
            </a:solidFill>
            <a:prstDash val="solid"/>
          </a:ln>
        </p:spPr>
      </p:sp>
      <p:pic>
        <p:nvPicPr>
          <p:cNvPr id="79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239512" y="4197096"/>
            <a:ext cx="237744" cy="237744"/>
          </a:xfrm>
          <a:prstGeom prst="rect">
            <a:avLst/>
          </a:prstGeom>
        </p:spPr>
      </p:pic>
      <p:sp>
        <p:nvSpPr>
          <p:cNvPr id="80" name="Text 69"/>
          <p:cNvSpPr/>
          <p:nvPr/>
        </p:nvSpPr>
        <p:spPr>
          <a:xfrm>
            <a:off x="4242816" y="4526280"/>
            <a:ext cx="1335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2939"/>
                </a:solidFill>
              </a:rPr>
              <a:t>Internal Approval</a:t>
            </a:r>
            <a:endParaRPr lang="en-US" sz="1050" dirty="0"/>
          </a:p>
        </p:txBody>
      </p:sp>
      <p:sp>
        <p:nvSpPr>
          <p:cNvPr id="81" name="Text 70"/>
          <p:cNvSpPr/>
          <p:nvPr/>
        </p:nvSpPr>
        <p:spPr>
          <a:xfrm>
            <a:off x="4242816" y="4846320"/>
            <a:ext cx="1335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dirty="0">
                <a:solidFill>
                  <a:srgbClr val="526273"/>
                </a:solidFill>
              </a:rPr>
              <a:t>Data / model team validates AIO readiness</a:t>
            </a:r>
            <a:endParaRPr lang="en-US" sz="720" dirty="0"/>
          </a:p>
        </p:txBody>
      </p:sp>
      <p:sp>
        <p:nvSpPr>
          <p:cNvPr id="82" name="Shape 71"/>
          <p:cNvSpPr/>
          <p:nvPr/>
        </p:nvSpPr>
        <p:spPr>
          <a:xfrm>
            <a:off x="5934456" y="3977640"/>
            <a:ext cx="1572768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4.327499838970181e+61" dist="2.5243749060659382e+61" dir="2.1158324305920003e+73">
              <a:srgbClr val="000000">
                <a:alpha val="1.2e+74"/>
              </a:srgbClr>
            </a:outerShdw>
          </a:effectLst>
        </p:spPr>
      </p:sp>
      <p:sp>
        <p:nvSpPr>
          <p:cNvPr id="83" name="Shape 72"/>
          <p:cNvSpPr/>
          <p:nvPr/>
        </p:nvSpPr>
        <p:spPr>
          <a:xfrm>
            <a:off x="5934456" y="3977640"/>
            <a:ext cx="1572768" cy="100584"/>
          </a:xfrm>
          <a:prstGeom prst="rect">
            <a:avLst/>
          </a:prstGeom>
          <a:solidFill>
            <a:srgbClr val="D6A800"/>
          </a:solidFill>
          <a:ln w="12700">
            <a:solidFill>
              <a:srgbClr val="D6A800"/>
            </a:solidFill>
            <a:prstDash val="solid"/>
          </a:ln>
        </p:spPr>
      </p:sp>
      <p:sp>
        <p:nvSpPr>
          <p:cNvPr id="84" name="Shape 73"/>
          <p:cNvSpPr/>
          <p:nvPr/>
        </p:nvSpPr>
        <p:spPr>
          <a:xfrm>
            <a:off x="6044184" y="4123944"/>
            <a:ext cx="292608" cy="292608"/>
          </a:xfrm>
          <a:prstGeom prst="ellipse">
            <a:avLst/>
          </a:prstGeom>
          <a:solidFill>
            <a:srgbClr val="D6A800"/>
          </a:solidFill>
          <a:ln w="12700">
            <a:solidFill>
              <a:srgbClr val="D6A800"/>
            </a:solidFill>
            <a:prstDash val="solid"/>
          </a:ln>
        </p:spPr>
      </p:sp>
      <p:sp>
        <p:nvSpPr>
          <p:cNvPr id="85" name="Text 74"/>
          <p:cNvSpPr/>
          <p:nvPr/>
        </p:nvSpPr>
        <p:spPr>
          <a:xfrm>
            <a:off x="6044184" y="4174236"/>
            <a:ext cx="292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50" dirty="0"/>
          </a:p>
        </p:txBody>
      </p:sp>
      <p:sp>
        <p:nvSpPr>
          <p:cNvPr id="86" name="Shape 75"/>
          <p:cNvSpPr/>
          <p:nvPr/>
        </p:nvSpPr>
        <p:spPr>
          <a:xfrm>
            <a:off x="6976872" y="413308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FF6DB"/>
          </a:solidFill>
          <a:ln w="12700">
            <a:solidFill>
              <a:srgbClr val="FFF6DB"/>
            </a:solidFill>
            <a:prstDash val="solid"/>
          </a:ln>
        </p:spPr>
      </p:sp>
      <p:pic>
        <p:nvPicPr>
          <p:cNvPr id="87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7050024" y="4197096"/>
            <a:ext cx="237744" cy="237744"/>
          </a:xfrm>
          <a:prstGeom prst="rect">
            <a:avLst/>
          </a:prstGeom>
        </p:spPr>
      </p:pic>
      <p:sp>
        <p:nvSpPr>
          <p:cNvPr id="88" name="Text 76"/>
          <p:cNvSpPr/>
          <p:nvPr/>
        </p:nvSpPr>
        <p:spPr>
          <a:xfrm>
            <a:off x="6053328" y="4526280"/>
            <a:ext cx="1335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2939"/>
                </a:solidFill>
              </a:rPr>
              <a:t>All-in-One (AIO)</a:t>
            </a:r>
            <a:endParaRPr lang="en-US" sz="1050" dirty="0"/>
          </a:p>
        </p:txBody>
      </p:sp>
      <p:sp>
        <p:nvSpPr>
          <p:cNvPr id="89" name="Text 77"/>
          <p:cNvSpPr/>
          <p:nvPr/>
        </p:nvSpPr>
        <p:spPr>
          <a:xfrm>
            <a:off x="6053328" y="4846320"/>
            <a:ext cx="1335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dirty="0">
                <a:solidFill>
                  <a:srgbClr val="526273"/>
                </a:solidFill>
              </a:rPr>
              <a:t>Canonical aggregated Gold view</a:t>
            </a:r>
            <a:endParaRPr lang="en-US" sz="720" dirty="0"/>
          </a:p>
        </p:txBody>
      </p:sp>
      <p:sp>
        <p:nvSpPr>
          <p:cNvPr id="90" name="Shape 78"/>
          <p:cNvSpPr/>
          <p:nvPr/>
        </p:nvSpPr>
        <p:spPr>
          <a:xfrm>
            <a:off x="7744968" y="3977640"/>
            <a:ext cx="1572768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5.49592479549213e+65" dist="3.2059561307037413e+65" dir="1.2694994583552002e+78">
              <a:srgbClr val="000000">
                <a:alpha val="1.2000000000000001e+79"/>
              </a:srgbClr>
            </a:outerShdw>
          </a:effectLst>
        </p:spPr>
      </p:sp>
      <p:sp>
        <p:nvSpPr>
          <p:cNvPr id="91" name="Shape 79"/>
          <p:cNvSpPr/>
          <p:nvPr/>
        </p:nvSpPr>
        <p:spPr>
          <a:xfrm>
            <a:off x="7744968" y="3977640"/>
            <a:ext cx="1572768" cy="100584"/>
          </a:xfrm>
          <a:prstGeom prst="rect">
            <a:avLst/>
          </a:prstGeom>
          <a:solidFill>
            <a:srgbClr val="D6A800"/>
          </a:solidFill>
          <a:ln w="12700">
            <a:solidFill>
              <a:srgbClr val="D6A800"/>
            </a:solidFill>
            <a:prstDash val="solid"/>
          </a:ln>
        </p:spPr>
      </p:sp>
      <p:sp>
        <p:nvSpPr>
          <p:cNvPr id="92" name="Shape 80"/>
          <p:cNvSpPr/>
          <p:nvPr/>
        </p:nvSpPr>
        <p:spPr>
          <a:xfrm>
            <a:off x="7854696" y="4123944"/>
            <a:ext cx="292608" cy="292608"/>
          </a:xfrm>
          <a:prstGeom prst="ellipse">
            <a:avLst/>
          </a:prstGeom>
          <a:solidFill>
            <a:srgbClr val="D6A800"/>
          </a:solidFill>
          <a:ln w="12700">
            <a:solidFill>
              <a:srgbClr val="D6A800"/>
            </a:solidFill>
            <a:prstDash val="solid"/>
          </a:ln>
        </p:spPr>
      </p:sp>
      <p:sp>
        <p:nvSpPr>
          <p:cNvPr id="93" name="Text 81"/>
          <p:cNvSpPr/>
          <p:nvPr/>
        </p:nvSpPr>
        <p:spPr>
          <a:xfrm>
            <a:off x="7854696" y="4174236"/>
            <a:ext cx="292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50" dirty="0"/>
          </a:p>
        </p:txBody>
      </p:sp>
      <p:sp>
        <p:nvSpPr>
          <p:cNvPr id="94" name="Shape 82"/>
          <p:cNvSpPr/>
          <p:nvPr/>
        </p:nvSpPr>
        <p:spPr>
          <a:xfrm>
            <a:off x="8787384" y="413308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FF6DB"/>
          </a:solidFill>
          <a:ln w="12700">
            <a:solidFill>
              <a:srgbClr val="FFF6DB"/>
            </a:solidFill>
            <a:prstDash val="solid"/>
          </a:ln>
        </p:spPr>
      </p:sp>
      <p:pic>
        <p:nvPicPr>
          <p:cNvPr id="95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8860536" y="4197096"/>
            <a:ext cx="237744" cy="237744"/>
          </a:xfrm>
          <a:prstGeom prst="rect">
            <a:avLst/>
          </a:prstGeom>
        </p:spPr>
      </p:pic>
      <p:sp>
        <p:nvSpPr>
          <p:cNvPr id="96" name="Text 83"/>
          <p:cNvSpPr/>
          <p:nvPr/>
        </p:nvSpPr>
        <p:spPr>
          <a:xfrm>
            <a:off x="7863840" y="4526280"/>
            <a:ext cx="1335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2939"/>
                </a:solidFill>
              </a:rPr>
              <a:t>Gold Layer</a:t>
            </a:r>
            <a:endParaRPr lang="en-US" sz="1050" dirty="0"/>
          </a:p>
        </p:txBody>
      </p:sp>
      <p:sp>
        <p:nvSpPr>
          <p:cNvPr id="97" name="Text 84"/>
          <p:cNvSpPr/>
          <p:nvPr/>
        </p:nvSpPr>
        <p:spPr>
          <a:xfrm>
            <a:off x="7863840" y="4846320"/>
            <a:ext cx="1335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dirty="0">
                <a:solidFill>
                  <a:srgbClr val="526273"/>
                </a:solidFill>
              </a:rPr>
              <a:t>Derived columns and business-ready logic</a:t>
            </a:r>
            <a:endParaRPr lang="en-US" sz="720" dirty="0"/>
          </a:p>
        </p:txBody>
      </p:sp>
      <p:sp>
        <p:nvSpPr>
          <p:cNvPr id="98" name="Shape 85"/>
          <p:cNvSpPr/>
          <p:nvPr/>
        </p:nvSpPr>
        <p:spPr>
          <a:xfrm>
            <a:off x="9555480" y="3977640"/>
            <a:ext cx="1572768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6.979824490275004e+69" dist="4.071564285993752e+69" dir="7.616996750131201e+82">
              <a:srgbClr val="000000">
                <a:alpha val="1.2000000000000002e+84"/>
              </a:srgbClr>
            </a:outerShdw>
          </a:effectLst>
        </p:spPr>
      </p:sp>
      <p:sp>
        <p:nvSpPr>
          <p:cNvPr id="99" name="Shape 86"/>
          <p:cNvSpPr/>
          <p:nvPr/>
        </p:nvSpPr>
        <p:spPr>
          <a:xfrm>
            <a:off x="9555480" y="3977640"/>
            <a:ext cx="1572768" cy="100584"/>
          </a:xfrm>
          <a:prstGeom prst="rect">
            <a:avLst/>
          </a:prstGeom>
          <a:solidFill>
            <a:srgbClr val="A7B0BE"/>
          </a:solidFill>
          <a:ln w="12700">
            <a:solidFill>
              <a:srgbClr val="A7B0BE"/>
            </a:solidFill>
            <a:prstDash val="solid"/>
          </a:ln>
        </p:spPr>
      </p:sp>
      <p:sp>
        <p:nvSpPr>
          <p:cNvPr id="100" name="Shape 87"/>
          <p:cNvSpPr/>
          <p:nvPr/>
        </p:nvSpPr>
        <p:spPr>
          <a:xfrm>
            <a:off x="9665208" y="4123944"/>
            <a:ext cx="292608" cy="292608"/>
          </a:xfrm>
          <a:prstGeom prst="ellipse">
            <a:avLst/>
          </a:prstGeom>
          <a:solidFill>
            <a:srgbClr val="A7B0BE"/>
          </a:solidFill>
          <a:ln w="12700">
            <a:solidFill>
              <a:srgbClr val="A7B0BE"/>
            </a:solidFill>
            <a:prstDash val="solid"/>
          </a:ln>
        </p:spPr>
      </p:sp>
      <p:sp>
        <p:nvSpPr>
          <p:cNvPr id="101" name="Text 88"/>
          <p:cNvSpPr/>
          <p:nvPr/>
        </p:nvSpPr>
        <p:spPr>
          <a:xfrm>
            <a:off x="9665208" y="4174236"/>
            <a:ext cx="292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50" dirty="0"/>
          </a:p>
        </p:txBody>
      </p:sp>
      <p:sp>
        <p:nvSpPr>
          <p:cNvPr id="102" name="Shape 89"/>
          <p:cNvSpPr/>
          <p:nvPr/>
        </p:nvSpPr>
        <p:spPr>
          <a:xfrm>
            <a:off x="10597896" y="413308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0F2F5"/>
          </a:solidFill>
          <a:ln w="12700">
            <a:solidFill>
              <a:srgbClr val="F0F2F5"/>
            </a:solidFill>
            <a:prstDash val="solid"/>
          </a:ln>
        </p:spPr>
      </p:sp>
      <p:pic>
        <p:nvPicPr>
          <p:cNvPr id="103" name="Image 11" descr="preencoded.png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0671048" y="4197096"/>
            <a:ext cx="237744" cy="237744"/>
          </a:xfrm>
          <a:prstGeom prst="rect">
            <a:avLst/>
          </a:prstGeom>
        </p:spPr>
      </p:pic>
      <p:sp>
        <p:nvSpPr>
          <p:cNvPr id="104" name="Text 90"/>
          <p:cNvSpPr/>
          <p:nvPr/>
        </p:nvSpPr>
        <p:spPr>
          <a:xfrm>
            <a:off x="9674352" y="4526280"/>
            <a:ext cx="1335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2939"/>
                </a:solidFill>
              </a:rPr>
              <a:t>Silver Layer</a:t>
            </a:r>
            <a:endParaRPr lang="en-US" sz="1050" dirty="0"/>
          </a:p>
        </p:txBody>
      </p:sp>
      <p:sp>
        <p:nvSpPr>
          <p:cNvPr id="105" name="Text 91"/>
          <p:cNvSpPr/>
          <p:nvPr/>
        </p:nvSpPr>
        <p:spPr>
          <a:xfrm>
            <a:off x="9674352" y="4846320"/>
            <a:ext cx="1335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dirty="0">
                <a:solidFill>
                  <a:srgbClr val="526273"/>
                </a:solidFill>
              </a:rPr>
              <a:t>Transformations, mappers and business rules</a:t>
            </a:r>
            <a:endParaRPr lang="en-US" sz="720" dirty="0"/>
          </a:p>
        </p:txBody>
      </p:sp>
      <p:sp>
        <p:nvSpPr>
          <p:cNvPr id="106" name="Shape 92"/>
          <p:cNvSpPr/>
          <p:nvPr/>
        </p:nvSpPr>
        <p:spPr>
          <a:xfrm>
            <a:off x="2112264" y="4626864"/>
            <a:ext cx="164592" cy="0"/>
          </a:xfrm>
          <a:prstGeom prst="line">
            <a:avLst/>
          </a:prstGeom>
          <a:noFill/>
          <a:ln w="27940">
            <a:solidFill>
              <a:srgbClr val="246BFE"/>
            </a:solidFill>
            <a:prstDash val="solid"/>
            <a:headEnd type="triangle"/>
          </a:ln>
        </p:spPr>
      </p:sp>
      <p:sp>
        <p:nvSpPr>
          <p:cNvPr id="107" name="Shape 93"/>
          <p:cNvSpPr/>
          <p:nvPr/>
        </p:nvSpPr>
        <p:spPr>
          <a:xfrm>
            <a:off x="3922776" y="4626864"/>
            <a:ext cx="164592" cy="0"/>
          </a:xfrm>
          <a:prstGeom prst="line">
            <a:avLst/>
          </a:prstGeom>
          <a:noFill/>
          <a:ln w="27940">
            <a:solidFill>
              <a:srgbClr val="246BFE"/>
            </a:solidFill>
            <a:prstDash val="solid"/>
            <a:headEnd type="triangle"/>
          </a:ln>
        </p:spPr>
      </p:sp>
      <p:sp>
        <p:nvSpPr>
          <p:cNvPr id="108" name="Shape 94"/>
          <p:cNvSpPr/>
          <p:nvPr/>
        </p:nvSpPr>
        <p:spPr>
          <a:xfrm>
            <a:off x="5733288" y="4626864"/>
            <a:ext cx="164592" cy="0"/>
          </a:xfrm>
          <a:prstGeom prst="line">
            <a:avLst/>
          </a:prstGeom>
          <a:noFill/>
          <a:ln w="27940">
            <a:solidFill>
              <a:srgbClr val="246BFE"/>
            </a:solidFill>
            <a:prstDash val="solid"/>
            <a:headEnd type="triangle"/>
          </a:ln>
        </p:spPr>
      </p:sp>
      <p:sp>
        <p:nvSpPr>
          <p:cNvPr id="109" name="Shape 95"/>
          <p:cNvSpPr/>
          <p:nvPr/>
        </p:nvSpPr>
        <p:spPr>
          <a:xfrm>
            <a:off x="7543800" y="4626864"/>
            <a:ext cx="164592" cy="0"/>
          </a:xfrm>
          <a:prstGeom prst="line">
            <a:avLst/>
          </a:prstGeom>
          <a:noFill/>
          <a:ln w="27940">
            <a:solidFill>
              <a:srgbClr val="246BFE"/>
            </a:solidFill>
            <a:prstDash val="solid"/>
            <a:headEnd type="triangle"/>
          </a:ln>
        </p:spPr>
      </p:sp>
      <p:sp>
        <p:nvSpPr>
          <p:cNvPr id="110" name="Shape 96"/>
          <p:cNvSpPr/>
          <p:nvPr/>
        </p:nvSpPr>
        <p:spPr>
          <a:xfrm>
            <a:off x="9354312" y="4626864"/>
            <a:ext cx="164592" cy="0"/>
          </a:xfrm>
          <a:prstGeom prst="line">
            <a:avLst/>
          </a:prstGeom>
          <a:noFill/>
          <a:ln w="27940">
            <a:solidFill>
              <a:srgbClr val="246BFE"/>
            </a:solidFill>
            <a:prstDash val="solid"/>
            <a:headEnd type="triangle"/>
          </a:ln>
        </p:spPr>
      </p:sp>
      <p:sp>
        <p:nvSpPr>
          <p:cNvPr id="111" name="Shape 97"/>
          <p:cNvSpPr/>
          <p:nvPr/>
        </p:nvSpPr>
        <p:spPr>
          <a:xfrm>
            <a:off x="10341864" y="2871216"/>
            <a:ext cx="0" cy="978408"/>
          </a:xfrm>
          <a:prstGeom prst="line">
            <a:avLst/>
          </a:prstGeom>
          <a:noFill/>
          <a:ln w="35560">
            <a:solidFill>
              <a:srgbClr val="2BAE66"/>
            </a:solidFill>
            <a:prstDash val="solid"/>
            <a:tailEnd type="triangle"/>
          </a:ln>
        </p:spPr>
      </p:sp>
      <p:sp>
        <p:nvSpPr>
          <p:cNvPr id="112" name="Text 98"/>
          <p:cNvSpPr/>
          <p:nvPr/>
        </p:nvSpPr>
        <p:spPr>
          <a:xfrm>
            <a:off x="10360152" y="3236976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A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</a:t>
            </a:r>
            <a:endParaRPr lang="en-US" sz="900" dirty="0"/>
          </a:p>
        </p:txBody>
      </p:sp>
      <p:sp>
        <p:nvSpPr>
          <p:cNvPr id="113" name="Shape 99"/>
          <p:cNvSpPr/>
          <p:nvPr/>
        </p:nvSpPr>
        <p:spPr>
          <a:xfrm>
            <a:off x="10332720" y="1481328"/>
            <a:ext cx="0" cy="-292608"/>
          </a:xfrm>
          <a:prstGeom prst="line">
            <a:avLst/>
          </a:prstGeom>
          <a:noFill/>
          <a:ln w="21590">
            <a:solidFill>
              <a:srgbClr val="D93B4A"/>
            </a:solidFill>
            <a:prstDash val="dash"/>
          </a:ln>
        </p:spPr>
      </p:sp>
      <p:sp>
        <p:nvSpPr>
          <p:cNvPr id="114" name="Shape 100"/>
          <p:cNvSpPr/>
          <p:nvPr/>
        </p:nvSpPr>
        <p:spPr>
          <a:xfrm>
            <a:off x="8531352" y="1188720"/>
            <a:ext cx="1801368" cy="0"/>
          </a:xfrm>
          <a:prstGeom prst="line">
            <a:avLst/>
          </a:prstGeom>
          <a:noFill/>
          <a:ln w="21590">
            <a:solidFill>
              <a:srgbClr val="D93B4A"/>
            </a:solidFill>
            <a:prstDash val="dash"/>
          </a:ln>
        </p:spPr>
      </p:sp>
      <p:sp>
        <p:nvSpPr>
          <p:cNvPr id="115" name="Shape 101"/>
          <p:cNvSpPr/>
          <p:nvPr/>
        </p:nvSpPr>
        <p:spPr>
          <a:xfrm>
            <a:off x="8531352" y="1188720"/>
            <a:ext cx="0" cy="292608"/>
          </a:xfrm>
          <a:prstGeom prst="line">
            <a:avLst/>
          </a:prstGeom>
          <a:noFill/>
          <a:ln w="21590">
            <a:solidFill>
              <a:srgbClr val="D93B4A"/>
            </a:solidFill>
            <a:prstDash val="dash"/>
            <a:tailEnd type="triangle"/>
          </a:ln>
        </p:spPr>
      </p:sp>
      <p:sp>
        <p:nvSpPr>
          <p:cNvPr id="116" name="Shape 102"/>
          <p:cNvSpPr/>
          <p:nvPr/>
        </p:nvSpPr>
        <p:spPr>
          <a:xfrm>
            <a:off x="6885432" y="987552"/>
            <a:ext cx="2404872" cy="384048"/>
          </a:xfrm>
          <a:prstGeom prst="roundRect">
            <a:avLst>
              <a:gd name="adj" fmla="val 11905"/>
            </a:avLst>
          </a:prstGeom>
          <a:solidFill>
            <a:srgbClr val="FDEBEC"/>
          </a:solidFill>
          <a:ln w="12700">
            <a:solidFill>
              <a:srgbClr val="D93B4A"/>
            </a:solidFill>
            <a:prstDash val="solid"/>
          </a:ln>
        </p:spPr>
      </p:sp>
      <p:sp>
        <p:nvSpPr>
          <p:cNvPr id="117" name="Text 103"/>
          <p:cNvSpPr/>
          <p:nvPr/>
        </p:nvSpPr>
        <p:spPr>
          <a:xfrm>
            <a:off x="6995160" y="107899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D93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 → fix source / mapping → regenerate summary</a:t>
            </a:r>
            <a:endParaRPr lang="en-US" sz="820" dirty="0"/>
          </a:p>
        </p:txBody>
      </p:sp>
      <p:sp>
        <p:nvSpPr>
          <p:cNvPr id="118" name="Shape 104"/>
          <p:cNvSpPr/>
          <p:nvPr/>
        </p:nvSpPr>
        <p:spPr>
          <a:xfrm>
            <a:off x="4910328" y="5276088"/>
            <a:ext cx="0" cy="310896"/>
          </a:xfrm>
          <a:prstGeom prst="line">
            <a:avLst/>
          </a:prstGeom>
          <a:noFill/>
          <a:ln w="21590">
            <a:solidFill>
              <a:srgbClr val="D93B4A"/>
            </a:solidFill>
            <a:prstDash val="dash"/>
          </a:ln>
        </p:spPr>
      </p:sp>
      <p:sp>
        <p:nvSpPr>
          <p:cNvPr id="119" name="Shape 105"/>
          <p:cNvSpPr/>
          <p:nvPr/>
        </p:nvSpPr>
        <p:spPr>
          <a:xfrm>
            <a:off x="4910328" y="5586984"/>
            <a:ext cx="2496312" cy="0"/>
          </a:xfrm>
          <a:prstGeom prst="line">
            <a:avLst/>
          </a:prstGeom>
          <a:noFill/>
          <a:ln w="21590">
            <a:solidFill>
              <a:srgbClr val="D93B4A"/>
            </a:solidFill>
            <a:prstDash val="dash"/>
          </a:ln>
        </p:spPr>
      </p:sp>
      <p:sp>
        <p:nvSpPr>
          <p:cNvPr id="120" name="Shape 106"/>
          <p:cNvSpPr/>
          <p:nvPr/>
        </p:nvSpPr>
        <p:spPr>
          <a:xfrm>
            <a:off x="7406640" y="5586984"/>
            <a:ext cx="0" cy="-310896"/>
          </a:xfrm>
          <a:prstGeom prst="line">
            <a:avLst/>
          </a:prstGeom>
          <a:noFill/>
          <a:ln w="21590">
            <a:solidFill>
              <a:srgbClr val="D93B4A"/>
            </a:solidFill>
            <a:prstDash val="dash"/>
            <a:tailEnd type="triangle"/>
          </a:ln>
        </p:spPr>
      </p:sp>
      <p:sp>
        <p:nvSpPr>
          <p:cNvPr id="121" name="Shape 107"/>
          <p:cNvSpPr/>
          <p:nvPr/>
        </p:nvSpPr>
        <p:spPr>
          <a:xfrm>
            <a:off x="5212080" y="5532120"/>
            <a:ext cx="1901952" cy="384048"/>
          </a:xfrm>
          <a:prstGeom prst="roundRect">
            <a:avLst>
              <a:gd name="adj" fmla="val 11905"/>
            </a:avLst>
          </a:prstGeom>
          <a:solidFill>
            <a:srgbClr val="FDEBEC"/>
          </a:solidFill>
          <a:ln w="12700">
            <a:solidFill>
              <a:srgbClr val="D93B4A"/>
            </a:solidFill>
            <a:prstDash val="solid"/>
          </a:ln>
        </p:spPr>
      </p:sp>
      <p:sp>
        <p:nvSpPr>
          <p:cNvPr id="122" name="Text 108"/>
          <p:cNvSpPr/>
          <p:nvPr/>
        </p:nvSpPr>
        <p:spPr>
          <a:xfrm>
            <a:off x="5321808" y="5623560"/>
            <a:ext cx="1682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D93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 → fix Silver / Gold / AIO → resubmit</a:t>
            </a:r>
            <a:endParaRPr lang="en-US" sz="810" dirty="0"/>
          </a:p>
        </p:txBody>
      </p:sp>
      <p:sp>
        <p:nvSpPr>
          <p:cNvPr id="123" name="Shape 109"/>
          <p:cNvSpPr/>
          <p:nvPr/>
        </p:nvSpPr>
        <p:spPr>
          <a:xfrm>
            <a:off x="548640" y="5705856"/>
            <a:ext cx="3840480" cy="402336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24" name="Shape 110"/>
          <p:cNvSpPr/>
          <p:nvPr/>
        </p:nvSpPr>
        <p:spPr>
          <a:xfrm>
            <a:off x="749808" y="5907024"/>
            <a:ext cx="411480" cy="0"/>
          </a:xfrm>
          <a:prstGeom prst="line">
            <a:avLst/>
          </a:prstGeom>
          <a:noFill/>
          <a:ln w="27940">
            <a:solidFill>
              <a:srgbClr val="246BFE"/>
            </a:solidFill>
            <a:prstDash val="solid"/>
            <a:tailEnd type="triangle"/>
          </a:ln>
        </p:spPr>
      </p:sp>
      <p:sp>
        <p:nvSpPr>
          <p:cNvPr id="125" name="Text 111"/>
          <p:cNvSpPr/>
          <p:nvPr/>
        </p:nvSpPr>
        <p:spPr>
          <a:xfrm>
            <a:off x="1234440" y="5815584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5262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data flow</a:t>
            </a:r>
            <a:endParaRPr lang="en-US" sz="860" dirty="0"/>
          </a:p>
        </p:txBody>
      </p:sp>
      <p:sp>
        <p:nvSpPr>
          <p:cNvPr id="126" name="Shape 112"/>
          <p:cNvSpPr/>
          <p:nvPr/>
        </p:nvSpPr>
        <p:spPr>
          <a:xfrm>
            <a:off x="2377440" y="5907024"/>
            <a:ext cx="411480" cy="0"/>
          </a:xfrm>
          <a:prstGeom prst="line">
            <a:avLst/>
          </a:prstGeom>
          <a:noFill/>
          <a:ln w="21590">
            <a:solidFill>
              <a:srgbClr val="D93B4A"/>
            </a:solidFill>
            <a:prstDash val="dash"/>
            <a:tailEnd type="triangle"/>
          </a:ln>
        </p:spPr>
      </p:sp>
      <p:sp>
        <p:nvSpPr>
          <p:cNvPr id="127" name="Text 113"/>
          <p:cNvSpPr/>
          <p:nvPr/>
        </p:nvSpPr>
        <p:spPr>
          <a:xfrm>
            <a:off x="2852928" y="5815584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5262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Rework loop</a:t>
            </a:r>
            <a:endParaRPr lang="en-US" sz="8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83096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7A879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46888"/>
            <a:ext cx="88696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 System: Two Gates, Different Responsibilities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530352" y="749808"/>
            <a:ext cx="658368" cy="50292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98448" y="658368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2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same workflow engine, but define separate approvers, evidence and acceptance criteria.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66928" y="1188720"/>
            <a:ext cx="5276088" cy="4956048"/>
          </a:xfrm>
          <a:prstGeom prst="roundRect">
            <a:avLst>
              <a:gd name="adj" fmla="val 1476"/>
            </a:avLst>
          </a:prstGeom>
          <a:solidFill>
            <a:srgbClr val="FFFFFF"/>
          </a:solidFill>
          <a:ln w="12700">
            <a:solidFill>
              <a:srgbClr val="F0D995"/>
            </a:solidFill>
            <a:prstDash val="solid"/>
          </a:ln>
          <a:effectLst>
            <a:outerShdw sx="100000" sy="100000" kx="0" ky="0" algn="bl" rotWithShape="0" blurRad="8.864377102649255e+73" dist="5.1708866432120647e+73" dir="4.57019805007872e+87">
              <a:srgbClr val="000000">
                <a:alpha val="1.2000000000000002e+89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345936" y="1188720"/>
            <a:ext cx="5276088" cy="4956048"/>
          </a:xfrm>
          <a:prstGeom prst="roundRect">
            <a:avLst>
              <a:gd name="adj" fmla="val 147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.1257758920364555e+78" dist="6.567026036879323e+77" dir="2.742118830047232e+92">
              <a:srgbClr val="000000">
                <a:alpha val="1.2000000000000001e+94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417320"/>
            <a:ext cx="749808" cy="256032"/>
          </a:xfrm>
          <a:prstGeom prst="roundRect">
            <a:avLst>
              <a:gd name="adj" fmla="val 21429"/>
            </a:avLst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1458468"/>
            <a:ext cx="6035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 1</a:t>
            </a:r>
            <a:endParaRPr lang="en-US" sz="8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32688" y="1847088"/>
            <a:ext cx="640080" cy="6400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719072" y="1755648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Summary Approval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1719072" y="2103120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2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 in flow: after Bronze, before Silver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859536" y="2670048"/>
            <a:ext cx="4663440" cy="1371600"/>
          </a:xfrm>
          <a:prstGeom prst="roundRect">
            <a:avLst>
              <a:gd name="adj" fmla="val 3333"/>
            </a:avLst>
          </a:prstGeom>
          <a:solidFill>
            <a:srgbClr val="FFF6DB"/>
          </a:solidFill>
          <a:ln w="12700">
            <a:solidFill>
              <a:srgbClr val="F0D99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78992" y="2880360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question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078992" y="3182112"/>
            <a:ext cx="4160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D29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“Does the Bronze summary represent the source data correctly enough to proceed?”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896112" y="427024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evidence to display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932688" y="4663440"/>
            <a:ext cx="82296" cy="82296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97280" y="4572000"/>
            <a:ext cx="4498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D29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files, date coverage and row counts</a:t>
            </a:r>
            <a:endParaRPr lang="en-US" sz="980" dirty="0"/>
          </a:p>
        </p:txBody>
      </p:sp>
      <p:sp>
        <p:nvSpPr>
          <p:cNvPr id="18" name="Shape 15"/>
          <p:cNvSpPr/>
          <p:nvPr/>
        </p:nvSpPr>
        <p:spPr>
          <a:xfrm>
            <a:off x="932688" y="4956048"/>
            <a:ext cx="82296" cy="82296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097280" y="4864608"/>
            <a:ext cx="4498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D29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Detected / mapped columns and data types</a:t>
            </a:r>
            <a:endParaRPr lang="en-US" sz="980" dirty="0"/>
          </a:p>
        </p:txBody>
      </p:sp>
      <p:sp>
        <p:nvSpPr>
          <p:cNvPr id="20" name="Shape 17"/>
          <p:cNvSpPr/>
          <p:nvPr/>
        </p:nvSpPr>
        <p:spPr>
          <a:xfrm>
            <a:off x="932688" y="5248656"/>
            <a:ext cx="82296" cy="82296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097280" y="5157216"/>
            <a:ext cx="4498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D29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Spend, impressions and other reconciliation totals</a:t>
            </a:r>
            <a:endParaRPr lang="en-US" sz="980" dirty="0"/>
          </a:p>
        </p:txBody>
      </p:sp>
      <p:sp>
        <p:nvSpPr>
          <p:cNvPr id="22" name="Shape 19"/>
          <p:cNvSpPr/>
          <p:nvPr/>
        </p:nvSpPr>
        <p:spPr>
          <a:xfrm>
            <a:off x="932688" y="5541264"/>
            <a:ext cx="82296" cy="82296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097280" y="5449824"/>
            <a:ext cx="4498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D29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DQ failures, warnings and accepted exceptions</a:t>
            </a:r>
            <a:endParaRPr lang="en-US" sz="980" dirty="0"/>
          </a:p>
        </p:txBody>
      </p:sp>
      <p:sp>
        <p:nvSpPr>
          <p:cNvPr id="24" name="Shape 21"/>
          <p:cNvSpPr/>
          <p:nvPr/>
        </p:nvSpPr>
        <p:spPr>
          <a:xfrm>
            <a:off x="914400" y="5760720"/>
            <a:ext cx="4553712" cy="256032"/>
          </a:xfrm>
          <a:prstGeom prst="roundRect">
            <a:avLst>
              <a:gd name="adj" fmla="val 14286"/>
            </a:avLst>
          </a:prstGeom>
          <a:solidFill>
            <a:srgbClr val="FDEBEC"/>
          </a:solidFill>
          <a:ln w="12700">
            <a:solidFill>
              <a:srgbClr val="FDEBE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005840" y="5820156"/>
            <a:ext cx="43708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D93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Rejected → correct source, mapping or DQ issue → regenerate Bronze summary</a:t>
            </a:r>
            <a:endParaRPr lang="en-US" sz="840" dirty="0"/>
          </a:p>
        </p:txBody>
      </p:sp>
      <p:sp>
        <p:nvSpPr>
          <p:cNvPr id="26" name="Shape 23"/>
          <p:cNvSpPr/>
          <p:nvPr/>
        </p:nvSpPr>
        <p:spPr>
          <a:xfrm>
            <a:off x="6601968" y="1417320"/>
            <a:ext cx="749808" cy="256032"/>
          </a:xfrm>
          <a:prstGeom prst="roundRect">
            <a:avLst>
              <a:gd name="adj" fmla="val 21429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675120" y="1458468"/>
            <a:ext cx="6035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 2</a:t>
            </a:r>
            <a:endParaRPr lang="en-US" sz="850" dirty="0"/>
          </a:p>
        </p:txBody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11696" y="1847088"/>
            <a:ext cx="640080" cy="640080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7498080" y="1755648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AIO Approval</a:t>
            </a:r>
            <a:endParaRPr lang="en-US" sz="2000" dirty="0"/>
          </a:p>
        </p:txBody>
      </p:sp>
      <p:sp>
        <p:nvSpPr>
          <p:cNvPr id="30" name="Text 26"/>
          <p:cNvSpPr/>
          <p:nvPr/>
        </p:nvSpPr>
        <p:spPr>
          <a:xfrm>
            <a:off x="7498080" y="2103120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2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 in flow: after Gold/AIO, before release</a:t>
            </a:r>
            <a:endParaRPr lang="en-US" sz="1050" dirty="0"/>
          </a:p>
        </p:txBody>
      </p:sp>
      <p:sp>
        <p:nvSpPr>
          <p:cNvPr id="31" name="Shape 27"/>
          <p:cNvSpPr/>
          <p:nvPr/>
        </p:nvSpPr>
        <p:spPr>
          <a:xfrm>
            <a:off x="6638544" y="2670048"/>
            <a:ext cx="4663440" cy="1371600"/>
          </a:xfrm>
          <a:prstGeom prst="roundRect">
            <a:avLst>
              <a:gd name="adj" fmla="val 3333"/>
            </a:avLst>
          </a:prstGeom>
          <a:solidFill>
            <a:srgbClr val="EDF1F6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6858000" y="2880360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question</a:t>
            </a:r>
            <a:endParaRPr lang="en-US" sz="1000" dirty="0"/>
          </a:p>
        </p:txBody>
      </p:sp>
      <p:sp>
        <p:nvSpPr>
          <p:cNvPr id="33" name="Text 29"/>
          <p:cNvSpPr/>
          <p:nvPr/>
        </p:nvSpPr>
        <p:spPr>
          <a:xfrm>
            <a:off x="6858000" y="3182112"/>
            <a:ext cx="4160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D29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“Is this AIO data product correct, governed and ready for the model/LCA/Cockpit?”</a:t>
            </a:r>
            <a:endParaRPr lang="en-US" sz="1500" dirty="0"/>
          </a:p>
        </p:txBody>
      </p:sp>
      <p:sp>
        <p:nvSpPr>
          <p:cNvPr id="34" name="Text 30"/>
          <p:cNvSpPr/>
          <p:nvPr/>
        </p:nvSpPr>
        <p:spPr>
          <a:xfrm>
            <a:off x="6675120" y="427024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evidence to display</a:t>
            </a:r>
            <a:endParaRPr lang="en-US" sz="1100" dirty="0"/>
          </a:p>
        </p:txBody>
      </p:sp>
      <p:sp>
        <p:nvSpPr>
          <p:cNvPr id="35" name="Shape 31"/>
          <p:cNvSpPr/>
          <p:nvPr/>
        </p:nvSpPr>
        <p:spPr>
          <a:xfrm>
            <a:off x="6711696" y="4663440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6876288" y="4572000"/>
            <a:ext cx="4498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D29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Canonical AIO schema, grain and required fields</a:t>
            </a:r>
            <a:endParaRPr lang="en-US" sz="980" dirty="0"/>
          </a:p>
        </p:txBody>
      </p:sp>
      <p:sp>
        <p:nvSpPr>
          <p:cNvPr id="37" name="Shape 33"/>
          <p:cNvSpPr/>
          <p:nvPr/>
        </p:nvSpPr>
        <p:spPr>
          <a:xfrm>
            <a:off x="6711696" y="4956048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6876288" y="4864608"/>
            <a:ext cx="4498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D29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Silver transformations and Gold derived logic</a:t>
            </a:r>
            <a:endParaRPr lang="en-US" sz="980" dirty="0"/>
          </a:p>
        </p:txBody>
      </p:sp>
      <p:sp>
        <p:nvSpPr>
          <p:cNvPr id="39" name="Shape 35"/>
          <p:cNvSpPr/>
          <p:nvPr/>
        </p:nvSpPr>
        <p:spPr>
          <a:xfrm>
            <a:off x="6711696" y="5248656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6876288" y="5157216"/>
            <a:ext cx="4498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D29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Source-to-AIO reconciliation and DQ thresholds</a:t>
            </a:r>
            <a:endParaRPr lang="en-US" sz="980" dirty="0"/>
          </a:p>
        </p:txBody>
      </p:sp>
      <p:sp>
        <p:nvSpPr>
          <p:cNvPr id="41" name="Shape 37"/>
          <p:cNvSpPr/>
          <p:nvPr/>
        </p:nvSpPr>
        <p:spPr>
          <a:xfrm>
            <a:off x="6711696" y="5541264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6876288" y="5449824"/>
            <a:ext cx="4498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D29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Version, lineage, masking and model compatibility</a:t>
            </a:r>
            <a:endParaRPr lang="en-US" sz="980" dirty="0"/>
          </a:p>
        </p:txBody>
      </p:sp>
      <p:sp>
        <p:nvSpPr>
          <p:cNvPr id="43" name="Shape 39"/>
          <p:cNvSpPr/>
          <p:nvPr/>
        </p:nvSpPr>
        <p:spPr>
          <a:xfrm>
            <a:off x="6693408" y="5760720"/>
            <a:ext cx="4553712" cy="256032"/>
          </a:xfrm>
          <a:prstGeom prst="roundRect">
            <a:avLst>
              <a:gd name="adj" fmla="val 14286"/>
            </a:avLst>
          </a:prstGeom>
          <a:solidFill>
            <a:srgbClr val="FDEBEC"/>
          </a:solidFill>
          <a:ln w="12700">
            <a:solidFill>
              <a:srgbClr val="FDEBEC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6784848" y="5820156"/>
            <a:ext cx="43708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D93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Rejected → correct Silver / Gold / AIO logic → rebuild and resubmit</a:t>
            </a:r>
            <a:endParaRPr lang="en-US" sz="840" dirty="0"/>
          </a:p>
        </p:txBody>
      </p:sp>
      <p:sp>
        <p:nvSpPr>
          <p:cNvPr id="45" name="Shape 41"/>
          <p:cNvSpPr/>
          <p:nvPr/>
        </p:nvSpPr>
        <p:spPr>
          <a:xfrm>
            <a:off x="4727448" y="941832"/>
            <a:ext cx="2734056" cy="210312"/>
          </a:xfrm>
          <a:prstGeom prst="roundRect">
            <a:avLst>
              <a:gd name="adj" fmla="val 21739"/>
            </a:avLst>
          </a:prstGeom>
          <a:solidFill>
            <a:srgbClr val="EAF2FF"/>
          </a:solidFill>
          <a:ln w="12700">
            <a:solidFill>
              <a:srgbClr val="246BFE"/>
            </a:solidFill>
            <a:prstDash val="solid"/>
          </a:ln>
        </p:spPr>
      </p:sp>
      <p:sp>
        <p:nvSpPr>
          <p:cNvPr id="46" name="Text 42"/>
          <p:cNvSpPr/>
          <p:nvPr/>
        </p:nvSpPr>
        <p:spPr>
          <a:xfrm>
            <a:off x="4855464" y="1001268"/>
            <a:ext cx="24780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spc="25" kern="0" dirty="0">
                <a:solidFill>
                  <a:srgbClr val="246B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WORKFLOW ENGINE  •  DIFFERENT PURPOSE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83096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7A879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46888"/>
            <a:ext cx="88696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Layer Contracts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530352" y="749808"/>
            <a:ext cx="658368" cy="50292"/>
          </a:xfrm>
          <a:prstGeom prst="rect">
            <a:avLst/>
          </a:prstGeom>
          <a:solidFill>
            <a:srgbClr val="0FAE9B"/>
          </a:solidFill>
          <a:ln w="12700">
            <a:solidFill>
              <a:srgbClr val="0FAE9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98448" y="658368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2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layer has a clear purpose, controlled promotion rule and traceable output.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30352" y="1335024"/>
            <a:ext cx="2432304" cy="4407408"/>
          </a:xfrm>
          <a:prstGeom prst="roundRect">
            <a:avLst>
              <a:gd name="adj" fmla="val 300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.4297353828862985e+82" dist="8.34012306683674e+81" dir="1.6452712980283393e+97">
              <a:srgbClr val="000000">
                <a:alpha val="1.2e+99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30352" y="1335024"/>
            <a:ext cx="2432304" cy="118872"/>
          </a:xfrm>
          <a:prstGeom prst="rect">
            <a:avLst/>
          </a:prstGeom>
          <a:solidFill>
            <a:srgbClr val="246BFE"/>
          </a:solidFill>
          <a:ln w="12700">
            <a:solidFill>
              <a:srgbClr val="246BF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94944" y="1627632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13816" y="1746504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26464" y="1709928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31520" y="2487168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spc="80" kern="0" dirty="0">
                <a:solidFill>
                  <a:srgbClr val="246B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</a:t>
            </a:r>
            <a:endParaRPr lang="en-US" sz="820" dirty="0"/>
          </a:p>
        </p:txBody>
      </p:sp>
      <p:sp>
        <p:nvSpPr>
          <p:cNvPr id="11" name="Text 8"/>
          <p:cNvSpPr/>
          <p:nvPr/>
        </p:nvSpPr>
        <p:spPr>
          <a:xfrm>
            <a:off x="731520" y="2724912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D29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Preserve exactly what arrived</a:t>
            </a:r>
            <a:endParaRPr lang="en-US" sz="1320" dirty="0"/>
          </a:p>
        </p:txBody>
      </p:sp>
      <p:sp>
        <p:nvSpPr>
          <p:cNvPr id="12" name="Text 9"/>
          <p:cNvSpPr/>
          <p:nvPr/>
        </p:nvSpPr>
        <p:spPr>
          <a:xfrm>
            <a:off x="731520" y="3456432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spc="80" kern="0" dirty="0">
                <a:solidFill>
                  <a:srgbClr val="246B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CONTAINS</a:t>
            </a:r>
            <a:endParaRPr lang="en-US" sz="820" dirty="0"/>
          </a:p>
        </p:txBody>
      </p:sp>
      <p:sp>
        <p:nvSpPr>
          <p:cNvPr id="13" name="Shape 10"/>
          <p:cNvSpPr/>
          <p:nvPr/>
        </p:nvSpPr>
        <p:spPr>
          <a:xfrm>
            <a:off x="749808" y="3776472"/>
            <a:ext cx="82296" cy="82296"/>
          </a:xfrm>
          <a:prstGeom prst="ellipse">
            <a:avLst/>
          </a:prstGeom>
          <a:solidFill>
            <a:srgbClr val="246BFE"/>
          </a:solidFill>
          <a:ln w="12700">
            <a:solidFill>
              <a:srgbClr val="246BF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14400" y="3685032"/>
            <a:ext cx="17922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D29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Original files</a:t>
            </a:r>
            <a:endParaRPr lang="en-US" sz="980" dirty="0"/>
          </a:p>
        </p:txBody>
      </p:sp>
      <p:sp>
        <p:nvSpPr>
          <p:cNvPr id="15" name="Shape 12"/>
          <p:cNvSpPr/>
          <p:nvPr/>
        </p:nvSpPr>
        <p:spPr>
          <a:xfrm>
            <a:off x="749808" y="4096512"/>
            <a:ext cx="82296" cy="82296"/>
          </a:xfrm>
          <a:prstGeom prst="ellipse">
            <a:avLst/>
          </a:prstGeom>
          <a:solidFill>
            <a:srgbClr val="246BFE"/>
          </a:solidFill>
          <a:ln w="12700">
            <a:solidFill>
              <a:srgbClr val="246BF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14400" y="4005072"/>
            <a:ext cx="17922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D29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metadata</a:t>
            </a:r>
            <a:endParaRPr lang="en-US" sz="980" dirty="0"/>
          </a:p>
        </p:txBody>
      </p:sp>
      <p:sp>
        <p:nvSpPr>
          <p:cNvPr id="17" name="Shape 14"/>
          <p:cNvSpPr/>
          <p:nvPr/>
        </p:nvSpPr>
        <p:spPr>
          <a:xfrm>
            <a:off x="749808" y="4416552"/>
            <a:ext cx="82296" cy="82296"/>
          </a:xfrm>
          <a:prstGeom prst="ellipse">
            <a:avLst/>
          </a:prstGeom>
          <a:solidFill>
            <a:srgbClr val="246BFE"/>
          </a:solidFill>
          <a:ln w="12700">
            <a:solidFill>
              <a:srgbClr val="246BF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14400" y="4325112"/>
            <a:ext cx="17922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D29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Checksum / file version</a:t>
            </a:r>
            <a:endParaRPr lang="en-US" sz="980" dirty="0"/>
          </a:p>
        </p:txBody>
      </p:sp>
      <p:sp>
        <p:nvSpPr>
          <p:cNvPr id="19" name="Shape 16"/>
          <p:cNvSpPr/>
          <p:nvPr/>
        </p:nvSpPr>
        <p:spPr>
          <a:xfrm>
            <a:off x="694944" y="4901184"/>
            <a:ext cx="2103120" cy="566928"/>
          </a:xfrm>
          <a:prstGeom prst="roundRect">
            <a:avLst>
              <a:gd name="adj" fmla="val 8065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22960" y="5010912"/>
            <a:ext cx="10424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b="1" spc="50" kern="0" dirty="0">
                <a:solidFill>
                  <a:srgbClr val="246B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PROMOTE WHEN</a:t>
            </a:r>
            <a:endParaRPr lang="en-US" sz="770" dirty="0"/>
          </a:p>
        </p:txBody>
      </p:sp>
      <p:sp>
        <p:nvSpPr>
          <p:cNvPr id="21" name="Text 18"/>
          <p:cNvSpPr/>
          <p:nvPr/>
        </p:nvSpPr>
        <p:spPr>
          <a:xfrm>
            <a:off x="822960" y="5184648"/>
            <a:ext cx="17922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b="1" dirty="0">
                <a:solidFill>
                  <a:srgbClr val="1D29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registered and basic file checks passed</a:t>
            </a:r>
            <a:endParaRPr lang="en-US" sz="860" dirty="0"/>
          </a:p>
        </p:txBody>
      </p:sp>
      <p:sp>
        <p:nvSpPr>
          <p:cNvPr id="22" name="Shape 19"/>
          <p:cNvSpPr/>
          <p:nvPr/>
        </p:nvSpPr>
        <p:spPr>
          <a:xfrm>
            <a:off x="3017520" y="3493008"/>
            <a:ext cx="347472" cy="0"/>
          </a:xfrm>
          <a:prstGeom prst="line">
            <a:avLst/>
          </a:prstGeom>
          <a:noFill/>
          <a:ln w="27940">
            <a:solidFill>
              <a:srgbClr val="246BFE"/>
            </a:solidFill>
            <a:prstDash val="solid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3429000" y="1335024"/>
            <a:ext cx="2432304" cy="4407408"/>
          </a:xfrm>
          <a:prstGeom prst="roundRect">
            <a:avLst>
              <a:gd name="adj" fmla="val 300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.815763936265599e+86" dist="1.059195629488266e+86" dir="9.871627788170037e+101">
              <a:srgbClr val="000000">
                <a:alpha val="1.2e+104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3429000" y="1335024"/>
            <a:ext cx="2432304" cy="118872"/>
          </a:xfrm>
          <a:prstGeom prst="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3593592" y="1627632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F7EEE8"/>
          </a:solidFill>
          <a:ln w="12700">
            <a:solidFill>
              <a:srgbClr val="F7EEE8"/>
            </a:solidFill>
            <a:prstDash val="solid"/>
          </a:ln>
        </p:spPr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12464" y="1746504"/>
            <a:ext cx="365760" cy="365760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4325112" y="1709928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BRONZE</a:t>
            </a:r>
            <a:endParaRPr lang="en-US" sz="1800" dirty="0"/>
          </a:p>
        </p:txBody>
      </p:sp>
      <p:sp>
        <p:nvSpPr>
          <p:cNvPr id="28" name="Text 24"/>
          <p:cNvSpPr/>
          <p:nvPr/>
        </p:nvSpPr>
        <p:spPr>
          <a:xfrm>
            <a:off x="3630168" y="2487168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spc="80" kern="0" dirty="0">
                <a:solidFill>
                  <a:srgbClr val="B87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</a:t>
            </a:r>
            <a:endParaRPr lang="en-US" sz="820" dirty="0"/>
          </a:p>
        </p:txBody>
      </p:sp>
      <p:sp>
        <p:nvSpPr>
          <p:cNvPr id="29" name="Text 25"/>
          <p:cNvSpPr/>
          <p:nvPr/>
        </p:nvSpPr>
        <p:spPr>
          <a:xfrm>
            <a:off x="3630168" y="2724912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D29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 trusted near-source view</a:t>
            </a:r>
            <a:endParaRPr lang="en-US" sz="1320" dirty="0"/>
          </a:p>
        </p:txBody>
      </p:sp>
      <p:sp>
        <p:nvSpPr>
          <p:cNvPr id="30" name="Text 26"/>
          <p:cNvSpPr/>
          <p:nvPr/>
        </p:nvSpPr>
        <p:spPr>
          <a:xfrm>
            <a:off x="3630168" y="3456432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spc="80" kern="0" dirty="0">
                <a:solidFill>
                  <a:srgbClr val="B87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CONTAINS</a:t>
            </a:r>
            <a:endParaRPr lang="en-US" sz="820" dirty="0"/>
          </a:p>
        </p:txBody>
      </p:sp>
      <p:sp>
        <p:nvSpPr>
          <p:cNvPr id="31" name="Shape 27"/>
          <p:cNvSpPr/>
          <p:nvPr/>
        </p:nvSpPr>
        <p:spPr>
          <a:xfrm>
            <a:off x="3648456" y="3776472"/>
            <a:ext cx="82296" cy="82296"/>
          </a:xfrm>
          <a:prstGeom prst="ellipse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3813048" y="3685032"/>
            <a:ext cx="17922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D29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Standardized headers</a:t>
            </a:r>
            <a:endParaRPr lang="en-US" sz="980" dirty="0"/>
          </a:p>
        </p:txBody>
      </p:sp>
      <p:sp>
        <p:nvSpPr>
          <p:cNvPr id="33" name="Shape 29"/>
          <p:cNvSpPr/>
          <p:nvPr/>
        </p:nvSpPr>
        <p:spPr>
          <a:xfrm>
            <a:off x="3648456" y="4096512"/>
            <a:ext cx="82296" cy="82296"/>
          </a:xfrm>
          <a:prstGeom prst="ellipse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3813048" y="4005072"/>
            <a:ext cx="17922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D29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DQ results and profile</a:t>
            </a:r>
            <a:endParaRPr lang="en-US" sz="980" dirty="0"/>
          </a:p>
        </p:txBody>
      </p:sp>
      <p:sp>
        <p:nvSpPr>
          <p:cNvPr id="35" name="Shape 31"/>
          <p:cNvSpPr/>
          <p:nvPr/>
        </p:nvSpPr>
        <p:spPr>
          <a:xfrm>
            <a:off x="3648456" y="4416552"/>
            <a:ext cx="82296" cy="82296"/>
          </a:xfrm>
          <a:prstGeom prst="ellipse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3813048" y="4325112"/>
            <a:ext cx="17922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D29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Client-facing summary</a:t>
            </a:r>
            <a:endParaRPr lang="en-US" sz="980" dirty="0"/>
          </a:p>
        </p:txBody>
      </p:sp>
      <p:sp>
        <p:nvSpPr>
          <p:cNvPr id="37" name="Shape 33"/>
          <p:cNvSpPr/>
          <p:nvPr/>
        </p:nvSpPr>
        <p:spPr>
          <a:xfrm>
            <a:off x="3593592" y="4901184"/>
            <a:ext cx="2103120" cy="566928"/>
          </a:xfrm>
          <a:prstGeom prst="roundRect">
            <a:avLst>
              <a:gd name="adj" fmla="val 8065"/>
            </a:avLst>
          </a:prstGeom>
          <a:solidFill>
            <a:srgbClr val="F7EEE8"/>
          </a:solidFill>
          <a:ln w="12700">
            <a:solidFill>
              <a:srgbClr val="F7EEE8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3721608" y="5010912"/>
            <a:ext cx="10424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b="1" spc="50" kern="0" dirty="0">
                <a:solidFill>
                  <a:srgbClr val="B87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PROMOTE WHEN</a:t>
            </a:r>
            <a:endParaRPr lang="en-US" sz="770" dirty="0"/>
          </a:p>
        </p:txBody>
      </p:sp>
      <p:sp>
        <p:nvSpPr>
          <p:cNvPr id="39" name="Text 35"/>
          <p:cNvSpPr/>
          <p:nvPr/>
        </p:nvSpPr>
        <p:spPr>
          <a:xfrm>
            <a:off x="3721608" y="5184648"/>
            <a:ext cx="17922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b="1" dirty="0">
                <a:solidFill>
                  <a:srgbClr val="1D29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summary approval</a:t>
            </a:r>
            <a:endParaRPr lang="en-US" sz="860" dirty="0"/>
          </a:p>
        </p:txBody>
      </p:sp>
      <p:sp>
        <p:nvSpPr>
          <p:cNvPr id="40" name="Shape 36"/>
          <p:cNvSpPr/>
          <p:nvPr/>
        </p:nvSpPr>
        <p:spPr>
          <a:xfrm>
            <a:off x="5916168" y="3493008"/>
            <a:ext cx="347472" cy="0"/>
          </a:xfrm>
          <a:prstGeom prst="line">
            <a:avLst/>
          </a:prstGeom>
          <a:noFill/>
          <a:ln w="27940">
            <a:solidFill>
              <a:srgbClr val="246BFE"/>
            </a:solidFill>
            <a:prstDash val="solid"/>
            <a:tailEnd type="triangle"/>
          </a:ln>
        </p:spPr>
      </p:sp>
      <p:sp>
        <p:nvSpPr>
          <p:cNvPr id="41" name="Shape 37"/>
          <p:cNvSpPr/>
          <p:nvPr/>
        </p:nvSpPr>
        <p:spPr>
          <a:xfrm>
            <a:off x="6327648" y="1335024"/>
            <a:ext cx="2432304" cy="4407408"/>
          </a:xfrm>
          <a:prstGeom prst="roundRect">
            <a:avLst>
              <a:gd name="adj" fmla="val 300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2.3060201990573107e+90" dist="1.3451784494500978e+90" dir="5.9229766729020215e+106">
              <a:srgbClr val="000000">
                <a:alpha val="1.2e+109"/>
              </a:srgbClr>
            </a:outerShdw>
          </a:effectLst>
        </p:spPr>
      </p:sp>
      <p:sp>
        <p:nvSpPr>
          <p:cNvPr id="42" name="Shape 38"/>
          <p:cNvSpPr/>
          <p:nvPr/>
        </p:nvSpPr>
        <p:spPr>
          <a:xfrm>
            <a:off x="6327648" y="1335024"/>
            <a:ext cx="2432304" cy="118872"/>
          </a:xfrm>
          <a:prstGeom prst="rect">
            <a:avLst/>
          </a:prstGeom>
          <a:solidFill>
            <a:srgbClr val="A7B0BE"/>
          </a:solidFill>
          <a:ln w="12700">
            <a:solidFill>
              <a:srgbClr val="A7B0BE"/>
            </a:solidFill>
            <a:prstDash val="solid"/>
          </a:ln>
        </p:spPr>
      </p:sp>
      <p:sp>
        <p:nvSpPr>
          <p:cNvPr id="43" name="Shape 39"/>
          <p:cNvSpPr/>
          <p:nvPr/>
        </p:nvSpPr>
        <p:spPr>
          <a:xfrm>
            <a:off x="6492240" y="1627632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F0F2F5"/>
          </a:solidFill>
          <a:ln w="12700">
            <a:solidFill>
              <a:srgbClr val="F0F2F5"/>
            </a:solidFill>
            <a:prstDash val="solid"/>
          </a:ln>
        </p:spPr>
      </p:sp>
      <p:pic>
        <p:nvPicPr>
          <p:cNvPr id="4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1112" y="1746504"/>
            <a:ext cx="365760" cy="365760"/>
          </a:xfrm>
          <a:prstGeom prst="rect">
            <a:avLst/>
          </a:prstGeom>
        </p:spPr>
      </p:pic>
      <p:sp>
        <p:nvSpPr>
          <p:cNvPr id="45" name="Text 40"/>
          <p:cNvSpPr/>
          <p:nvPr/>
        </p:nvSpPr>
        <p:spPr>
          <a:xfrm>
            <a:off x="7223760" y="1709928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SILVER</a:t>
            </a:r>
            <a:endParaRPr lang="en-US" sz="1800" dirty="0"/>
          </a:p>
        </p:txBody>
      </p:sp>
      <p:sp>
        <p:nvSpPr>
          <p:cNvPr id="46" name="Text 41"/>
          <p:cNvSpPr/>
          <p:nvPr/>
        </p:nvSpPr>
        <p:spPr>
          <a:xfrm>
            <a:off x="6528816" y="2487168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spc="80" kern="0" dirty="0">
                <a:solidFill>
                  <a:srgbClr val="A7B0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</a:t>
            </a:r>
            <a:endParaRPr lang="en-US" sz="820" dirty="0"/>
          </a:p>
        </p:txBody>
      </p:sp>
      <p:sp>
        <p:nvSpPr>
          <p:cNvPr id="47" name="Text 42"/>
          <p:cNvSpPr/>
          <p:nvPr/>
        </p:nvSpPr>
        <p:spPr>
          <a:xfrm>
            <a:off x="6528816" y="2724912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D29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data consistent and usable</a:t>
            </a:r>
            <a:endParaRPr lang="en-US" sz="1320" dirty="0"/>
          </a:p>
        </p:txBody>
      </p:sp>
      <p:sp>
        <p:nvSpPr>
          <p:cNvPr id="48" name="Text 43"/>
          <p:cNvSpPr/>
          <p:nvPr/>
        </p:nvSpPr>
        <p:spPr>
          <a:xfrm>
            <a:off x="6528816" y="3456432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spc="80" kern="0" dirty="0">
                <a:solidFill>
                  <a:srgbClr val="A7B0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CONTAINS</a:t>
            </a:r>
            <a:endParaRPr lang="en-US" sz="820" dirty="0"/>
          </a:p>
        </p:txBody>
      </p:sp>
      <p:sp>
        <p:nvSpPr>
          <p:cNvPr id="49" name="Shape 44"/>
          <p:cNvSpPr/>
          <p:nvPr/>
        </p:nvSpPr>
        <p:spPr>
          <a:xfrm>
            <a:off x="6547104" y="3776472"/>
            <a:ext cx="82296" cy="82296"/>
          </a:xfrm>
          <a:prstGeom prst="ellipse">
            <a:avLst/>
          </a:prstGeom>
          <a:solidFill>
            <a:srgbClr val="A7B0BE"/>
          </a:solidFill>
          <a:ln w="12700">
            <a:solidFill>
              <a:srgbClr val="A7B0BE"/>
            </a:solidFill>
            <a:prstDash val="solid"/>
          </a:ln>
        </p:spPr>
      </p:sp>
      <p:sp>
        <p:nvSpPr>
          <p:cNvPr id="50" name="Text 45"/>
          <p:cNvSpPr/>
          <p:nvPr/>
        </p:nvSpPr>
        <p:spPr>
          <a:xfrm>
            <a:off x="6711696" y="3685032"/>
            <a:ext cx="17922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D29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and date normalization</a:t>
            </a:r>
            <a:endParaRPr lang="en-US" sz="980" dirty="0"/>
          </a:p>
        </p:txBody>
      </p:sp>
      <p:sp>
        <p:nvSpPr>
          <p:cNvPr id="51" name="Shape 46"/>
          <p:cNvSpPr/>
          <p:nvPr/>
        </p:nvSpPr>
        <p:spPr>
          <a:xfrm>
            <a:off x="6547104" y="4096512"/>
            <a:ext cx="82296" cy="82296"/>
          </a:xfrm>
          <a:prstGeom prst="ellipse">
            <a:avLst/>
          </a:prstGeom>
          <a:solidFill>
            <a:srgbClr val="A7B0BE"/>
          </a:solidFill>
          <a:ln w="12700">
            <a:solidFill>
              <a:srgbClr val="A7B0BE"/>
            </a:solidFill>
            <a:prstDash val="solid"/>
          </a:ln>
        </p:spPr>
      </p:sp>
      <p:sp>
        <p:nvSpPr>
          <p:cNvPr id="52" name="Text 47"/>
          <p:cNvSpPr/>
          <p:nvPr/>
        </p:nvSpPr>
        <p:spPr>
          <a:xfrm>
            <a:off x="6711696" y="4005072"/>
            <a:ext cx="17922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D29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Mappers / business rules</a:t>
            </a:r>
            <a:endParaRPr lang="en-US" sz="980" dirty="0"/>
          </a:p>
        </p:txBody>
      </p:sp>
      <p:sp>
        <p:nvSpPr>
          <p:cNvPr id="53" name="Shape 48"/>
          <p:cNvSpPr/>
          <p:nvPr/>
        </p:nvSpPr>
        <p:spPr>
          <a:xfrm>
            <a:off x="6547104" y="4416552"/>
            <a:ext cx="82296" cy="82296"/>
          </a:xfrm>
          <a:prstGeom prst="ellipse">
            <a:avLst/>
          </a:prstGeom>
          <a:solidFill>
            <a:srgbClr val="A7B0BE"/>
          </a:solidFill>
          <a:ln w="12700">
            <a:solidFill>
              <a:srgbClr val="A7B0BE"/>
            </a:solidFill>
            <a:prstDash val="solid"/>
          </a:ln>
        </p:spPr>
      </p:sp>
      <p:sp>
        <p:nvSpPr>
          <p:cNvPr id="54" name="Text 49"/>
          <p:cNvSpPr/>
          <p:nvPr/>
        </p:nvSpPr>
        <p:spPr>
          <a:xfrm>
            <a:off x="6711696" y="4325112"/>
            <a:ext cx="17922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D29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Deduplication / reconciliation</a:t>
            </a:r>
            <a:endParaRPr lang="en-US" sz="980" dirty="0"/>
          </a:p>
        </p:txBody>
      </p:sp>
      <p:sp>
        <p:nvSpPr>
          <p:cNvPr id="55" name="Shape 50"/>
          <p:cNvSpPr/>
          <p:nvPr/>
        </p:nvSpPr>
        <p:spPr>
          <a:xfrm>
            <a:off x="6492240" y="4901184"/>
            <a:ext cx="2103120" cy="566928"/>
          </a:xfrm>
          <a:prstGeom prst="roundRect">
            <a:avLst>
              <a:gd name="adj" fmla="val 8065"/>
            </a:avLst>
          </a:prstGeom>
          <a:solidFill>
            <a:srgbClr val="F0F2F5"/>
          </a:solidFill>
          <a:ln w="12700">
            <a:solidFill>
              <a:srgbClr val="F0F2F5"/>
            </a:solidFill>
            <a:prstDash val="solid"/>
          </a:ln>
        </p:spPr>
      </p:sp>
      <p:sp>
        <p:nvSpPr>
          <p:cNvPr id="56" name="Text 51"/>
          <p:cNvSpPr/>
          <p:nvPr/>
        </p:nvSpPr>
        <p:spPr>
          <a:xfrm>
            <a:off x="6620256" y="5010912"/>
            <a:ext cx="10424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b="1" spc="50" kern="0" dirty="0">
                <a:solidFill>
                  <a:srgbClr val="A7B0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PROMOTE WHEN</a:t>
            </a:r>
            <a:endParaRPr lang="en-US" sz="770" dirty="0"/>
          </a:p>
        </p:txBody>
      </p:sp>
      <p:sp>
        <p:nvSpPr>
          <p:cNvPr id="57" name="Text 52"/>
          <p:cNvSpPr/>
          <p:nvPr/>
        </p:nvSpPr>
        <p:spPr>
          <a:xfrm>
            <a:off x="6620256" y="5184648"/>
            <a:ext cx="17922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b="1" dirty="0">
                <a:solidFill>
                  <a:srgbClr val="1D29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Transformation checks passed</a:t>
            </a:r>
            <a:endParaRPr lang="en-US" sz="860" dirty="0"/>
          </a:p>
        </p:txBody>
      </p:sp>
      <p:sp>
        <p:nvSpPr>
          <p:cNvPr id="58" name="Shape 53"/>
          <p:cNvSpPr/>
          <p:nvPr/>
        </p:nvSpPr>
        <p:spPr>
          <a:xfrm>
            <a:off x="8814816" y="3493008"/>
            <a:ext cx="347472" cy="0"/>
          </a:xfrm>
          <a:prstGeom prst="line">
            <a:avLst/>
          </a:prstGeom>
          <a:noFill/>
          <a:ln w="27940">
            <a:solidFill>
              <a:srgbClr val="246BFE"/>
            </a:solidFill>
            <a:prstDash val="solid"/>
            <a:tailEnd type="triangle"/>
          </a:ln>
        </p:spPr>
      </p:sp>
      <p:sp>
        <p:nvSpPr>
          <p:cNvPr id="59" name="Shape 54"/>
          <p:cNvSpPr/>
          <p:nvPr/>
        </p:nvSpPr>
        <p:spPr>
          <a:xfrm>
            <a:off x="9226296" y="1335024"/>
            <a:ext cx="2432304" cy="4407408"/>
          </a:xfrm>
          <a:prstGeom prst="roundRect">
            <a:avLst>
              <a:gd name="adj" fmla="val 300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2.928645652802785e+94" dist="1.708376630801624e+94" dir="3.553786003741213e+111">
              <a:srgbClr val="000000">
                <a:alpha val="1.1999999999999999e+114"/>
              </a:srgbClr>
            </a:outerShdw>
          </a:effectLst>
        </p:spPr>
      </p:sp>
      <p:sp>
        <p:nvSpPr>
          <p:cNvPr id="60" name="Shape 55"/>
          <p:cNvSpPr/>
          <p:nvPr/>
        </p:nvSpPr>
        <p:spPr>
          <a:xfrm>
            <a:off x="9226296" y="1335024"/>
            <a:ext cx="2432304" cy="118872"/>
          </a:xfrm>
          <a:prstGeom prst="rect">
            <a:avLst/>
          </a:prstGeom>
          <a:solidFill>
            <a:srgbClr val="D6A800"/>
          </a:solidFill>
          <a:ln w="12700">
            <a:solidFill>
              <a:srgbClr val="D6A800"/>
            </a:solidFill>
            <a:prstDash val="solid"/>
          </a:ln>
        </p:spPr>
      </p:sp>
      <p:sp>
        <p:nvSpPr>
          <p:cNvPr id="61" name="Shape 56"/>
          <p:cNvSpPr/>
          <p:nvPr/>
        </p:nvSpPr>
        <p:spPr>
          <a:xfrm>
            <a:off x="9390888" y="1627632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FFF6DB"/>
          </a:solidFill>
          <a:ln w="12700">
            <a:solidFill>
              <a:srgbClr val="FFF6DB"/>
            </a:solidFill>
            <a:prstDash val="solid"/>
          </a:ln>
        </p:spPr>
      </p:sp>
      <p:pic>
        <p:nvPicPr>
          <p:cNvPr id="6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509760" y="1746504"/>
            <a:ext cx="365760" cy="365760"/>
          </a:xfrm>
          <a:prstGeom prst="rect">
            <a:avLst/>
          </a:prstGeom>
        </p:spPr>
      </p:pic>
      <p:sp>
        <p:nvSpPr>
          <p:cNvPr id="63" name="Text 57"/>
          <p:cNvSpPr/>
          <p:nvPr/>
        </p:nvSpPr>
        <p:spPr>
          <a:xfrm>
            <a:off x="10122408" y="1709928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 / AIO</a:t>
            </a:r>
            <a:endParaRPr lang="en-US" sz="1800" dirty="0"/>
          </a:p>
        </p:txBody>
      </p:sp>
      <p:sp>
        <p:nvSpPr>
          <p:cNvPr id="64" name="Text 58"/>
          <p:cNvSpPr/>
          <p:nvPr/>
        </p:nvSpPr>
        <p:spPr>
          <a:xfrm>
            <a:off x="9427464" y="2487168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spc="80" kern="0" dirty="0">
                <a:solidFill>
                  <a:srgbClr val="D6A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</a:t>
            </a:r>
            <a:endParaRPr lang="en-US" sz="820" dirty="0"/>
          </a:p>
        </p:txBody>
      </p:sp>
      <p:sp>
        <p:nvSpPr>
          <p:cNvPr id="65" name="Text 59"/>
          <p:cNvSpPr/>
          <p:nvPr/>
        </p:nvSpPr>
        <p:spPr>
          <a:xfrm>
            <a:off x="9427464" y="2724912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D29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 a model-ready data product</a:t>
            </a:r>
            <a:endParaRPr lang="en-US" sz="1320" dirty="0"/>
          </a:p>
        </p:txBody>
      </p:sp>
      <p:sp>
        <p:nvSpPr>
          <p:cNvPr id="66" name="Text 60"/>
          <p:cNvSpPr/>
          <p:nvPr/>
        </p:nvSpPr>
        <p:spPr>
          <a:xfrm>
            <a:off x="9427464" y="3456432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spc="80" kern="0" dirty="0">
                <a:solidFill>
                  <a:srgbClr val="D6A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CONTAINS</a:t>
            </a:r>
            <a:endParaRPr lang="en-US" sz="820" dirty="0"/>
          </a:p>
        </p:txBody>
      </p:sp>
      <p:sp>
        <p:nvSpPr>
          <p:cNvPr id="67" name="Shape 61"/>
          <p:cNvSpPr/>
          <p:nvPr/>
        </p:nvSpPr>
        <p:spPr>
          <a:xfrm>
            <a:off x="9445752" y="3776472"/>
            <a:ext cx="82296" cy="82296"/>
          </a:xfrm>
          <a:prstGeom prst="ellipse">
            <a:avLst/>
          </a:prstGeom>
          <a:solidFill>
            <a:srgbClr val="D6A800"/>
          </a:solidFill>
          <a:ln w="12700">
            <a:solidFill>
              <a:srgbClr val="D6A800"/>
            </a:solidFill>
            <a:prstDash val="solid"/>
          </a:ln>
        </p:spPr>
      </p:sp>
      <p:sp>
        <p:nvSpPr>
          <p:cNvPr id="68" name="Text 62"/>
          <p:cNvSpPr/>
          <p:nvPr/>
        </p:nvSpPr>
        <p:spPr>
          <a:xfrm>
            <a:off x="9610344" y="3685032"/>
            <a:ext cx="17922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D29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Derived columns</a:t>
            </a:r>
            <a:endParaRPr lang="en-US" sz="980" dirty="0"/>
          </a:p>
        </p:txBody>
      </p:sp>
      <p:sp>
        <p:nvSpPr>
          <p:cNvPr id="69" name="Shape 63"/>
          <p:cNvSpPr/>
          <p:nvPr/>
        </p:nvSpPr>
        <p:spPr>
          <a:xfrm>
            <a:off x="9445752" y="4096512"/>
            <a:ext cx="82296" cy="82296"/>
          </a:xfrm>
          <a:prstGeom prst="ellipse">
            <a:avLst/>
          </a:prstGeom>
          <a:solidFill>
            <a:srgbClr val="D6A800"/>
          </a:solidFill>
          <a:ln w="12700">
            <a:solidFill>
              <a:srgbClr val="D6A800"/>
            </a:solidFill>
            <a:prstDash val="solid"/>
          </a:ln>
        </p:spPr>
      </p:sp>
      <p:sp>
        <p:nvSpPr>
          <p:cNvPr id="70" name="Text 64"/>
          <p:cNvSpPr/>
          <p:nvPr/>
        </p:nvSpPr>
        <p:spPr>
          <a:xfrm>
            <a:off x="9610344" y="4005072"/>
            <a:ext cx="17922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D29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Defined grain / aggregation</a:t>
            </a:r>
            <a:endParaRPr lang="en-US" sz="980" dirty="0"/>
          </a:p>
        </p:txBody>
      </p:sp>
      <p:sp>
        <p:nvSpPr>
          <p:cNvPr id="71" name="Shape 65"/>
          <p:cNvSpPr/>
          <p:nvPr/>
        </p:nvSpPr>
        <p:spPr>
          <a:xfrm>
            <a:off x="9445752" y="4416552"/>
            <a:ext cx="82296" cy="82296"/>
          </a:xfrm>
          <a:prstGeom prst="ellipse">
            <a:avLst/>
          </a:prstGeom>
          <a:solidFill>
            <a:srgbClr val="D6A800"/>
          </a:solidFill>
          <a:ln w="12700">
            <a:solidFill>
              <a:srgbClr val="D6A800"/>
            </a:solidFill>
            <a:prstDash val="solid"/>
          </a:ln>
        </p:spPr>
      </p:sp>
      <p:sp>
        <p:nvSpPr>
          <p:cNvPr id="72" name="Text 66"/>
          <p:cNvSpPr/>
          <p:nvPr/>
        </p:nvSpPr>
        <p:spPr>
          <a:xfrm>
            <a:off x="9610344" y="4325112"/>
            <a:ext cx="17922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D29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Canonical AIO schema</a:t>
            </a:r>
            <a:endParaRPr lang="en-US" sz="980" dirty="0"/>
          </a:p>
        </p:txBody>
      </p:sp>
      <p:sp>
        <p:nvSpPr>
          <p:cNvPr id="73" name="Shape 67"/>
          <p:cNvSpPr/>
          <p:nvPr/>
        </p:nvSpPr>
        <p:spPr>
          <a:xfrm>
            <a:off x="9390888" y="4901184"/>
            <a:ext cx="2103120" cy="566928"/>
          </a:xfrm>
          <a:prstGeom prst="roundRect">
            <a:avLst>
              <a:gd name="adj" fmla="val 8065"/>
            </a:avLst>
          </a:prstGeom>
          <a:solidFill>
            <a:srgbClr val="FFF6DB"/>
          </a:solidFill>
          <a:ln w="12700">
            <a:solidFill>
              <a:srgbClr val="FFF6DB"/>
            </a:solidFill>
            <a:prstDash val="solid"/>
          </a:ln>
        </p:spPr>
      </p:sp>
      <p:sp>
        <p:nvSpPr>
          <p:cNvPr id="74" name="Text 68"/>
          <p:cNvSpPr/>
          <p:nvPr/>
        </p:nvSpPr>
        <p:spPr>
          <a:xfrm>
            <a:off x="9518904" y="5010912"/>
            <a:ext cx="10424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b="1" spc="50" kern="0" dirty="0">
                <a:solidFill>
                  <a:srgbClr val="D6A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PROMOTE WHEN</a:t>
            </a:r>
            <a:endParaRPr lang="en-US" sz="770" dirty="0"/>
          </a:p>
        </p:txBody>
      </p:sp>
      <p:sp>
        <p:nvSpPr>
          <p:cNvPr id="75" name="Text 69"/>
          <p:cNvSpPr/>
          <p:nvPr/>
        </p:nvSpPr>
        <p:spPr>
          <a:xfrm>
            <a:off x="9518904" y="5184648"/>
            <a:ext cx="17922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b="1" dirty="0">
                <a:solidFill>
                  <a:srgbClr val="1D29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AIO approval</a:t>
            </a:r>
            <a:endParaRPr lang="en-US" sz="860" dirty="0"/>
          </a:p>
        </p:txBody>
      </p:sp>
      <p:sp>
        <p:nvSpPr>
          <p:cNvPr id="76" name="Shape 70"/>
          <p:cNvSpPr/>
          <p:nvPr/>
        </p:nvSpPr>
        <p:spPr>
          <a:xfrm>
            <a:off x="749808" y="5916168"/>
            <a:ext cx="10698480" cy="384048"/>
          </a:xfrm>
          <a:prstGeom prst="roundRect">
            <a:avLst>
              <a:gd name="adj" fmla="val 11905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77" name="Text 71"/>
          <p:cNvSpPr/>
          <p:nvPr/>
        </p:nvSpPr>
        <p:spPr>
          <a:xfrm>
            <a:off x="960120" y="6007608"/>
            <a:ext cx="102778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rule: preserve lineage and versions — never lose the original file, mapping configuration, DQ evidence or approval history.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83096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7A879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46888"/>
            <a:ext cx="88696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Logical Deployment Architecture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530352" y="749808"/>
            <a:ext cx="658368" cy="50292"/>
          </a:xfrm>
          <a:prstGeom prst="rect">
            <a:avLst/>
          </a:prstGeom>
          <a:solidFill>
            <a:srgbClr val="705CF6"/>
          </a:solidFill>
          <a:ln w="12700">
            <a:solidFill>
              <a:srgbClr val="705C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98448" y="658368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2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 the data plane, approval/control plane and governance services.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11173968" cy="1051560"/>
          </a:xfrm>
          <a:prstGeom prst="roundRect">
            <a:avLst>
              <a:gd name="adj" fmla="val 3478"/>
            </a:avLst>
          </a:prstGeom>
          <a:solidFill>
            <a:srgbClr val="F3F6FA"/>
          </a:solidFill>
          <a:ln w="10160">
            <a:solidFill>
              <a:srgbClr val="D9E2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243584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spc="70" kern="0" dirty="0">
                <a:solidFill>
                  <a:srgbClr val="5262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ACTORS</a:t>
            </a:r>
            <a:endParaRPr lang="en-US" sz="820" dirty="0"/>
          </a:p>
        </p:txBody>
      </p:sp>
      <p:sp>
        <p:nvSpPr>
          <p:cNvPr id="7" name="Shape 5"/>
          <p:cNvSpPr/>
          <p:nvPr/>
        </p:nvSpPr>
        <p:spPr>
          <a:xfrm>
            <a:off x="502920" y="2359152"/>
            <a:ext cx="11173968" cy="1261872"/>
          </a:xfrm>
          <a:prstGeom prst="roundRect">
            <a:avLst>
              <a:gd name="adj" fmla="val 2899"/>
            </a:avLst>
          </a:prstGeom>
          <a:solidFill>
            <a:srgbClr val="F6F4FF"/>
          </a:solidFill>
          <a:ln w="10160">
            <a:solidFill>
              <a:srgbClr val="D9E2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414016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spc="70" kern="0" dirty="0">
                <a:solidFill>
                  <a:srgbClr val="5262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/ APPROVAL PLANE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502920" y="3749040"/>
            <a:ext cx="11173968" cy="1298448"/>
          </a:xfrm>
          <a:prstGeom prst="roundRect">
            <a:avLst>
              <a:gd name="adj" fmla="val 2817"/>
            </a:avLst>
          </a:prstGeom>
          <a:solidFill>
            <a:srgbClr val="EEF7FF"/>
          </a:solidFill>
          <a:ln w="10160">
            <a:solidFill>
              <a:srgbClr val="D9E2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803904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spc="70" kern="0" dirty="0">
                <a:solidFill>
                  <a:srgbClr val="5262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PROCESSING PLANE</a:t>
            </a:r>
            <a:endParaRPr lang="en-US" sz="820" dirty="0"/>
          </a:p>
        </p:txBody>
      </p:sp>
      <p:sp>
        <p:nvSpPr>
          <p:cNvPr id="11" name="Shape 9"/>
          <p:cNvSpPr/>
          <p:nvPr/>
        </p:nvSpPr>
        <p:spPr>
          <a:xfrm>
            <a:off x="502920" y="5175504"/>
            <a:ext cx="11173968" cy="950976"/>
          </a:xfrm>
          <a:prstGeom prst="roundRect">
            <a:avLst>
              <a:gd name="adj" fmla="val 3846"/>
            </a:avLst>
          </a:prstGeom>
          <a:solidFill>
            <a:srgbClr val="F2FAF8"/>
          </a:solidFill>
          <a:ln w="10160">
            <a:solidFill>
              <a:srgbClr val="D9E2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5230368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spc="70" kern="0" dirty="0">
                <a:solidFill>
                  <a:srgbClr val="5262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 &amp; GOVERNANCE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>
            <a:off x="1874520" y="1435608"/>
            <a:ext cx="1965960" cy="585216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3.7193799790595366e+98" dist="2.1696383211180627e+98" dir="2.1322716022447277e+116">
              <a:srgbClr val="000000">
                <a:alpha val="1.1999999999999998e+119"/>
              </a:srgbClr>
            </a:outerShdw>
          </a:effectLst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11680" y="1572768"/>
            <a:ext cx="292608" cy="292608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2377440" y="1545336"/>
            <a:ext cx="1362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D29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/ Agency</a:t>
            </a:r>
            <a:endParaRPr lang="en-US" sz="960" dirty="0"/>
          </a:p>
        </p:txBody>
      </p:sp>
      <p:sp>
        <p:nvSpPr>
          <p:cNvPr id="16" name="Shape 13"/>
          <p:cNvSpPr/>
          <p:nvPr/>
        </p:nvSpPr>
        <p:spPr>
          <a:xfrm>
            <a:off x="4754880" y="1435608"/>
            <a:ext cx="1965960" cy="585216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4.723612573405612e+102" dist="2.7554406678199395e+102" dir="1.2793629613468366e+121">
              <a:srgbClr val="000000">
                <a:alpha val="1.1999999999999998e+124"/>
              </a:srgbClr>
            </a:outerShdw>
          </a:effectLst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92040" y="1572768"/>
            <a:ext cx="292608" cy="29260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257800" y="1545336"/>
            <a:ext cx="1362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D29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Approver</a:t>
            </a:r>
            <a:endParaRPr lang="en-US" sz="960" dirty="0"/>
          </a:p>
        </p:txBody>
      </p:sp>
      <p:sp>
        <p:nvSpPr>
          <p:cNvPr id="19" name="Shape 15"/>
          <p:cNvSpPr/>
          <p:nvPr/>
        </p:nvSpPr>
        <p:spPr>
          <a:xfrm>
            <a:off x="7635240" y="1435608"/>
            <a:ext cx="1965960" cy="585216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5.998987968225127e+106" dist="3.4994096481313233e+106" dir="7.67617776808102e+125">
              <a:srgbClr val="000000">
                <a:alpha val="1.1999999999999998e+129"/>
              </a:srgbClr>
            </a:outerShdw>
          </a:effectLst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772400" y="1572768"/>
            <a:ext cx="292608" cy="29260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138160" y="1545336"/>
            <a:ext cx="1362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D29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Team</a:t>
            </a:r>
            <a:endParaRPr lang="en-US" sz="960" dirty="0"/>
          </a:p>
        </p:txBody>
      </p:sp>
      <p:sp>
        <p:nvSpPr>
          <p:cNvPr id="22" name="Shape 17"/>
          <p:cNvSpPr/>
          <p:nvPr/>
        </p:nvSpPr>
        <p:spPr>
          <a:xfrm>
            <a:off x="10104120" y="1435608"/>
            <a:ext cx="1143000" cy="585216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7.618714719645911e+110" dist="4.4442502531267805e+110" dir="4.605706660848612e+130">
              <a:srgbClr val="000000">
                <a:alpha val="1.1999999999999998e+134"/>
              </a:srgbClr>
            </a:outerShdw>
          </a:effectLst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241280" y="1572768"/>
            <a:ext cx="292608" cy="29260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0607040" y="1545336"/>
            <a:ext cx="539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D29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Consumers</a:t>
            </a:r>
            <a:endParaRPr lang="en-US" sz="960" dirty="0"/>
          </a:p>
        </p:txBody>
      </p:sp>
      <p:sp>
        <p:nvSpPr>
          <p:cNvPr id="25" name="Shape 19"/>
          <p:cNvSpPr/>
          <p:nvPr/>
        </p:nvSpPr>
        <p:spPr>
          <a:xfrm>
            <a:off x="1417320" y="2688336"/>
            <a:ext cx="1901952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9.675767693950307e+114" dist="5.644197821471012e+114" dir="2.763423996509167e+135">
              <a:srgbClr val="000000">
                <a:alpha val="1.1999999999999998e+139"/>
              </a:srgbClr>
            </a:outerShdw>
          </a:effectLst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554480" y="2862072"/>
            <a:ext cx="292608" cy="29260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920240" y="2834640"/>
            <a:ext cx="1307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1D29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/ S3 Explorer</a:t>
            </a:r>
            <a:endParaRPr lang="en-US" sz="940" dirty="0"/>
          </a:p>
        </p:txBody>
      </p:sp>
      <p:sp>
        <p:nvSpPr>
          <p:cNvPr id="28" name="Shape 21"/>
          <p:cNvSpPr/>
          <p:nvPr/>
        </p:nvSpPr>
        <p:spPr>
          <a:xfrm>
            <a:off x="3703320" y="2688336"/>
            <a:ext cx="1901952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.2288224971316889e+119" dist="7.168131233268185e+118" dir="1.6580543979055002e+140">
              <a:srgbClr val="000000">
                <a:alpha val="1.1999999999999999e+144"/>
              </a:srgbClr>
            </a:outerShdw>
          </a:effectLst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840480" y="2862072"/>
            <a:ext cx="292608" cy="292608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4206240" y="2834640"/>
            <a:ext cx="1307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1D29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 Review UI</a:t>
            </a:r>
            <a:endParaRPr lang="en-US" sz="940" dirty="0"/>
          </a:p>
        </p:txBody>
      </p:sp>
      <p:sp>
        <p:nvSpPr>
          <p:cNvPr id="31" name="Shape 23"/>
          <p:cNvSpPr/>
          <p:nvPr/>
        </p:nvSpPr>
        <p:spPr>
          <a:xfrm>
            <a:off x="5989320" y="2688336"/>
            <a:ext cx="1901952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.5606045713572448e+123" dist="9.103526666250595e+122" dir="9.948326387433002e+144">
              <a:srgbClr val="000000">
                <a:alpha val="1.1999999999999998e+149"/>
              </a:srgbClr>
            </a:outerShdw>
          </a:effectLst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126480" y="2862072"/>
            <a:ext cx="292608" cy="292608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6492240" y="2834640"/>
            <a:ext cx="1307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1D29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 API &amp; State</a:t>
            </a:r>
            <a:endParaRPr lang="en-US" sz="940" dirty="0"/>
          </a:p>
        </p:txBody>
      </p:sp>
      <p:sp>
        <p:nvSpPr>
          <p:cNvPr id="34" name="Shape 25"/>
          <p:cNvSpPr/>
          <p:nvPr/>
        </p:nvSpPr>
        <p:spPr>
          <a:xfrm>
            <a:off x="8275320" y="2688336"/>
            <a:ext cx="1901952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.9819678056237007e+127" dist="1.1561478866138257e+127" dir="5.968995832459801e+149">
              <a:srgbClr val="000000">
                <a:alpha val="1.1999999999999998e+154"/>
              </a:srgbClr>
            </a:outerShdw>
          </a:effectLst>
        </p:spPr>
      </p:sp>
      <p:pic>
        <p:nvPicPr>
          <p:cNvPr id="35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412480" y="2862072"/>
            <a:ext cx="292608" cy="292608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8778240" y="2834640"/>
            <a:ext cx="1307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1D29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AIO Review UI</a:t>
            </a:r>
            <a:endParaRPr lang="en-US" sz="940" dirty="0"/>
          </a:p>
        </p:txBody>
      </p:sp>
      <p:sp>
        <p:nvSpPr>
          <p:cNvPr id="37" name="Shape 27"/>
          <p:cNvSpPr/>
          <p:nvPr/>
        </p:nvSpPr>
        <p:spPr>
          <a:xfrm>
            <a:off x="3364992" y="3017520"/>
            <a:ext cx="292608" cy="0"/>
          </a:xfrm>
          <a:prstGeom prst="line">
            <a:avLst/>
          </a:prstGeom>
          <a:noFill/>
          <a:ln w="22860">
            <a:solidFill>
              <a:srgbClr val="705CF6"/>
            </a:solidFill>
            <a:prstDash val="solid"/>
            <a:tailEnd type="triangle"/>
          </a:ln>
        </p:spPr>
      </p:sp>
      <p:sp>
        <p:nvSpPr>
          <p:cNvPr id="38" name="Shape 28"/>
          <p:cNvSpPr/>
          <p:nvPr/>
        </p:nvSpPr>
        <p:spPr>
          <a:xfrm>
            <a:off x="5650992" y="3017520"/>
            <a:ext cx="292608" cy="0"/>
          </a:xfrm>
          <a:prstGeom prst="line">
            <a:avLst/>
          </a:prstGeom>
          <a:noFill/>
          <a:ln w="22860">
            <a:solidFill>
              <a:srgbClr val="705CF6"/>
            </a:solidFill>
            <a:prstDash val="solid"/>
            <a:tailEnd type="triangle"/>
          </a:ln>
        </p:spPr>
      </p:sp>
      <p:sp>
        <p:nvSpPr>
          <p:cNvPr id="39" name="Shape 29"/>
          <p:cNvSpPr/>
          <p:nvPr/>
        </p:nvSpPr>
        <p:spPr>
          <a:xfrm>
            <a:off x="7936992" y="3017520"/>
            <a:ext cx="292608" cy="0"/>
          </a:xfrm>
          <a:prstGeom prst="line">
            <a:avLst/>
          </a:prstGeom>
          <a:noFill/>
          <a:ln w="22860">
            <a:solidFill>
              <a:srgbClr val="705CF6"/>
            </a:solidFill>
            <a:prstDash val="solid"/>
            <a:tailEnd type="triangle"/>
          </a:ln>
        </p:spPr>
      </p:sp>
      <p:sp>
        <p:nvSpPr>
          <p:cNvPr id="40" name="Shape 30"/>
          <p:cNvSpPr/>
          <p:nvPr/>
        </p:nvSpPr>
        <p:spPr>
          <a:xfrm>
            <a:off x="1170432" y="4078224"/>
            <a:ext cx="196596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2.5170991131421e+131" dist="1.4683078159995586e+131" dir="3.581397499475881e+154">
              <a:srgbClr val="000000">
                <a:alpha val="1.1999999999999998e+159"/>
              </a:srgbClr>
            </a:outerShdw>
          </a:effectLst>
        </p:spPr>
      </p:sp>
      <p:pic>
        <p:nvPicPr>
          <p:cNvPr id="41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298448" y="4261104"/>
            <a:ext cx="292608" cy="292608"/>
          </a:xfrm>
          <a:prstGeom prst="rect">
            <a:avLst/>
          </a:prstGeom>
        </p:spPr>
      </p:pic>
      <p:sp>
        <p:nvSpPr>
          <p:cNvPr id="42" name="Text 31"/>
          <p:cNvSpPr/>
          <p:nvPr/>
        </p:nvSpPr>
        <p:spPr>
          <a:xfrm>
            <a:off x="1655064" y="4215384"/>
            <a:ext cx="138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D29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Ingestion + Column Mapper</a:t>
            </a:r>
            <a:endParaRPr lang="en-US" sz="920" dirty="0"/>
          </a:p>
        </p:txBody>
      </p:sp>
      <p:sp>
        <p:nvSpPr>
          <p:cNvPr id="43" name="Shape 32"/>
          <p:cNvSpPr/>
          <p:nvPr/>
        </p:nvSpPr>
        <p:spPr>
          <a:xfrm>
            <a:off x="3456432" y="4078224"/>
            <a:ext cx="196596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3.1967158736904665e+135" dist="1.8647509263194393e+135" dir="2.1488384996855287e+159">
              <a:srgbClr val="000000">
                <a:alpha val="1.1999999999999998e+164"/>
              </a:srgbClr>
            </a:outerShdw>
          </a:effectLst>
        </p:spPr>
      </p:sp>
      <p:pic>
        <p:nvPicPr>
          <p:cNvPr id="44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3584448" y="4261104"/>
            <a:ext cx="292608" cy="292608"/>
          </a:xfrm>
          <a:prstGeom prst="rect">
            <a:avLst/>
          </a:prstGeom>
        </p:spPr>
      </p:pic>
      <p:sp>
        <p:nvSpPr>
          <p:cNvPr id="45" name="Text 33"/>
          <p:cNvSpPr/>
          <p:nvPr/>
        </p:nvSpPr>
        <p:spPr>
          <a:xfrm>
            <a:off x="3941064" y="4215384"/>
            <a:ext cx="138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D29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DQ + Profiling + Summary</a:t>
            </a:r>
            <a:endParaRPr lang="en-US" sz="920" dirty="0"/>
          </a:p>
        </p:txBody>
      </p:sp>
      <p:sp>
        <p:nvSpPr>
          <p:cNvPr id="46" name="Shape 34"/>
          <p:cNvSpPr/>
          <p:nvPr/>
        </p:nvSpPr>
        <p:spPr>
          <a:xfrm>
            <a:off x="5742432" y="4078224"/>
            <a:ext cx="196596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4.0598291595868927e+139" dist="2.3682336764256879e+139" dir="1.2893030998113172e+164">
              <a:srgbClr val="000000">
                <a:alpha val="1.1999999999999998e+169"/>
              </a:srgbClr>
            </a:outerShdw>
          </a:effectLst>
        </p:spPr>
      </p:sp>
      <p:pic>
        <p:nvPicPr>
          <p:cNvPr id="47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5870448" y="4261104"/>
            <a:ext cx="292608" cy="292608"/>
          </a:xfrm>
          <a:prstGeom prst="rect">
            <a:avLst/>
          </a:prstGeom>
        </p:spPr>
      </p:pic>
      <p:sp>
        <p:nvSpPr>
          <p:cNvPr id="48" name="Text 35"/>
          <p:cNvSpPr/>
          <p:nvPr/>
        </p:nvSpPr>
        <p:spPr>
          <a:xfrm>
            <a:off x="6227064" y="4215384"/>
            <a:ext cx="138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D29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Silver Transformation Engine</a:t>
            </a:r>
            <a:endParaRPr lang="en-US" sz="920" dirty="0"/>
          </a:p>
        </p:txBody>
      </p:sp>
      <p:sp>
        <p:nvSpPr>
          <p:cNvPr id="49" name="Shape 36"/>
          <p:cNvSpPr/>
          <p:nvPr/>
        </p:nvSpPr>
        <p:spPr>
          <a:xfrm>
            <a:off x="8028432" y="4078224"/>
            <a:ext cx="178308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5.1559830326753536e+143" dist="3.0076567690606236e+143" dir="7.735818598867904e+168">
              <a:srgbClr val="000000">
                <a:alpha val="1.1999999999999997e+174"/>
              </a:srgbClr>
            </a:outerShdw>
          </a:effectLst>
        </p:spPr>
      </p:sp>
      <p:pic>
        <p:nvPicPr>
          <p:cNvPr id="50" name="Image 11" descr="preencoded.png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8156448" y="4261104"/>
            <a:ext cx="292608" cy="292608"/>
          </a:xfrm>
          <a:prstGeom prst="rect">
            <a:avLst/>
          </a:prstGeom>
        </p:spPr>
      </p:pic>
      <p:sp>
        <p:nvSpPr>
          <p:cNvPr id="51" name="Text 37"/>
          <p:cNvSpPr/>
          <p:nvPr/>
        </p:nvSpPr>
        <p:spPr>
          <a:xfrm>
            <a:off x="8513064" y="4215384"/>
            <a:ext cx="1207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D29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 / AIO Builder</a:t>
            </a:r>
            <a:endParaRPr lang="en-US" sz="920" dirty="0"/>
          </a:p>
        </p:txBody>
      </p:sp>
      <p:sp>
        <p:nvSpPr>
          <p:cNvPr id="52" name="Shape 38"/>
          <p:cNvSpPr/>
          <p:nvPr/>
        </p:nvSpPr>
        <p:spPr>
          <a:xfrm>
            <a:off x="10131552" y="4078224"/>
            <a:ext cx="118872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6.548098451497699e+147" dist="3.819724096706992e+147" dir="4.6414911593207425e+173">
              <a:srgbClr val="000000">
                <a:alpha val="1.1999999999999996e+179"/>
              </a:srgbClr>
            </a:outerShdw>
          </a:effectLst>
        </p:spPr>
      </p:sp>
      <p:pic>
        <p:nvPicPr>
          <p:cNvPr id="53" name="Image 12" descr="preencoded.png">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10259568" y="4261104"/>
            <a:ext cx="292608" cy="292608"/>
          </a:xfrm>
          <a:prstGeom prst="rect">
            <a:avLst/>
          </a:prstGeom>
        </p:spPr>
      </p:pic>
      <p:sp>
        <p:nvSpPr>
          <p:cNvPr id="54" name="Text 39"/>
          <p:cNvSpPr/>
          <p:nvPr/>
        </p:nvSpPr>
        <p:spPr>
          <a:xfrm>
            <a:off x="10616184" y="4215384"/>
            <a:ext cx="612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D29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</a:t>
            </a:r>
            <a:endParaRPr lang="en-US" sz="920" dirty="0"/>
          </a:p>
        </p:txBody>
      </p:sp>
      <p:sp>
        <p:nvSpPr>
          <p:cNvPr id="55" name="Shape 40"/>
          <p:cNvSpPr/>
          <p:nvPr/>
        </p:nvSpPr>
        <p:spPr>
          <a:xfrm>
            <a:off x="3182112" y="4416552"/>
            <a:ext cx="228600" cy="0"/>
          </a:xfrm>
          <a:prstGeom prst="line">
            <a:avLst/>
          </a:prstGeom>
          <a:noFill/>
          <a:ln w="24130">
            <a:solidFill>
              <a:srgbClr val="246BFE"/>
            </a:solidFill>
            <a:prstDash val="solid"/>
            <a:tailEnd type="triangle"/>
          </a:ln>
        </p:spPr>
      </p:sp>
      <p:sp>
        <p:nvSpPr>
          <p:cNvPr id="56" name="Shape 41"/>
          <p:cNvSpPr/>
          <p:nvPr/>
        </p:nvSpPr>
        <p:spPr>
          <a:xfrm>
            <a:off x="5468112" y="4416552"/>
            <a:ext cx="228600" cy="0"/>
          </a:xfrm>
          <a:prstGeom prst="line">
            <a:avLst/>
          </a:prstGeom>
          <a:noFill/>
          <a:ln w="24130">
            <a:solidFill>
              <a:srgbClr val="246BFE"/>
            </a:solidFill>
            <a:prstDash val="solid"/>
            <a:tailEnd type="triangle"/>
          </a:ln>
        </p:spPr>
      </p:sp>
      <p:sp>
        <p:nvSpPr>
          <p:cNvPr id="57" name="Shape 42"/>
          <p:cNvSpPr/>
          <p:nvPr/>
        </p:nvSpPr>
        <p:spPr>
          <a:xfrm>
            <a:off x="7754112" y="4416552"/>
            <a:ext cx="228600" cy="0"/>
          </a:xfrm>
          <a:prstGeom prst="line">
            <a:avLst/>
          </a:prstGeom>
          <a:noFill/>
          <a:ln w="24130">
            <a:solidFill>
              <a:srgbClr val="246BFE"/>
            </a:solidFill>
            <a:prstDash val="solid"/>
            <a:tailEnd type="triangle"/>
          </a:ln>
        </p:spPr>
      </p:sp>
      <p:sp>
        <p:nvSpPr>
          <p:cNvPr id="58" name="Shape 43"/>
          <p:cNvSpPr/>
          <p:nvPr/>
        </p:nvSpPr>
        <p:spPr>
          <a:xfrm>
            <a:off x="9857232" y="4416552"/>
            <a:ext cx="228600" cy="0"/>
          </a:xfrm>
          <a:prstGeom prst="line">
            <a:avLst/>
          </a:prstGeom>
          <a:noFill/>
          <a:ln w="24130">
            <a:solidFill>
              <a:srgbClr val="246BFE"/>
            </a:solidFill>
            <a:prstDash val="solid"/>
            <a:tailEnd type="triangle"/>
          </a:ln>
        </p:spPr>
      </p:sp>
      <p:sp>
        <p:nvSpPr>
          <p:cNvPr id="59" name="Shape 44"/>
          <p:cNvSpPr/>
          <p:nvPr/>
        </p:nvSpPr>
        <p:spPr>
          <a:xfrm>
            <a:off x="2834640" y="2020824"/>
            <a:ext cx="0" cy="603504"/>
          </a:xfrm>
          <a:prstGeom prst="line">
            <a:avLst/>
          </a:prstGeom>
          <a:noFill/>
          <a:ln w="19050">
            <a:solidFill>
              <a:srgbClr val="246BFE"/>
            </a:solidFill>
            <a:prstDash val="solid"/>
            <a:tailEnd type="triangle"/>
          </a:ln>
        </p:spPr>
      </p:sp>
      <p:sp>
        <p:nvSpPr>
          <p:cNvPr id="60" name="Shape 45"/>
          <p:cNvSpPr/>
          <p:nvPr/>
        </p:nvSpPr>
        <p:spPr>
          <a:xfrm>
            <a:off x="5742432" y="2020824"/>
            <a:ext cx="0" cy="603504"/>
          </a:xfrm>
          <a:prstGeom prst="line">
            <a:avLst/>
          </a:prstGeom>
          <a:noFill/>
          <a:ln w="19050">
            <a:solidFill>
              <a:srgbClr val="F2A900"/>
            </a:solidFill>
            <a:prstDash val="solid"/>
            <a:tailEnd type="triangle"/>
          </a:ln>
        </p:spPr>
      </p:sp>
      <p:sp>
        <p:nvSpPr>
          <p:cNvPr id="61" name="Shape 46"/>
          <p:cNvSpPr/>
          <p:nvPr/>
        </p:nvSpPr>
        <p:spPr>
          <a:xfrm>
            <a:off x="8595360" y="2020824"/>
            <a:ext cx="0" cy="603504"/>
          </a:xfrm>
          <a:prstGeom prst="line">
            <a:avLst/>
          </a:prstGeom>
          <a:noFill/>
          <a:ln w="19050">
            <a:solidFill>
              <a:srgbClr val="102A43"/>
            </a:solidFill>
            <a:prstDash val="solid"/>
            <a:tailEnd type="triangle"/>
          </a:ln>
        </p:spPr>
      </p:sp>
      <p:sp>
        <p:nvSpPr>
          <p:cNvPr id="62" name="Shape 47"/>
          <p:cNvSpPr/>
          <p:nvPr/>
        </p:nvSpPr>
        <p:spPr>
          <a:xfrm>
            <a:off x="10652760" y="4754880"/>
            <a:ext cx="0" cy="-2651760"/>
          </a:xfrm>
          <a:prstGeom prst="line">
            <a:avLst/>
          </a:prstGeom>
          <a:noFill/>
          <a:ln w="20320">
            <a:solidFill>
              <a:srgbClr val="705CF6"/>
            </a:solidFill>
            <a:prstDash val="solid"/>
            <a:tailEnd type="triangle"/>
          </a:ln>
        </p:spPr>
      </p:sp>
      <p:sp>
        <p:nvSpPr>
          <p:cNvPr id="63" name="Shape 48"/>
          <p:cNvSpPr/>
          <p:nvPr/>
        </p:nvSpPr>
        <p:spPr>
          <a:xfrm>
            <a:off x="4663440" y="3346704"/>
            <a:ext cx="0" cy="658368"/>
          </a:xfrm>
          <a:prstGeom prst="line">
            <a:avLst/>
          </a:prstGeom>
          <a:noFill/>
          <a:ln w="20320">
            <a:solidFill>
              <a:srgbClr val="F2A900"/>
            </a:solidFill>
            <a:prstDash val="solid"/>
            <a:tailEnd type="triangle"/>
          </a:ln>
        </p:spPr>
      </p:sp>
      <p:sp>
        <p:nvSpPr>
          <p:cNvPr id="64" name="Shape 49"/>
          <p:cNvSpPr/>
          <p:nvPr/>
        </p:nvSpPr>
        <p:spPr>
          <a:xfrm>
            <a:off x="9217152" y="3346704"/>
            <a:ext cx="0" cy="658368"/>
          </a:xfrm>
          <a:prstGeom prst="line">
            <a:avLst/>
          </a:prstGeom>
          <a:noFill/>
          <a:ln w="20320">
            <a:solidFill>
              <a:srgbClr val="102A43"/>
            </a:solidFill>
            <a:prstDash val="solid"/>
            <a:tailEnd type="triangle"/>
          </a:ln>
        </p:spPr>
      </p:sp>
      <p:sp>
        <p:nvSpPr>
          <p:cNvPr id="65" name="Shape 50"/>
          <p:cNvSpPr/>
          <p:nvPr/>
        </p:nvSpPr>
        <p:spPr>
          <a:xfrm>
            <a:off x="1261872" y="5413248"/>
            <a:ext cx="2359152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.316085033402077e+151" dist="4.85104960281788e+151" dir="2.7848946955924455e+178">
              <a:srgbClr val="000000">
                <a:alpha val="1.1999999999999996e+184"/>
              </a:srgbClr>
            </a:outerShdw>
          </a:effectLst>
        </p:spPr>
      </p:sp>
      <p:pic>
        <p:nvPicPr>
          <p:cNvPr id="66" name="Image 13" descr="preencoded.png">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371600" y="5550408"/>
            <a:ext cx="256032" cy="256032"/>
          </a:xfrm>
          <a:prstGeom prst="rect">
            <a:avLst/>
          </a:prstGeom>
        </p:spPr>
      </p:pic>
      <p:sp>
        <p:nvSpPr>
          <p:cNvPr id="67" name="Text 51"/>
          <p:cNvSpPr/>
          <p:nvPr/>
        </p:nvSpPr>
        <p:spPr>
          <a:xfrm>
            <a:off x="1709928" y="548640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b="1" dirty="0">
                <a:solidFill>
                  <a:srgbClr val="1D29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 Zones</a:t>
            </a:r>
            <a:endParaRPr lang="en-US" sz="830" dirty="0"/>
          </a:p>
          <a:p>
            <a:pPr indent="0" marL="0">
              <a:buNone/>
            </a:pPr>
            <a:r>
              <a:rPr lang="en-US" sz="830" b="1" dirty="0">
                <a:solidFill>
                  <a:srgbClr val="1D29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• Bronze • Silver • Gold/AIO</a:t>
            </a:r>
            <a:endParaRPr lang="en-US" sz="830" dirty="0"/>
          </a:p>
        </p:txBody>
      </p:sp>
      <p:sp>
        <p:nvSpPr>
          <p:cNvPr id="68" name="Shape 52"/>
          <p:cNvSpPr/>
          <p:nvPr/>
        </p:nvSpPr>
        <p:spPr>
          <a:xfrm>
            <a:off x="3977640" y="5413248"/>
            <a:ext cx="224028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.0561427992420638e+156" dist="6.160832995578708e+155" dir="1.6709368173554673e+183">
              <a:srgbClr val="000000">
                <a:alpha val="1.1999999999999995e+189"/>
              </a:srgbClr>
            </a:outerShdw>
          </a:effectLst>
        </p:spPr>
      </p:sp>
      <p:pic>
        <p:nvPicPr>
          <p:cNvPr id="69" name="Image 14" descr="preencoded.png">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4087368" y="5550408"/>
            <a:ext cx="256032" cy="256032"/>
          </a:xfrm>
          <a:prstGeom prst="rect">
            <a:avLst/>
          </a:prstGeom>
        </p:spPr>
      </p:pic>
      <p:sp>
        <p:nvSpPr>
          <p:cNvPr id="70" name="Text 53"/>
          <p:cNvSpPr/>
          <p:nvPr/>
        </p:nvSpPr>
        <p:spPr>
          <a:xfrm>
            <a:off x="4425696" y="5486400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b="1" dirty="0">
                <a:solidFill>
                  <a:srgbClr val="1D29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 / Metadata Store</a:t>
            </a:r>
            <a:endParaRPr lang="en-US" sz="830" dirty="0"/>
          </a:p>
          <a:p>
            <a:pPr indent="0" marL="0">
              <a:buNone/>
            </a:pPr>
            <a:r>
              <a:rPr lang="en-US" sz="830" b="1" dirty="0">
                <a:solidFill>
                  <a:srgbClr val="1D29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Schemas • mappings • rules</a:t>
            </a:r>
            <a:endParaRPr lang="en-US" sz="830" dirty="0"/>
          </a:p>
        </p:txBody>
      </p:sp>
      <p:sp>
        <p:nvSpPr>
          <p:cNvPr id="71" name="Shape 54"/>
          <p:cNvSpPr/>
          <p:nvPr/>
        </p:nvSpPr>
        <p:spPr>
          <a:xfrm>
            <a:off x="6565392" y="5413248"/>
            <a:ext cx="224028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.341301355037421e+160" dist="7.824257904384959e+159" dir="1.0025620904132804e+188">
              <a:srgbClr val="000000">
                <a:alpha val="1.1999999999999995e+194"/>
              </a:srgbClr>
            </a:outerShdw>
          </a:effectLst>
        </p:spPr>
      </p:sp>
      <p:pic>
        <p:nvPicPr>
          <p:cNvPr id="72" name="Image 15" descr="preencoded.png">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6675120" y="5550408"/>
            <a:ext cx="256032" cy="256032"/>
          </a:xfrm>
          <a:prstGeom prst="rect">
            <a:avLst/>
          </a:prstGeom>
        </p:spPr>
      </p:pic>
      <p:sp>
        <p:nvSpPr>
          <p:cNvPr id="73" name="Text 55"/>
          <p:cNvSpPr/>
          <p:nvPr/>
        </p:nvSpPr>
        <p:spPr>
          <a:xfrm>
            <a:off x="7013448" y="5486400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b="1" dirty="0">
                <a:solidFill>
                  <a:srgbClr val="1D29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&amp; Version Log</a:t>
            </a:r>
            <a:endParaRPr lang="en-US" sz="830" dirty="0"/>
          </a:p>
          <a:p>
            <a:pPr indent="0" marL="0">
              <a:buNone/>
            </a:pPr>
            <a:r>
              <a:rPr lang="en-US" sz="830" b="1" dirty="0">
                <a:solidFill>
                  <a:srgbClr val="1D29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Uploads • runs • approvals</a:t>
            </a:r>
            <a:endParaRPr lang="en-US" sz="830" dirty="0"/>
          </a:p>
        </p:txBody>
      </p:sp>
      <p:sp>
        <p:nvSpPr>
          <p:cNvPr id="74" name="Shape 56"/>
          <p:cNvSpPr/>
          <p:nvPr/>
        </p:nvSpPr>
        <p:spPr>
          <a:xfrm>
            <a:off x="9144000" y="5413248"/>
            <a:ext cx="201168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.7034527208975248e+164" dist="9.936807538568897e+163" dir="6.015372542479682e+192">
              <a:srgbClr val="000000">
                <a:alpha val="1.1999999999999994e+199"/>
              </a:srgbClr>
            </a:outerShdw>
          </a:effectLst>
        </p:spPr>
      </p:sp>
      <p:pic>
        <p:nvPicPr>
          <p:cNvPr id="75" name="Image 16" descr="preencoded.png">    </p:cNvPr>
          <p:cNvPicPr>
            <a:picLocks noChangeAspect="1"/>
          </p:cNvPicPr>
          <p:nvPr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9253728" y="5550408"/>
            <a:ext cx="256032" cy="256032"/>
          </a:xfrm>
          <a:prstGeom prst="rect">
            <a:avLst/>
          </a:prstGeom>
        </p:spPr>
      </p:pic>
      <p:sp>
        <p:nvSpPr>
          <p:cNvPr id="76" name="Text 57"/>
          <p:cNvSpPr/>
          <p:nvPr/>
        </p:nvSpPr>
        <p:spPr>
          <a:xfrm>
            <a:off x="9592056" y="5486400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b="1" dirty="0">
                <a:solidFill>
                  <a:srgbClr val="1D29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&amp; Governance</a:t>
            </a:r>
            <a:endParaRPr lang="en-US" sz="830" dirty="0"/>
          </a:p>
          <a:p>
            <a:pPr indent="0" marL="0">
              <a:buNone/>
            </a:pPr>
            <a:r>
              <a:rPr lang="en-US" sz="830" b="1" dirty="0">
                <a:solidFill>
                  <a:srgbClr val="1D29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RBAC • masking • retention</a:t>
            </a:r>
            <a:endParaRPr lang="en-US" sz="830" dirty="0"/>
          </a:p>
        </p:txBody>
      </p:sp>
      <p:sp>
        <p:nvSpPr>
          <p:cNvPr id="77" name="Shape 58"/>
          <p:cNvSpPr/>
          <p:nvPr/>
        </p:nvSpPr>
        <p:spPr>
          <a:xfrm>
            <a:off x="2148840" y="4754880"/>
            <a:ext cx="0" cy="576072"/>
          </a:xfrm>
          <a:prstGeom prst="line">
            <a:avLst/>
          </a:prstGeom>
          <a:noFill/>
          <a:ln w="15240">
            <a:solidFill>
              <a:srgbClr val="0FAE9B"/>
            </a:solidFill>
            <a:prstDash val="dash"/>
            <a:tailEnd type="triangle"/>
          </a:ln>
        </p:spPr>
      </p:sp>
      <p:sp>
        <p:nvSpPr>
          <p:cNvPr id="78" name="Shape 59"/>
          <p:cNvSpPr/>
          <p:nvPr/>
        </p:nvSpPr>
        <p:spPr>
          <a:xfrm>
            <a:off x="4434840" y="4754880"/>
            <a:ext cx="0" cy="576072"/>
          </a:xfrm>
          <a:prstGeom prst="line">
            <a:avLst/>
          </a:prstGeom>
          <a:noFill/>
          <a:ln w="15240">
            <a:solidFill>
              <a:srgbClr val="0FAE9B"/>
            </a:solidFill>
            <a:prstDash val="dash"/>
            <a:tailEnd type="triangle"/>
          </a:ln>
        </p:spPr>
      </p:sp>
      <p:sp>
        <p:nvSpPr>
          <p:cNvPr id="79" name="Shape 60"/>
          <p:cNvSpPr/>
          <p:nvPr/>
        </p:nvSpPr>
        <p:spPr>
          <a:xfrm>
            <a:off x="6720840" y="4754880"/>
            <a:ext cx="0" cy="576072"/>
          </a:xfrm>
          <a:prstGeom prst="line">
            <a:avLst/>
          </a:prstGeom>
          <a:noFill/>
          <a:ln w="15240">
            <a:solidFill>
              <a:srgbClr val="0FAE9B"/>
            </a:solidFill>
            <a:prstDash val="dash"/>
            <a:tailEnd type="triangle"/>
          </a:ln>
        </p:spPr>
      </p:sp>
      <p:sp>
        <p:nvSpPr>
          <p:cNvPr id="80" name="Shape 61"/>
          <p:cNvSpPr/>
          <p:nvPr/>
        </p:nvSpPr>
        <p:spPr>
          <a:xfrm>
            <a:off x="8823960" y="4754880"/>
            <a:ext cx="0" cy="576072"/>
          </a:xfrm>
          <a:prstGeom prst="line">
            <a:avLst/>
          </a:prstGeom>
          <a:noFill/>
          <a:ln w="15240">
            <a:solidFill>
              <a:srgbClr val="0FAE9B"/>
            </a:solidFill>
            <a:prstDash val="dash"/>
            <a:tailEnd type="triangle"/>
          </a:ln>
        </p:spPr>
      </p:sp>
      <p:sp>
        <p:nvSpPr>
          <p:cNvPr id="81" name="Shape 62"/>
          <p:cNvSpPr/>
          <p:nvPr/>
        </p:nvSpPr>
        <p:spPr>
          <a:xfrm>
            <a:off x="10698480" y="4754880"/>
            <a:ext cx="0" cy="576072"/>
          </a:xfrm>
          <a:prstGeom prst="line">
            <a:avLst/>
          </a:prstGeom>
          <a:noFill/>
          <a:ln w="15240">
            <a:solidFill>
              <a:srgbClr val="0FAE9B"/>
            </a:solidFill>
            <a:prstDash val="dash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83096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7A879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46888"/>
            <a:ext cx="88696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Decisions to Confirm Before Coding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530352" y="749808"/>
            <a:ext cx="658368" cy="50292"/>
          </a:xfrm>
          <a:prstGeom prst="rect">
            <a:avLst/>
          </a:prstGeom>
          <a:solidFill>
            <a:srgbClr val="EF5B5B"/>
          </a:solidFill>
          <a:ln w="12700">
            <a:solidFill>
              <a:srgbClr val="EF5B5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98448" y="658368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2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short decision list for the CTO meeting — resolve these items before committing to implementation.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718304" y="2450592"/>
            <a:ext cx="2743200" cy="2743200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  <a:effectLst>
            <a:outerShdw sx="100000" sy="100000" kx="0" ky="0" algn="bl" rotWithShape="0" blurRad="2.1633849555398564e+168" dist="1.2619745573982499e+168" dir="3.6092235254878095e+197">
              <a:srgbClr val="000000">
                <a:alpha val="1.1999999999999994e+204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78424" y="2944368"/>
            <a:ext cx="822960" cy="8229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120640" y="3886200"/>
            <a:ext cx="19385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TO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&amp; BUILD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03504" y="1316736"/>
            <a:ext cx="2971800" cy="987552"/>
          </a:xfrm>
          <a:prstGeom prst="roundRect">
            <a:avLst>
              <a:gd name="adj" fmla="val 648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2.7474988935356176e+172" dist="1.6027076878957775e+172" dir="2.1655341152926858e+202">
              <a:srgbClr val="000000">
                <a:alpha val="1.1999999999999994e+209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31520" y="1499616"/>
            <a:ext cx="585216" cy="585216"/>
          </a:xfrm>
          <a:prstGeom prst="roundRect">
            <a:avLst>
              <a:gd name="adj" fmla="val 14063"/>
            </a:avLst>
          </a:prstGeom>
          <a:solidFill>
            <a:srgbClr val="D6A800">
              <a:alpha val="13000"/>
            </a:srgbClr>
          </a:solidFill>
          <a:ln w="12700">
            <a:solidFill>
              <a:srgbClr val="D6A800">
                <a:alpha val="0"/>
              </a:srgbClr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9536" y="1627632"/>
            <a:ext cx="329184" cy="32918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44752" y="1481328"/>
            <a:ext cx="2002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Canonical AIO contract</a:t>
            </a:r>
            <a:endParaRPr lang="en-US" sz="1120" dirty="0"/>
          </a:p>
        </p:txBody>
      </p:sp>
      <p:sp>
        <p:nvSpPr>
          <p:cNvPr id="12" name="Text 8"/>
          <p:cNvSpPr/>
          <p:nvPr/>
        </p:nvSpPr>
        <p:spPr>
          <a:xfrm>
            <a:off x="1444752" y="1773936"/>
            <a:ext cx="20025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262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 columns, types, mandatory fields and row grain.</a:t>
            </a:r>
            <a:endParaRPr lang="en-US" sz="920" dirty="0"/>
          </a:p>
        </p:txBody>
      </p:sp>
      <p:sp>
        <p:nvSpPr>
          <p:cNvPr id="13" name="Shape 9"/>
          <p:cNvSpPr/>
          <p:nvPr/>
        </p:nvSpPr>
        <p:spPr>
          <a:xfrm>
            <a:off x="603504" y="2788920"/>
            <a:ext cx="2971800" cy="987552"/>
          </a:xfrm>
          <a:prstGeom prst="roundRect">
            <a:avLst>
              <a:gd name="adj" fmla="val 648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3.489323594790234e+176" dist="2.0354387636276373e+176" dir="1.2993204691756116e+207">
              <a:srgbClr val="000000">
                <a:alpha val="1.1999999999999993e+214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31520" y="2971800"/>
            <a:ext cx="585216" cy="585216"/>
          </a:xfrm>
          <a:prstGeom prst="roundRect">
            <a:avLst>
              <a:gd name="adj" fmla="val 14063"/>
            </a:avLst>
          </a:prstGeom>
          <a:solidFill>
            <a:srgbClr val="B87333">
              <a:alpha val="13000"/>
            </a:srgbClr>
          </a:solidFill>
          <a:ln w="12700">
            <a:solidFill>
              <a:srgbClr val="B87333">
                <a:alpha val="0"/>
              </a:srgbClr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59536" y="3099816"/>
            <a:ext cx="329184" cy="32918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444752" y="2953512"/>
            <a:ext cx="2002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Bronze / Silver boundary</a:t>
            </a:r>
            <a:endParaRPr lang="en-US" sz="1120" dirty="0"/>
          </a:p>
        </p:txBody>
      </p:sp>
      <p:sp>
        <p:nvSpPr>
          <p:cNvPr id="17" name="Text 12"/>
          <p:cNvSpPr/>
          <p:nvPr/>
        </p:nvSpPr>
        <p:spPr>
          <a:xfrm>
            <a:off x="1444752" y="3246120"/>
            <a:ext cx="20025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262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do mapping, type conversion and deduplication occur?</a:t>
            </a:r>
            <a:endParaRPr lang="en-US" sz="920" dirty="0"/>
          </a:p>
        </p:txBody>
      </p:sp>
      <p:sp>
        <p:nvSpPr>
          <p:cNvPr id="18" name="Shape 13"/>
          <p:cNvSpPr/>
          <p:nvPr/>
        </p:nvSpPr>
        <p:spPr>
          <a:xfrm>
            <a:off x="603504" y="4261104"/>
            <a:ext cx="2971800" cy="987552"/>
          </a:xfrm>
          <a:prstGeom prst="roundRect">
            <a:avLst>
              <a:gd name="adj" fmla="val 648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4.431440965383597e+180" dist="2.5850072298070996e+180" dir="7.795922815053669e+211">
              <a:srgbClr val="000000">
                <a:alpha val="1.1999999999999994e+219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731520" y="4443984"/>
            <a:ext cx="585216" cy="585216"/>
          </a:xfrm>
          <a:prstGeom prst="roundRect">
            <a:avLst>
              <a:gd name="adj" fmla="val 14063"/>
            </a:avLst>
          </a:prstGeom>
          <a:solidFill>
            <a:srgbClr val="D93B4A">
              <a:alpha val="13000"/>
            </a:srgbClr>
          </a:solidFill>
          <a:ln w="12700">
            <a:solidFill>
              <a:srgbClr val="D93B4A">
                <a:alpha val="0"/>
              </a:srgbClr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59536" y="4572000"/>
            <a:ext cx="329184" cy="32918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444752" y="4425696"/>
            <a:ext cx="2002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DQ policy</a:t>
            </a:r>
            <a:endParaRPr lang="en-US" sz="1120" dirty="0"/>
          </a:p>
        </p:txBody>
      </p:sp>
      <p:sp>
        <p:nvSpPr>
          <p:cNvPr id="22" name="Text 16"/>
          <p:cNvSpPr/>
          <p:nvPr/>
        </p:nvSpPr>
        <p:spPr>
          <a:xfrm>
            <a:off x="1444752" y="4718304"/>
            <a:ext cx="20025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262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rules block the run and which are warnings?</a:t>
            </a:r>
            <a:endParaRPr lang="en-US" sz="920" dirty="0"/>
          </a:p>
        </p:txBody>
      </p:sp>
      <p:sp>
        <p:nvSpPr>
          <p:cNvPr id="23" name="Shape 17"/>
          <p:cNvSpPr/>
          <p:nvPr/>
        </p:nvSpPr>
        <p:spPr>
          <a:xfrm>
            <a:off x="8613648" y="1316736"/>
            <a:ext cx="2971800" cy="987552"/>
          </a:xfrm>
          <a:prstGeom prst="roundRect">
            <a:avLst>
              <a:gd name="adj" fmla="val 648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5.627930026037168e+184" dist="3.2829591818550166e+184" dir="4.677553689032201e+216">
              <a:srgbClr val="000000">
                <a:alpha val="1.1999999999999994e+224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8741664" y="1499616"/>
            <a:ext cx="585216" cy="585216"/>
          </a:xfrm>
          <a:prstGeom prst="roundRect">
            <a:avLst>
              <a:gd name="adj" fmla="val 14063"/>
            </a:avLst>
          </a:prstGeom>
          <a:solidFill>
            <a:srgbClr val="F2A900">
              <a:alpha val="13000"/>
            </a:srgbClr>
          </a:solidFill>
          <a:ln w="12700">
            <a:solidFill>
              <a:srgbClr val="F2A900">
                <a:alpha val="0"/>
              </a:srgbClr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869680" y="1627632"/>
            <a:ext cx="329184" cy="32918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9454896" y="1481328"/>
            <a:ext cx="2002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Approval scope &amp; owners</a:t>
            </a:r>
            <a:endParaRPr lang="en-US" sz="1120" dirty="0"/>
          </a:p>
        </p:txBody>
      </p:sp>
      <p:sp>
        <p:nvSpPr>
          <p:cNvPr id="27" name="Text 20"/>
          <p:cNvSpPr/>
          <p:nvPr/>
        </p:nvSpPr>
        <p:spPr>
          <a:xfrm>
            <a:off x="9454896" y="1773936"/>
            <a:ext cx="20025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262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approves what evidence, within what SLA?</a:t>
            </a:r>
            <a:endParaRPr lang="en-US" sz="920" dirty="0"/>
          </a:p>
        </p:txBody>
      </p:sp>
      <p:sp>
        <p:nvSpPr>
          <p:cNvPr id="28" name="Shape 21"/>
          <p:cNvSpPr/>
          <p:nvPr/>
        </p:nvSpPr>
        <p:spPr>
          <a:xfrm>
            <a:off x="8613648" y="2788920"/>
            <a:ext cx="2971800" cy="987552"/>
          </a:xfrm>
          <a:prstGeom prst="roundRect">
            <a:avLst>
              <a:gd name="adj" fmla="val 648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7.147471133067203e+188" dist="4.169358160955871e+188" dir="2.806532213419321e+221">
              <a:srgbClr val="000000">
                <a:alpha val="1.1999999999999994e+229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8741664" y="2971800"/>
            <a:ext cx="585216" cy="585216"/>
          </a:xfrm>
          <a:prstGeom prst="roundRect">
            <a:avLst>
              <a:gd name="adj" fmla="val 14063"/>
            </a:avLst>
          </a:prstGeom>
          <a:solidFill>
            <a:srgbClr val="705CF6">
              <a:alpha val="13000"/>
            </a:srgbClr>
          </a:solidFill>
          <a:ln w="12700">
            <a:solidFill>
              <a:srgbClr val="705CF6">
                <a:alpha val="0"/>
              </a:srgbClr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869680" y="3099816"/>
            <a:ext cx="329184" cy="329184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9454896" y="2953512"/>
            <a:ext cx="2002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Rejection &amp; reprocessing</a:t>
            </a:r>
            <a:endParaRPr lang="en-US" sz="1120" dirty="0"/>
          </a:p>
        </p:txBody>
      </p:sp>
      <p:sp>
        <p:nvSpPr>
          <p:cNvPr id="32" name="Text 24"/>
          <p:cNvSpPr/>
          <p:nvPr/>
        </p:nvSpPr>
        <p:spPr>
          <a:xfrm>
            <a:off x="9454896" y="3246120"/>
            <a:ext cx="20025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262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restarts, what is versioned and what is retained?</a:t>
            </a:r>
            <a:endParaRPr lang="en-US" sz="920" dirty="0"/>
          </a:p>
        </p:txBody>
      </p:sp>
      <p:sp>
        <p:nvSpPr>
          <p:cNvPr id="33" name="Shape 25"/>
          <p:cNvSpPr/>
          <p:nvPr/>
        </p:nvSpPr>
        <p:spPr>
          <a:xfrm>
            <a:off x="8613648" y="4261104"/>
            <a:ext cx="2971800" cy="987552"/>
          </a:xfrm>
          <a:prstGeom prst="roundRect">
            <a:avLst>
              <a:gd name="adj" fmla="val 648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9.077288338995348e+192" dist="5.295084864413956e+192" dir="1.6839193280515925e+226">
              <a:srgbClr val="000000">
                <a:alpha val="1.1999999999999994e+234"/>
              </a:srgbClr>
            </a:outerShdw>
          </a:effectLst>
        </p:spPr>
      </p:sp>
      <p:sp>
        <p:nvSpPr>
          <p:cNvPr id="34" name="Shape 26"/>
          <p:cNvSpPr/>
          <p:nvPr/>
        </p:nvSpPr>
        <p:spPr>
          <a:xfrm>
            <a:off x="8741664" y="4443984"/>
            <a:ext cx="585216" cy="585216"/>
          </a:xfrm>
          <a:prstGeom prst="roundRect">
            <a:avLst>
              <a:gd name="adj" fmla="val 14063"/>
            </a:avLst>
          </a:prstGeom>
          <a:solidFill>
            <a:srgbClr val="2BAE66">
              <a:alpha val="13000"/>
            </a:srgbClr>
          </a:solidFill>
          <a:ln w="12700">
            <a:solidFill>
              <a:srgbClr val="2BAE66">
                <a:alpha val="0"/>
              </a:srgbClr>
            </a:solidFill>
            <a:prstDash val="solid"/>
          </a:ln>
        </p:spPr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869680" y="4572000"/>
            <a:ext cx="329184" cy="329184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9454896" y="4425696"/>
            <a:ext cx="2002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Downstream handoff</a:t>
            </a:r>
            <a:endParaRPr lang="en-US" sz="1120" dirty="0"/>
          </a:p>
        </p:txBody>
      </p:sp>
      <p:sp>
        <p:nvSpPr>
          <p:cNvPr id="37" name="Text 28"/>
          <p:cNvSpPr/>
          <p:nvPr/>
        </p:nvSpPr>
        <p:spPr>
          <a:xfrm>
            <a:off x="9454896" y="4718304"/>
            <a:ext cx="20025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262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are Model, LCA and Cockpit notified and granted access?</a:t>
            </a:r>
            <a:endParaRPr lang="en-US" sz="920" dirty="0"/>
          </a:p>
        </p:txBody>
      </p:sp>
      <p:sp>
        <p:nvSpPr>
          <p:cNvPr id="38" name="Shape 29"/>
          <p:cNvSpPr/>
          <p:nvPr/>
        </p:nvSpPr>
        <p:spPr>
          <a:xfrm>
            <a:off x="3886200" y="1078992"/>
            <a:ext cx="4416552" cy="987552"/>
          </a:xfrm>
          <a:prstGeom prst="roundRect">
            <a:avLst>
              <a:gd name="adj" fmla="val 648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.1528156190524093e+197" dist="6.724757777805724e+196" dir="1.0103515968309554e+231">
              <a:srgbClr val="000000">
                <a:alpha val="1.1999999999999992e+239"/>
              </a:srgbClr>
            </a:outerShdw>
          </a:effectLst>
        </p:spPr>
      </p:sp>
      <p:sp>
        <p:nvSpPr>
          <p:cNvPr id="39" name="Shape 30"/>
          <p:cNvSpPr/>
          <p:nvPr/>
        </p:nvSpPr>
        <p:spPr>
          <a:xfrm>
            <a:off x="4014216" y="1261872"/>
            <a:ext cx="585216" cy="585216"/>
          </a:xfrm>
          <a:prstGeom prst="roundRect">
            <a:avLst>
              <a:gd name="adj" fmla="val 14063"/>
            </a:avLst>
          </a:prstGeom>
          <a:solidFill>
            <a:srgbClr val="246BFE">
              <a:alpha val="13000"/>
            </a:srgbClr>
          </a:solidFill>
          <a:ln w="12700">
            <a:solidFill>
              <a:srgbClr val="246BFE">
                <a:alpha val="0"/>
              </a:srgbClr>
            </a:solidFill>
            <a:prstDash val="solid"/>
          </a:ln>
        </p:spPr>
      </p:sp>
      <p:pic>
        <p:nvPicPr>
          <p:cNvPr id="40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142232" y="1389888"/>
            <a:ext cx="329184" cy="329184"/>
          </a:xfrm>
          <a:prstGeom prst="rect">
            <a:avLst/>
          </a:prstGeom>
        </p:spPr>
      </p:pic>
      <p:sp>
        <p:nvSpPr>
          <p:cNvPr id="41" name="Text 31"/>
          <p:cNvSpPr/>
          <p:nvPr/>
        </p:nvSpPr>
        <p:spPr>
          <a:xfrm>
            <a:off x="4727448" y="1243584"/>
            <a:ext cx="34472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Platform choices</a:t>
            </a:r>
            <a:endParaRPr lang="en-US" sz="1120" dirty="0"/>
          </a:p>
        </p:txBody>
      </p:sp>
      <p:sp>
        <p:nvSpPr>
          <p:cNvPr id="42" name="Text 32"/>
          <p:cNvSpPr/>
          <p:nvPr/>
        </p:nvSpPr>
        <p:spPr>
          <a:xfrm>
            <a:off x="4727448" y="1536192"/>
            <a:ext cx="34472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262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services, orchestrator, metadata store, UI, CI/CD and monitoring.</a:t>
            </a:r>
            <a:endParaRPr lang="en-US" sz="920" dirty="0"/>
          </a:p>
        </p:txBody>
      </p:sp>
      <p:sp>
        <p:nvSpPr>
          <p:cNvPr id="43" name="Shape 33"/>
          <p:cNvSpPr/>
          <p:nvPr/>
        </p:nvSpPr>
        <p:spPr>
          <a:xfrm>
            <a:off x="3886200" y="5376672"/>
            <a:ext cx="4416552" cy="987552"/>
          </a:xfrm>
          <a:prstGeom prst="roundRect">
            <a:avLst>
              <a:gd name="adj" fmla="val 648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.4640758361965598e+201" dist="8.54044237781327e+200" dir="6.062109580985733e+235">
              <a:srgbClr val="000000">
                <a:alpha val="1.1999999999999992e+244"/>
              </a:srgbClr>
            </a:outerShdw>
          </a:effectLst>
        </p:spPr>
      </p:sp>
      <p:sp>
        <p:nvSpPr>
          <p:cNvPr id="44" name="Shape 34"/>
          <p:cNvSpPr/>
          <p:nvPr/>
        </p:nvSpPr>
        <p:spPr>
          <a:xfrm>
            <a:off x="4014216" y="5559552"/>
            <a:ext cx="585216" cy="585216"/>
          </a:xfrm>
          <a:prstGeom prst="roundRect">
            <a:avLst>
              <a:gd name="adj" fmla="val 14063"/>
            </a:avLst>
          </a:prstGeom>
          <a:solidFill>
            <a:srgbClr val="102A43">
              <a:alpha val="13000"/>
            </a:srgbClr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pic>
        <p:nvPicPr>
          <p:cNvPr id="45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142232" y="5687568"/>
            <a:ext cx="329184" cy="329184"/>
          </a:xfrm>
          <a:prstGeom prst="rect">
            <a:avLst/>
          </a:prstGeom>
        </p:spPr>
      </p:pic>
      <p:sp>
        <p:nvSpPr>
          <p:cNvPr id="46" name="Text 35"/>
          <p:cNvSpPr/>
          <p:nvPr/>
        </p:nvSpPr>
        <p:spPr>
          <a:xfrm>
            <a:off x="4727448" y="5541264"/>
            <a:ext cx="34472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Governance requirements</a:t>
            </a:r>
            <a:endParaRPr lang="en-US" sz="1120" dirty="0"/>
          </a:p>
        </p:txBody>
      </p:sp>
      <p:sp>
        <p:nvSpPr>
          <p:cNvPr id="47" name="Text 36"/>
          <p:cNvSpPr/>
          <p:nvPr/>
        </p:nvSpPr>
        <p:spPr>
          <a:xfrm>
            <a:off x="4727448" y="5833872"/>
            <a:ext cx="34472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262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RBAC, masking, retention, encryption, audit and environment separation.</a:t>
            </a:r>
            <a:endParaRPr lang="en-US" sz="920" dirty="0"/>
          </a:p>
        </p:txBody>
      </p:sp>
      <p:sp>
        <p:nvSpPr>
          <p:cNvPr id="48" name="Shape 37"/>
          <p:cNvSpPr/>
          <p:nvPr/>
        </p:nvSpPr>
        <p:spPr>
          <a:xfrm>
            <a:off x="3575304" y="2148840"/>
            <a:ext cx="1143000" cy="758952"/>
          </a:xfrm>
          <a:prstGeom prst="line">
            <a:avLst/>
          </a:prstGeom>
          <a:noFill/>
          <a:ln w="16510">
            <a:solidFill>
              <a:srgbClr val="D9E2EC"/>
            </a:solidFill>
            <a:prstDash val="dash"/>
          </a:ln>
        </p:spPr>
      </p:sp>
      <p:sp>
        <p:nvSpPr>
          <p:cNvPr id="49" name="Shape 38"/>
          <p:cNvSpPr/>
          <p:nvPr/>
        </p:nvSpPr>
        <p:spPr>
          <a:xfrm>
            <a:off x="3575304" y="3282696"/>
            <a:ext cx="1143000" cy="274320"/>
          </a:xfrm>
          <a:prstGeom prst="line">
            <a:avLst/>
          </a:prstGeom>
          <a:noFill/>
          <a:ln w="16510">
            <a:solidFill>
              <a:srgbClr val="D9E2EC"/>
            </a:solidFill>
            <a:prstDash val="dash"/>
          </a:ln>
        </p:spPr>
      </p:sp>
      <p:sp>
        <p:nvSpPr>
          <p:cNvPr id="50" name="Shape 39"/>
          <p:cNvSpPr/>
          <p:nvPr/>
        </p:nvSpPr>
        <p:spPr>
          <a:xfrm>
            <a:off x="3575304" y="4754880"/>
            <a:ext cx="1143000" cy="-109728"/>
          </a:xfrm>
          <a:prstGeom prst="line">
            <a:avLst/>
          </a:prstGeom>
          <a:noFill/>
          <a:ln w="16510">
            <a:solidFill>
              <a:srgbClr val="D9E2EC"/>
            </a:solidFill>
            <a:prstDash val="dash"/>
          </a:ln>
        </p:spPr>
      </p:sp>
      <p:sp>
        <p:nvSpPr>
          <p:cNvPr id="51" name="Shape 40"/>
          <p:cNvSpPr/>
          <p:nvPr/>
        </p:nvSpPr>
        <p:spPr>
          <a:xfrm>
            <a:off x="7461504" y="2907792"/>
            <a:ext cx="1152144" cy="-758952"/>
          </a:xfrm>
          <a:prstGeom prst="line">
            <a:avLst/>
          </a:prstGeom>
          <a:noFill/>
          <a:ln w="16510">
            <a:solidFill>
              <a:srgbClr val="D9E2EC"/>
            </a:solidFill>
            <a:prstDash val="dash"/>
          </a:ln>
        </p:spPr>
      </p:sp>
      <p:sp>
        <p:nvSpPr>
          <p:cNvPr id="52" name="Shape 41"/>
          <p:cNvSpPr/>
          <p:nvPr/>
        </p:nvSpPr>
        <p:spPr>
          <a:xfrm>
            <a:off x="7461504" y="3557016"/>
            <a:ext cx="1152144" cy="-274320"/>
          </a:xfrm>
          <a:prstGeom prst="line">
            <a:avLst/>
          </a:prstGeom>
          <a:noFill/>
          <a:ln w="16510">
            <a:solidFill>
              <a:srgbClr val="D9E2EC"/>
            </a:solidFill>
            <a:prstDash val="dash"/>
          </a:ln>
        </p:spPr>
      </p:sp>
      <p:sp>
        <p:nvSpPr>
          <p:cNvPr id="53" name="Shape 42"/>
          <p:cNvSpPr/>
          <p:nvPr/>
        </p:nvSpPr>
        <p:spPr>
          <a:xfrm>
            <a:off x="7461504" y="4645152"/>
            <a:ext cx="1152144" cy="109728"/>
          </a:xfrm>
          <a:prstGeom prst="line">
            <a:avLst/>
          </a:prstGeom>
          <a:noFill/>
          <a:ln w="16510">
            <a:solidFill>
              <a:srgbClr val="D9E2EC"/>
            </a:solidFill>
            <a:prstDash val="dash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83096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7A879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DataPOEM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LCA Paid Media Data Automation — Architecture &amp; Approval Flow</dc:title>
  <dc:subject>LCA Paid Media Data Automation Architecture</dc:subject>
  <dc:creator>OpenAI</dc:creator>
  <cp:lastModifiedBy>OpenAI</cp:lastModifiedBy>
  <cp:revision>1</cp:revision>
  <dcterms:created xsi:type="dcterms:W3CDTF">2026-08-07T11:03:20Z</dcterms:created>
  <dcterms:modified xsi:type="dcterms:W3CDTF">2026-08-07T11:03:20Z</dcterms:modified>
</cp:coreProperties>
</file>