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8" r:id="rId2"/>
    <p:sldId id="259" r:id="rId3"/>
    <p:sldId id="261" r:id="rId4"/>
    <p:sldId id="260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6AF5FB-8717-4C4C-9D65-857A1E4216DC}" v="70" dt="2026-08-07T08:37:43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6"/>
  </p:normalViewPr>
  <p:slideViewPr>
    <p:cSldViewPr snapToGrid="0">
      <p:cViewPr varScale="1">
        <p:scale>
          <a:sx n="108" d="100"/>
          <a:sy n="108" d="100"/>
        </p:scale>
        <p:origin x="7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AA1BC1-AC2B-4C20-9847-21A620466DE0}" type="datetimeFigureOut">
              <a:t>8/8/26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CCA66-BCBD-4021-A9A0-6F64F45CF8D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60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DE5E5-B6EF-7618-901C-969079D8F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2DBC46-263E-0771-B1D6-6C29913DA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D3EEE2-AE9B-0C80-B3BA-20BAD9D38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40511-89C7-18FD-9A14-E2685FB674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990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64F08-4DCD-9DF1-57ED-FE0CF4896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EB59AB-3C93-D4B3-B067-006A28440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6BA8AE-AFC9-4E1B-2403-F90D7A9755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587C5-2939-C36C-4497-A7F68FA7AC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1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E26A4-A110-3487-6D33-A7BF0B2D2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D0B369-9D0A-D403-2126-994EBEFE4A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811A12-80A7-C27F-21C7-DD427EBF8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46942-36D3-9B1D-653E-5392331A54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740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latin typeface="Rubik" pitchFamily="2" charset="-79"/>
                <a:ea typeface="Calibri" pitchFamily="34" charset="-122"/>
                <a:cs typeface="Rubik" pitchFamily="2" charset="-79"/>
              </a:rPr>
              <a:t>Data Automation</a:t>
            </a:r>
            <a:endParaRPr lang="en-US" sz="1100">
              <a:latin typeface="Rubik" pitchFamily="2" charset="-79"/>
              <a:cs typeface="Rubik" pitchFamily="2" charset="-79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latin typeface="Rubik" pitchFamily="2" charset="-79"/>
                <a:cs typeface="Rubik" pitchFamily="2" charset="-79"/>
              </a:rPr>
              <a:t>Paid Media</a:t>
            </a:r>
            <a:endParaRPr lang="en-US" sz="3000">
              <a:latin typeface="Rubik" pitchFamily="2" charset="-79"/>
              <a:cs typeface="Rubik" pitchFamily="2" charset="-79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675120" y="1380744"/>
            <a:ext cx="4937760" cy="2868929"/>
          </a:xfrm>
          <a:prstGeom prst="rect">
            <a:avLst/>
          </a:prstGeom>
          <a:solidFill>
            <a:srgbClr val="FFC000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>
              <a:latin typeface="Rubik" pitchFamily="2" charset="-79"/>
              <a:cs typeface="Rubik" pitchFamily="2" charset="-79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995160" y="2011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>
              <a:latin typeface="Rubik" pitchFamily="2" charset="-79"/>
              <a:cs typeface="Rubik" pitchFamily="2" charset="-79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766560" y="1143470"/>
            <a:ext cx="4754880" cy="3106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800"/>
              </a:spcAft>
              <a:buSzPct val="100000"/>
            </a:pPr>
            <a:r>
              <a:rPr lang="en-US" sz="1400" b="1">
                <a:latin typeface="Rubik" pitchFamily="2" charset="-79"/>
                <a:ea typeface="Calibri" pitchFamily="34" charset="-122"/>
                <a:cs typeface="Rubik" pitchFamily="2" charset="-79"/>
              </a:rPr>
              <a:t>What it covers:</a:t>
            </a:r>
            <a:endParaRPr lang="en-US" sz="1400" b="1">
              <a:latin typeface="Rubik" pitchFamily="2" charset="-79"/>
              <a:cs typeface="Rubik" pitchFamily="2" charset="-79"/>
            </a:endParaRPr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>
                <a:latin typeface="Rubik" pitchFamily="2" charset="-79"/>
                <a:ea typeface="Calibri" pitchFamily="34" charset="-122"/>
                <a:cs typeface="Rubik" pitchFamily="2" charset="-79"/>
              </a:rPr>
              <a:t>Paid media intake and data validation of any organization</a:t>
            </a:r>
            <a:endParaRPr lang="en-US" sz="1400">
              <a:latin typeface="Rubik" pitchFamily="2" charset="-79"/>
              <a:cs typeface="Rubik" pitchFamily="2" charset="-79"/>
            </a:endParaRPr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>
                <a:latin typeface="Rubik" pitchFamily="2" charset="-79"/>
                <a:cs typeface="Rubik" pitchFamily="2" charset="-79"/>
              </a:rPr>
              <a:t>Quality checks</a:t>
            </a:r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>
                <a:latin typeface="Rubik" pitchFamily="2" charset="-79"/>
                <a:cs typeface="Rubik" pitchFamily="2" charset="-79"/>
              </a:rPr>
              <a:t>Paid media data summary creation</a:t>
            </a:r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>
                <a:latin typeface="Rubik" pitchFamily="2" charset="-79"/>
                <a:cs typeface="Rubik" pitchFamily="2" charset="-79"/>
              </a:rPr>
              <a:t>All in one format creation</a:t>
            </a:r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>
                <a:latin typeface="Rubik" pitchFamily="2" charset="-79"/>
                <a:cs typeface="Rubik" pitchFamily="2" charset="-79"/>
              </a:rPr>
              <a:t>Approval of all in one format</a:t>
            </a:r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>
                <a:latin typeface="Rubik" pitchFamily="2" charset="-79"/>
                <a:cs typeface="Rubik" pitchFamily="2" charset="-79"/>
              </a:rPr>
              <a:t>Input to cockpit post approval</a:t>
            </a:r>
          </a:p>
        </p:txBody>
      </p:sp>
      <p:sp>
        <p:nvSpPr>
          <p:cNvPr id="16" name="Text 14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latin typeface="Rubik" pitchFamily="2" charset="-79"/>
                <a:ea typeface="Calibri" pitchFamily="34" charset="-122"/>
                <a:cs typeface="Rubik" pitchFamily="2" charset="-79"/>
              </a:rPr>
              <a:t>3 / 11</a:t>
            </a:r>
            <a:endParaRPr lang="en-US" sz="900">
              <a:latin typeface="Rubik" pitchFamily="2" charset="-79"/>
              <a:cs typeface="Rubik" pitchFamily="2" charset="-79"/>
            </a:endParaRPr>
          </a:p>
        </p:txBody>
      </p:sp>
      <p:sp>
        <p:nvSpPr>
          <p:cNvPr id="17" name="Text 26">
            <a:extLst>
              <a:ext uri="{FF2B5EF4-FFF2-40B4-BE49-F238E27FC236}">
                <a16:creationId xmlns:a16="http://schemas.microsoft.com/office/drawing/2014/main" id="{DC2C50AB-EEDD-CF38-564F-9E615BBD9839}"/>
              </a:ext>
            </a:extLst>
          </p:cNvPr>
          <p:cNvSpPr/>
          <p:nvPr/>
        </p:nvSpPr>
        <p:spPr>
          <a:xfrm>
            <a:off x="4876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595959"/>
                </a:solidFill>
                <a:latin typeface="Rubik" pitchFamily="2" charset="-79"/>
                <a:ea typeface="+mn-lt"/>
                <a:cs typeface="Rubik" pitchFamily="2" charset="-79"/>
              </a:rPr>
              <a:t>Strictly confidential. Proprietary work of DATA POEM</a:t>
            </a:r>
            <a:endParaRPr lang="en-US" sz="900">
              <a:solidFill>
                <a:srgbClr val="595959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1B5A4E09-1E65-ACBA-BD79-611EC30E2092}"/>
              </a:ext>
            </a:extLst>
          </p:cNvPr>
          <p:cNvSpPr/>
          <p:nvPr/>
        </p:nvSpPr>
        <p:spPr>
          <a:xfrm>
            <a:off x="457200" y="2853370"/>
            <a:ext cx="5928360" cy="2318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AutoNum type="arabicParenBoth"/>
            </a:pPr>
            <a:r>
              <a:rPr lang="en-US" sz="1400">
                <a:ea typeface="Calibri" pitchFamily="34" charset="-122"/>
                <a:cs typeface="Rubik" pitchFamily="2" charset="-79"/>
              </a:rPr>
              <a:t>Centralized data raw data repository – S3</a:t>
            </a:r>
          </a:p>
          <a:p>
            <a:pPr marL="342900" indent="-342900">
              <a:spcAft>
                <a:spcPts val="600"/>
              </a:spcAft>
              <a:buAutoNum type="arabicParenBoth"/>
            </a:pPr>
            <a:r>
              <a:rPr lang="en-US" sz="1400">
                <a:ea typeface="Calibri" pitchFamily="34" charset="-122"/>
                <a:cs typeface="Rubik" pitchFamily="2" charset="-79"/>
              </a:rPr>
              <a:t>Defined folder structure for each organization</a:t>
            </a:r>
          </a:p>
          <a:p>
            <a:pPr marL="342900" indent="-342900">
              <a:spcAft>
                <a:spcPts val="600"/>
              </a:spcAft>
              <a:buAutoNum type="arabicParenBoth"/>
            </a:pPr>
            <a:r>
              <a:rPr lang="en-US" sz="1400">
                <a:ea typeface="Calibri" pitchFamily="34" charset="-122"/>
                <a:cs typeface="Rubik" pitchFamily="2" charset="-79"/>
              </a:rPr>
              <a:t>Column Mapper </a:t>
            </a:r>
          </a:p>
          <a:p>
            <a:pPr marL="342900" indent="-342900">
              <a:spcAft>
                <a:spcPts val="600"/>
              </a:spcAft>
              <a:buAutoNum type="arabicParenBoth"/>
            </a:pPr>
            <a:r>
              <a:rPr lang="en-US" sz="1400">
                <a:ea typeface="Calibri" pitchFamily="34" charset="-122"/>
                <a:cs typeface="Rubik" pitchFamily="2" charset="-79"/>
              </a:rPr>
              <a:t>File upload with validations</a:t>
            </a:r>
          </a:p>
          <a:p>
            <a:pPr marL="342900" indent="-342900">
              <a:spcAft>
                <a:spcPts val="600"/>
              </a:spcAft>
              <a:buAutoNum type="arabicParenBoth"/>
            </a:pPr>
            <a:r>
              <a:rPr lang="en-US" sz="1400">
                <a:ea typeface="Calibri" pitchFamily="34" charset="-122"/>
                <a:cs typeface="Rubik" pitchFamily="2" charset="-79"/>
              </a:rPr>
              <a:t>Bronze raw data quality checks</a:t>
            </a:r>
          </a:p>
          <a:p>
            <a:pPr marL="342900" indent="-342900">
              <a:spcAft>
                <a:spcPts val="600"/>
              </a:spcAft>
              <a:buAutoNum type="arabicParenBoth"/>
            </a:pPr>
            <a:r>
              <a:rPr lang="en-US" sz="1400">
                <a:ea typeface="Calibri" pitchFamily="34" charset="-122"/>
                <a:cs typeface="Rubik" pitchFamily="2" charset="-79"/>
              </a:rPr>
              <a:t>Data summary on bronze data</a:t>
            </a:r>
          </a:p>
          <a:p>
            <a:pPr marL="342900" indent="-342900">
              <a:spcAft>
                <a:spcPts val="600"/>
              </a:spcAft>
              <a:buAutoNum type="arabicParenBoth"/>
            </a:pPr>
            <a:r>
              <a:rPr lang="en-US" sz="1400">
                <a:ea typeface="Calibri" pitchFamily="34" charset="-122"/>
                <a:cs typeface="Rubik" pitchFamily="2" charset="-79"/>
              </a:rPr>
              <a:t>On summary approval, data transformations if any (silver)</a:t>
            </a:r>
          </a:p>
          <a:p>
            <a:pPr marL="342900" indent="-342900">
              <a:spcAft>
                <a:spcPts val="600"/>
              </a:spcAft>
              <a:buAutoNum type="arabicParenBoth"/>
            </a:pPr>
            <a:r>
              <a:rPr lang="en-US" sz="1400">
                <a:ea typeface="Calibri" pitchFamily="34" charset="-122"/>
                <a:cs typeface="Rubik" pitchFamily="2" charset="-79"/>
              </a:rPr>
              <a:t>Derived columns logic (gold)</a:t>
            </a:r>
          </a:p>
          <a:p>
            <a:pPr marL="342900" indent="-342900">
              <a:spcAft>
                <a:spcPts val="600"/>
              </a:spcAft>
              <a:buAutoNum type="arabicParenBoth"/>
            </a:pPr>
            <a:r>
              <a:rPr lang="en-US" sz="1400">
                <a:ea typeface="Calibri" pitchFamily="34" charset="-122"/>
                <a:cs typeface="Rubik" pitchFamily="2" charset="-79"/>
              </a:rPr>
              <a:t>All in one format (Aggregated gold view)</a:t>
            </a:r>
          </a:p>
          <a:p>
            <a:pPr>
              <a:spcAft>
                <a:spcPts val="600"/>
              </a:spcAft>
            </a:pPr>
            <a:r>
              <a:rPr lang="en-US" sz="1400" b="1">
                <a:ea typeface="Calibri" pitchFamily="34" charset="-122"/>
                <a:cs typeface="Rubik" pitchFamily="2" charset="-79"/>
              </a:rPr>
              <a:t>Behind the scenes</a:t>
            </a:r>
          </a:p>
          <a:p>
            <a:pPr marL="342900" indent="-342900">
              <a:spcAft>
                <a:spcPts val="600"/>
              </a:spcAft>
              <a:buAutoNum type="arabicParenBoth"/>
            </a:pPr>
            <a:r>
              <a:rPr lang="en-US" sz="1400">
                <a:ea typeface="Calibri" pitchFamily="34" charset="-122"/>
                <a:cs typeface="Rubik" pitchFamily="2" charset="-79"/>
              </a:rPr>
              <a:t>Functionality to update data </a:t>
            </a:r>
          </a:p>
          <a:p>
            <a:pPr marL="342900" indent="-342900">
              <a:spcAft>
                <a:spcPts val="600"/>
              </a:spcAft>
              <a:buAutoNum type="arabicParenBoth"/>
            </a:pPr>
            <a:r>
              <a:rPr lang="en-US" sz="1400">
                <a:ea typeface="Calibri" pitchFamily="34" charset="-122"/>
                <a:cs typeface="Rubik" pitchFamily="2" charset="-79"/>
              </a:rPr>
              <a:t>Functionality to maintain versions of all data </a:t>
            </a:r>
          </a:p>
          <a:p>
            <a:pPr marL="342900" indent="-342900">
              <a:spcAft>
                <a:spcPts val="600"/>
              </a:spcAft>
              <a:buAutoNum type="arabicParenBoth"/>
            </a:pPr>
            <a:r>
              <a:rPr lang="en-US" sz="1400">
                <a:ea typeface="Calibri" pitchFamily="34" charset="-122"/>
                <a:cs typeface="Rubik" pitchFamily="2" charset="-79"/>
              </a:rPr>
              <a:t>Functionality to track all uploads {log and audit}</a:t>
            </a:r>
          </a:p>
          <a:p>
            <a:pPr marL="342900" indent="-342900">
              <a:spcAft>
                <a:spcPts val="600"/>
              </a:spcAft>
              <a:buAutoNum type="arabicParenBoth"/>
            </a:pPr>
            <a:r>
              <a:rPr lang="en-US" sz="1400">
                <a:ea typeface="Calibri" pitchFamily="34" charset="-122"/>
                <a:cs typeface="Rubik" pitchFamily="2" charset="-79"/>
              </a:rPr>
              <a:t>Functionality to mask the cost / revenue columns if required</a:t>
            </a:r>
          </a:p>
          <a:p>
            <a:pPr marL="342900" indent="-342900">
              <a:spcAft>
                <a:spcPts val="600"/>
              </a:spcAft>
              <a:buAutoNum type="arabicParenBoth"/>
            </a:pPr>
            <a:r>
              <a:rPr lang="en-US" sz="1400">
                <a:ea typeface="Calibri" pitchFamily="34" charset="-122"/>
                <a:cs typeface="Rubik" pitchFamily="2" charset="-79"/>
              </a:rPr>
              <a:t>Ability to met all data security and governance rules </a:t>
            </a:r>
          </a:p>
          <a:p>
            <a:pPr marL="342900" indent="-342900">
              <a:spcAft>
                <a:spcPts val="600"/>
              </a:spcAft>
              <a:buAutoNum type="arabicParenBoth"/>
            </a:pPr>
            <a:endParaRPr lang="en-US" sz="1400">
              <a:ea typeface="Calibri" pitchFamily="34" charset="-122"/>
              <a:cs typeface="Rubik" pitchFamily="2" charset="-79"/>
            </a:endParaRPr>
          </a:p>
          <a:p>
            <a:pPr>
              <a:spcAft>
                <a:spcPts val="600"/>
              </a:spcAft>
            </a:pPr>
            <a:endParaRPr lang="en-US" sz="1400">
              <a:cs typeface="Rubik" pitchFamily="2" charset="-79"/>
            </a:endParaRPr>
          </a:p>
          <a:p>
            <a:pPr>
              <a:spcAft>
                <a:spcPts val="600"/>
              </a:spcAft>
            </a:pPr>
            <a:endParaRPr lang="en-US" sz="1400">
              <a:cs typeface="Rubik" pitchFamily="2" charset="-79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D0CA6-613E-2425-DF7B-D6D431C86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FB476C0-78B4-ECD8-1149-5ACAF6561BE5}"/>
              </a:ext>
            </a:extLst>
          </p:cNvPr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latin typeface="Rubik" pitchFamily="2" charset="-79"/>
                <a:ea typeface="Calibri" pitchFamily="34" charset="-122"/>
                <a:cs typeface="Rubik" pitchFamily="2" charset="-79"/>
              </a:rPr>
              <a:t>Data Automation</a:t>
            </a:r>
            <a:endParaRPr lang="en-US" sz="1100">
              <a:latin typeface="Rubik" pitchFamily="2" charset="-79"/>
              <a:cs typeface="Rubik" pitchFamily="2" charset="-79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0D066B-FEBB-B026-9D8B-4FF986209660}"/>
              </a:ext>
            </a:extLst>
          </p:cNvPr>
          <p:cNvSpPr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latin typeface="Rubik" pitchFamily="2" charset="-79"/>
                <a:cs typeface="Rubik" pitchFamily="2" charset="-79"/>
              </a:rPr>
              <a:t>Data Flow – Initial setup for any type of data</a:t>
            </a:r>
            <a:endParaRPr lang="en-US" sz="3000">
              <a:latin typeface="Rubik" pitchFamily="2" charset="-79"/>
              <a:cs typeface="Rubik" pitchFamily="2" charset="-79"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76ABF959-8E45-A859-15FC-261A8B21CD3C}"/>
              </a:ext>
            </a:extLst>
          </p:cNvPr>
          <p:cNvSpPr/>
          <p:nvPr/>
        </p:nvSpPr>
        <p:spPr>
          <a:xfrm>
            <a:off x="1326254" y="1626748"/>
            <a:ext cx="697734" cy="116955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792B5F-93D9-D52C-1B2C-8C9C8597D447}"/>
              </a:ext>
            </a:extLst>
          </p:cNvPr>
          <p:cNvSpPr txBox="1"/>
          <p:nvPr/>
        </p:nvSpPr>
        <p:spPr>
          <a:xfrm>
            <a:off x="2075331" y="1761705"/>
            <a:ext cx="18544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Sample data with headers and data formats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C118A9-13B0-1640-7880-0E19C18C8570}"/>
              </a:ext>
            </a:extLst>
          </p:cNvPr>
          <p:cNvSpPr txBox="1"/>
          <p:nvPr/>
        </p:nvSpPr>
        <p:spPr>
          <a:xfrm>
            <a:off x="487680" y="1934518"/>
            <a:ext cx="11793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Customers</a:t>
            </a:r>
          </a:p>
          <a:p>
            <a:r>
              <a:rPr lang="en-US"/>
              <a:t>Agencies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EB9DDE-0F2B-A012-2C55-6D1451212572}"/>
              </a:ext>
            </a:extLst>
          </p:cNvPr>
          <p:cNvSpPr txBox="1"/>
          <p:nvPr/>
        </p:nvSpPr>
        <p:spPr>
          <a:xfrm>
            <a:off x="4122633" y="1690395"/>
            <a:ext cx="18544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Map to </a:t>
            </a:r>
            <a:r>
              <a:rPr lang="en-US" err="1"/>
              <a:t>DataPoem’s</a:t>
            </a:r>
            <a:r>
              <a:rPr lang="en-US"/>
              <a:t> standard column headers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14D3D0-579D-61BF-955D-3E3CF791EB2A}"/>
              </a:ext>
            </a:extLst>
          </p:cNvPr>
          <p:cNvSpPr txBox="1"/>
          <p:nvPr/>
        </p:nvSpPr>
        <p:spPr>
          <a:xfrm>
            <a:off x="6028442" y="1690395"/>
            <a:ext cx="18544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Template to upload files for later use</a:t>
            </a:r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27BE7BB9-84D8-9609-77BE-257F1A34FFA4}"/>
              </a:ext>
            </a:extLst>
          </p:cNvPr>
          <p:cNvSpPr/>
          <p:nvPr/>
        </p:nvSpPr>
        <p:spPr>
          <a:xfrm>
            <a:off x="8075744" y="1672907"/>
            <a:ext cx="697734" cy="116955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999419-8ACB-337A-55BE-E3E9F84EBB66}"/>
              </a:ext>
            </a:extLst>
          </p:cNvPr>
          <p:cNvSpPr txBox="1"/>
          <p:nvPr/>
        </p:nvSpPr>
        <p:spPr>
          <a:xfrm>
            <a:off x="8889561" y="2073016"/>
            <a:ext cx="2943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Configuration saved for reuse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0495D6-9354-9E58-738A-DD4D241048B0}"/>
              </a:ext>
            </a:extLst>
          </p:cNvPr>
          <p:cNvSpPr txBox="1"/>
          <p:nvPr/>
        </p:nvSpPr>
        <p:spPr>
          <a:xfrm>
            <a:off x="507689" y="4223197"/>
            <a:ext cx="10505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/>
              <a:t>List of data quality rules and validations to be done </a:t>
            </a:r>
            <a:r>
              <a:rPr lang="en-US" err="1"/>
              <a:t>e.g</a:t>
            </a:r>
            <a:r>
              <a:rPr lang="en-US"/>
              <a:t> </a:t>
            </a:r>
            <a:r>
              <a:rPr lang="en-US" sz="1400"/>
              <a:t>impressions cannot be negative, cost cannot be null, duplicates </a:t>
            </a:r>
            <a:r>
              <a:rPr lang="en-US" sz="1400" err="1"/>
              <a:t>etc</a:t>
            </a: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29F31E8-7CBC-0D93-F34E-93364CF14785}"/>
              </a:ext>
            </a:extLst>
          </p:cNvPr>
          <p:cNvSpPr txBox="1"/>
          <p:nvPr/>
        </p:nvSpPr>
        <p:spPr>
          <a:xfrm>
            <a:off x="499610" y="4592529"/>
            <a:ext cx="2553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/>
              <a:t>Historic data template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AC3114B-94A9-B454-95E1-837B545DF53C}"/>
              </a:ext>
            </a:extLst>
          </p:cNvPr>
          <p:cNvSpPr txBox="1"/>
          <p:nvPr/>
        </p:nvSpPr>
        <p:spPr>
          <a:xfrm>
            <a:off x="507686" y="4954163"/>
            <a:ext cx="2277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/>
              <a:t>Derived column list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CB6BB5-E340-913E-B331-108C873B6161}"/>
              </a:ext>
            </a:extLst>
          </p:cNvPr>
          <p:cNvSpPr txBox="1"/>
          <p:nvPr/>
        </p:nvSpPr>
        <p:spPr>
          <a:xfrm>
            <a:off x="511675" y="5315797"/>
            <a:ext cx="19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/>
              <a:t>Supporting files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E487907-7F7A-4850-5538-C6FEF7FEDF36}"/>
              </a:ext>
            </a:extLst>
          </p:cNvPr>
          <p:cNvGrpSpPr/>
          <p:nvPr/>
        </p:nvGrpSpPr>
        <p:grpSpPr>
          <a:xfrm>
            <a:off x="2246091" y="3037603"/>
            <a:ext cx="1134280" cy="448315"/>
            <a:chOff x="4484917" y="1413557"/>
            <a:chExt cx="1611083" cy="791069"/>
          </a:xfrm>
        </p:grpSpPr>
        <p:pic>
          <p:nvPicPr>
            <p:cNvPr id="43" name="Picture 42" descr="File explorer - Free controls icons">
              <a:extLst>
                <a:ext uri="{FF2B5EF4-FFF2-40B4-BE49-F238E27FC236}">
                  <a16:creationId xmlns:a16="http://schemas.microsoft.com/office/drawing/2014/main" id="{74BD37D3-DC55-3B22-4BAA-6D136EE25B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19682" y="1413557"/>
              <a:ext cx="710745" cy="710745"/>
            </a:xfrm>
            <a:prstGeom prst="rect">
              <a:avLst/>
            </a:prstGeom>
          </p:spPr>
        </p:pic>
        <p:pic>
          <p:nvPicPr>
            <p:cNvPr id="44" name="Graphic 43" descr="Data POEM">
              <a:extLst>
                <a:ext uri="{FF2B5EF4-FFF2-40B4-BE49-F238E27FC236}">
                  <a16:creationId xmlns:a16="http://schemas.microsoft.com/office/drawing/2014/main" id="{B352370E-1461-8820-CC29-F99DD33113D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84917" y="2043977"/>
              <a:ext cx="1611083" cy="160649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5D2B64E-7BD7-0739-34CA-36041571E633}"/>
              </a:ext>
            </a:extLst>
          </p:cNvPr>
          <p:cNvGrpSpPr/>
          <p:nvPr/>
        </p:nvGrpSpPr>
        <p:grpSpPr>
          <a:xfrm>
            <a:off x="4450814" y="2994481"/>
            <a:ext cx="1402415" cy="504151"/>
            <a:chOff x="4253163" y="2890724"/>
            <a:chExt cx="1611083" cy="675519"/>
          </a:xfrm>
        </p:grpSpPr>
        <p:pic>
          <p:nvPicPr>
            <p:cNvPr id="45" name="Picture 44" descr="Brand Citymapper icon - Free Download PNG &amp; SVG | Streamline">
              <a:extLst>
                <a:ext uri="{FF2B5EF4-FFF2-40B4-BE49-F238E27FC236}">
                  <a16:creationId xmlns:a16="http://schemas.microsoft.com/office/drawing/2014/main" id="{E73F515F-458A-55E7-9E17-D3E187643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33937" y="2890724"/>
              <a:ext cx="649536" cy="649536"/>
            </a:xfrm>
            <a:prstGeom prst="rect">
              <a:avLst/>
            </a:prstGeom>
          </p:spPr>
        </p:pic>
        <p:pic>
          <p:nvPicPr>
            <p:cNvPr id="46" name="Graphic 45" descr="Data POEM">
              <a:extLst>
                <a:ext uri="{FF2B5EF4-FFF2-40B4-BE49-F238E27FC236}">
                  <a16:creationId xmlns:a16="http://schemas.microsoft.com/office/drawing/2014/main" id="{C582F296-E3C8-0375-4581-3218CFF05E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253163" y="3405594"/>
              <a:ext cx="1611083" cy="160649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CF17792-515D-8844-D655-0537C994A432}"/>
              </a:ext>
            </a:extLst>
          </p:cNvPr>
          <p:cNvGrpSpPr/>
          <p:nvPr/>
        </p:nvGrpSpPr>
        <p:grpSpPr>
          <a:xfrm>
            <a:off x="6727371" y="3117112"/>
            <a:ext cx="1048173" cy="311888"/>
            <a:chOff x="4332517" y="2726449"/>
            <a:chExt cx="1611083" cy="702551"/>
          </a:xfrm>
        </p:grpSpPr>
        <p:pic>
          <p:nvPicPr>
            <p:cNvPr id="49" name="Picture 48" descr="Download File Upload ICON free | FreePNGimg">
              <a:extLst>
                <a:ext uri="{FF2B5EF4-FFF2-40B4-BE49-F238E27FC236}">
                  <a16:creationId xmlns:a16="http://schemas.microsoft.com/office/drawing/2014/main" id="{C2EE89B7-1FE3-9DDF-34C8-DBDC8A7CC2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83471" y="2726449"/>
              <a:ext cx="381383" cy="470562"/>
            </a:xfrm>
            <a:prstGeom prst="rect">
              <a:avLst/>
            </a:prstGeom>
          </p:spPr>
        </p:pic>
        <p:pic>
          <p:nvPicPr>
            <p:cNvPr id="50" name="Graphic 49" descr="Data POEM">
              <a:extLst>
                <a:ext uri="{FF2B5EF4-FFF2-40B4-BE49-F238E27FC236}">
                  <a16:creationId xmlns:a16="http://schemas.microsoft.com/office/drawing/2014/main" id="{B2ACBBDE-5A53-CC3C-38E3-B9E3D2FC31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332517" y="3268351"/>
              <a:ext cx="1611083" cy="160649"/>
            </a:xfrm>
            <a:prstGeom prst="rect">
              <a:avLst/>
            </a:prstGeom>
          </p:spPr>
        </p:pic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100A91D4-2B97-35AF-D472-A484FDA6F6DE}"/>
              </a:ext>
            </a:extLst>
          </p:cNvPr>
          <p:cNvSpPr txBox="1"/>
          <p:nvPr/>
        </p:nvSpPr>
        <p:spPr>
          <a:xfrm>
            <a:off x="2246091" y="3677549"/>
            <a:ext cx="1366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>
                <a:solidFill>
                  <a:schemeClr val="accent6"/>
                </a:solidFill>
              </a:rPr>
              <a:t>S3 Explorer </a:t>
            </a:r>
          </a:p>
          <a:p>
            <a:pPr algn="ctr"/>
            <a:r>
              <a:rPr lang="en-US" sz="900">
                <a:solidFill>
                  <a:schemeClr val="accent6"/>
                </a:solidFill>
              </a:rPr>
              <a:t>Development - Complete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0796FBA-BDDF-A721-0FD8-563CDC1D0134}"/>
              </a:ext>
            </a:extLst>
          </p:cNvPr>
          <p:cNvSpPr txBox="1"/>
          <p:nvPr/>
        </p:nvSpPr>
        <p:spPr>
          <a:xfrm>
            <a:off x="4450814" y="3674184"/>
            <a:ext cx="1366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>
                <a:solidFill>
                  <a:schemeClr val="accent6"/>
                </a:solidFill>
              </a:rPr>
              <a:t>Column Mapper</a:t>
            </a:r>
          </a:p>
          <a:p>
            <a:pPr algn="ctr"/>
            <a:r>
              <a:rPr lang="en-US" sz="900">
                <a:solidFill>
                  <a:schemeClr val="accent6"/>
                </a:solidFill>
              </a:rPr>
              <a:t>Development - Complete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7597964-FC77-9588-A427-CCEF7E239B92}"/>
              </a:ext>
            </a:extLst>
          </p:cNvPr>
          <p:cNvSpPr txBox="1"/>
          <p:nvPr/>
        </p:nvSpPr>
        <p:spPr>
          <a:xfrm>
            <a:off x="6516828" y="3658016"/>
            <a:ext cx="1366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>
                <a:solidFill>
                  <a:schemeClr val="accent6"/>
                </a:solidFill>
              </a:rPr>
              <a:t>SFU</a:t>
            </a:r>
          </a:p>
          <a:p>
            <a:pPr algn="ctr"/>
            <a:r>
              <a:rPr lang="en-US" sz="900">
                <a:solidFill>
                  <a:schemeClr val="accent6"/>
                </a:solidFill>
              </a:rPr>
              <a:t>Development - Complete</a:t>
            </a:r>
          </a:p>
        </p:txBody>
      </p:sp>
    </p:spTree>
    <p:extLst>
      <p:ext uri="{BB962C8B-B14F-4D97-AF65-F5344CB8AC3E}">
        <p14:creationId xmlns:p14="http://schemas.microsoft.com/office/powerpoint/2010/main" val="3675605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  <p:bldP spid="5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D9F1C-A372-B103-1DCF-0944CA627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CC4C24E-15F2-FB91-805B-75E9547362EE}"/>
              </a:ext>
            </a:extLst>
          </p:cNvPr>
          <p:cNvSpPr/>
          <p:nvPr/>
        </p:nvSpPr>
        <p:spPr>
          <a:xfrm>
            <a:off x="5652654" y="1797513"/>
            <a:ext cx="3020982" cy="7998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438CCA2-9687-E3BE-0C26-8DF51EAE3B95}"/>
              </a:ext>
            </a:extLst>
          </p:cNvPr>
          <p:cNvSpPr/>
          <p:nvPr/>
        </p:nvSpPr>
        <p:spPr>
          <a:xfrm>
            <a:off x="4388556" y="1784414"/>
            <a:ext cx="1048173" cy="7998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AA49C72-0DD6-1D33-5F8A-12615B16F787}"/>
              </a:ext>
            </a:extLst>
          </p:cNvPr>
          <p:cNvSpPr/>
          <p:nvPr/>
        </p:nvSpPr>
        <p:spPr>
          <a:xfrm>
            <a:off x="1880594" y="1843487"/>
            <a:ext cx="2125956" cy="7998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732CAF7-03EA-108B-938E-58305D569A0C}"/>
              </a:ext>
            </a:extLst>
          </p:cNvPr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latin typeface="Rubik" pitchFamily="2" charset="-79"/>
                <a:ea typeface="Calibri" pitchFamily="34" charset="-122"/>
                <a:cs typeface="Rubik" pitchFamily="2" charset="-79"/>
              </a:rPr>
              <a:t>Data Automation</a:t>
            </a:r>
            <a:endParaRPr lang="en-US" sz="1100">
              <a:latin typeface="Rubik" pitchFamily="2" charset="-79"/>
              <a:cs typeface="Rubik" pitchFamily="2" charset="-79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E8E7C89-700A-4DA2-07ED-428FE32AB9D5}"/>
              </a:ext>
            </a:extLst>
          </p:cNvPr>
          <p:cNvSpPr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latin typeface="Rubik" pitchFamily="2" charset="-79"/>
                <a:cs typeface="Rubik" pitchFamily="2" charset="-79"/>
              </a:rPr>
              <a:t>Data Flow – For each model</a:t>
            </a:r>
            <a:endParaRPr lang="en-US" sz="3000">
              <a:latin typeface="Rubik" pitchFamily="2" charset="-79"/>
              <a:cs typeface="Rubik" pitchFamily="2" charset="-79"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71B502C7-2476-10E5-4E5F-09A20D6F8B38}"/>
              </a:ext>
            </a:extLst>
          </p:cNvPr>
          <p:cNvSpPr/>
          <p:nvPr/>
        </p:nvSpPr>
        <p:spPr>
          <a:xfrm>
            <a:off x="1326254" y="1626748"/>
            <a:ext cx="697734" cy="116955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24302C-6227-23B2-799C-9A345D9F7A5B}"/>
              </a:ext>
            </a:extLst>
          </p:cNvPr>
          <p:cNvSpPr txBox="1"/>
          <p:nvPr/>
        </p:nvSpPr>
        <p:spPr>
          <a:xfrm>
            <a:off x="1880594" y="2045471"/>
            <a:ext cx="840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Raw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2B06F0-D84D-5470-E84A-4B3F353F887E}"/>
              </a:ext>
            </a:extLst>
          </p:cNvPr>
          <p:cNvSpPr txBox="1"/>
          <p:nvPr/>
        </p:nvSpPr>
        <p:spPr>
          <a:xfrm>
            <a:off x="487680" y="1934518"/>
            <a:ext cx="11793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Customers</a:t>
            </a:r>
          </a:p>
          <a:p>
            <a:r>
              <a:rPr lang="en-US"/>
              <a:t>Agencies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E6C9BE-6E15-5DA2-44CC-70CF961AAA9E}"/>
              </a:ext>
            </a:extLst>
          </p:cNvPr>
          <p:cNvSpPr txBox="1"/>
          <p:nvPr/>
        </p:nvSpPr>
        <p:spPr>
          <a:xfrm>
            <a:off x="4295673" y="2041751"/>
            <a:ext cx="1356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Ingest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F9D242E-B618-F451-E7FA-A1D2264D4B64}"/>
              </a:ext>
            </a:extLst>
          </p:cNvPr>
          <p:cNvCxnSpPr>
            <a:stCxn id="7" idx="3"/>
          </p:cNvCxnSpPr>
          <p:nvPr/>
        </p:nvCxnSpPr>
        <p:spPr>
          <a:xfrm>
            <a:off x="2721584" y="2230137"/>
            <a:ext cx="1854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992BFE6-DC4A-56EF-D8B9-C6E5484B2B5D}"/>
              </a:ext>
            </a:extLst>
          </p:cNvPr>
          <p:cNvSpPr txBox="1"/>
          <p:nvPr/>
        </p:nvSpPr>
        <p:spPr>
          <a:xfrm>
            <a:off x="2958377" y="1912269"/>
            <a:ext cx="1048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To process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2E8D4E6-61CC-7EB9-7416-FCD9BB4C2E0D}"/>
              </a:ext>
            </a:extLst>
          </p:cNvPr>
          <p:cNvCxnSpPr/>
          <p:nvPr/>
        </p:nvCxnSpPr>
        <p:spPr>
          <a:xfrm>
            <a:off x="4129908" y="2239316"/>
            <a:ext cx="1854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0A2953B-7AA2-1BE3-6192-D2D6800274DB}"/>
              </a:ext>
            </a:extLst>
          </p:cNvPr>
          <p:cNvCxnSpPr/>
          <p:nvPr/>
        </p:nvCxnSpPr>
        <p:spPr>
          <a:xfrm>
            <a:off x="5417045" y="2237478"/>
            <a:ext cx="1854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databricks repositories · GitHub">
            <a:extLst>
              <a:ext uri="{FF2B5EF4-FFF2-40B4-BE49-F238E27FC236}">
                <a16:creationId xmlns:a16="http://schemas.microsoft.com/office/drawing/2014/main" id="{F6CA99FB-85D0-A166-9EA7-6E1B867EC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582" y="2655530"/>
            <a:ext cx="643132" cy="64313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50E8DFB-036A-B7CA-8247-132E25298EAD}"/>
              </a:ext>
            </a:extLst>
          </p:cNvPr>
          <p:cNvSpPr txBox="1"/>
          <p:nvPr/>
        </p:nvSpPr>
        <p:spPr>
          <a:xfrm>
            <a:off x="5745537" y="2026857"/>
            <a:ext cx="837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Bronze</a:t>
            </a: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5DA2C208-0553-081A-2062-502D873ADC7C}"/>
              </a:ext>
            </a:extLst>
          </p:cNvPr>
          <p:cNvCxnSpPr>
            <a:stCxn id="17" idx="2"/>
          </p:cNvCxnSpPr>
          <p:nvPr/>
        </p:nvCxnSpPr>
        <p:spPr>
          <a:xfrm rot="5400000">
            <a:off x="5486461" y="2836803"/>
            <a:ext cx="1118192" cy="23696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9C2CE5A-5291-78F1-C85C-49C2D3450A55}"/>
              </a:ext>
            </a:extLst>
          </p:cNvPr>
          <p:cNvSpPr/>
          <p:nvPr/>
        </p:nvSpPr>
        <p:spPr>
          <a:xfrm>
            <a:off x="5745536" y="3514381"/>
            <a:ext cx="5128111" cy="37333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Approval System</a:t>
            </a:r>
          </a:p>
        </p:txBody>
      </p: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7FB1498A-52AD-672A-B106-52DE5489F86B}"/>
              </a:ext>
            </a:extLst>
          </p:cNvPr>
          <p:cNvCxnSpPr/>
          <p:nvPr/>
        </p:nvCxnSpPr>
        <p:spPr>
          <a:xfrm rot="16200000" flipV="1">
            <a:off x="5982150" y="2913991"/>
            <a:ext cx="1118192" cy="8258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63C5BF6-9C62-77AD-BF05-194E1BC6C11A}"/>
              </a:ext>
            </a:extLst>
          </p:cNvPr>
          <p:cNvCxnSpPr/>
          <p:nvPr/>
        </p:nvCxnSpPr>
        <p:spPr>
          <a:xfrm>
            <a:off x="6605029" y="2213606"/>
            <a:ext cx="1854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21D2EEE-033B-5F1C-52F3-A3E8F4CA1C20}"/>
              </a:ext>
            </a:extLst>
          </p:cNvPr>
          <p:cNvSpPr txBox="1"/>
          <p:nvPr/>
        </p:nvSpPr>
        <p:spPr>
          <a:xfrm>
            <a:off x="6820962" y="2026856"/>
            <a:ext cx="837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Silver</a:t>
            </a:r>
          </a:p>
        </p:txBody>
      </p: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FE1ABDAF-14C4-DF77-6B04-D21FA9310FCB}"/>
              </a:ext>
            </a:extLst>
          </p:cNvPr>
          <p:cNvCxnSpPr>
            <a:cxnSpLocks/>
          </p:cNvCxnSpPr>
          <p:nvPr/>
        </p:nvCxnSpPr>
        <p:spPr>
          <a:xfrm flipV="1">
            <a:off x="5486888" y="2400847"/>
            <a:ext cx="2314409" cy="6840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2458374-5B62-0676-631A-8D98C2B172B0}"/>
              </a:ext>
            </a:extLst>
          </p:cNvPr>
          <p:cNvSpPr txBox="1"/>
          <p:nvPr/>
        </p:nvSpPr>
        <p:spPr>
          <a:xfrm>
            <a:off x="5083606" y="2453561"/>
            <a:ext cx="10684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Mappers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087569-8CFC-F1A0-7EEB-E0D80D32A386}"/>
              </a:ext>
            </a:extLst>
          </p:cNvPr>
          <p:cNvSpPr txBox="1"/>
          <p:nvPr/>
        </p:nvSpPr>
        <p:spPr>
          <a:xfrm>
            <a:off x="7709741" y="2012772"/>
            <a:ext cx="837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Gold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5122206-F9B3-E9E6-7038-CEE4EC3F23AC}"/>
              </a:ext>
            </a:extLst>
          </p:cNvPr>
          <p:cNvCxnSpPr/>
          <p:nvPr/>
        </p:nvCxnSpPr>
        <p:spPr>
          <a:xfrm>
            <a:off x="7616745" y="2211768"/>
            <a:ext cx="1854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E78FF059-19A1-77AD-414A-535715ACC686}"/>
              </a:ext>
            </a:extLst>
          </p:cNvPr>
          <p:cNvCxnSpPr/>
          <p:nvPr/>
        </p:nvCxnSpPr>
        <p:spPr>
          <a:xfrm rot="16200000" flipH="1">
            <a:off x="7739041" y="2858450"/>
            <a:ext cx="959750" cy="18134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7AA5ECA5-EB06-D389-A538-0018F8DA4AD0}"/>
              </a:ext>
            </a:extLst>
          </p:cNvPr>
          <p:cNvCxnSpPr/>
          <p:nvPr/>
        </p:nvCxnSpPr>
        <p:spPr>
          <a:xfrm rot="16200000" flipV="1">
            <a:off x="7991136" y="2958772"/>
            <a:ext cx="1060820" cy="5039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15F21224-580F-9727-503F-EF83B03BF1FB}"/>
              </a:ext>
            </a:extLst>
          </p:cNvPr>
          <p:cNvSpPr txBox="1"/>
          <p:nvPr/>
        </p:nvSpPr>
        <p:spPr>
          <a:xfrm>
            <a:off x="5691631" y="3099182"/>
            <a:ext cx="10684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Summary Approval - External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C2E8936-211F-34A1-D688-B53FA2911DB3}"/>
              </a:ext>
            </a:extLst>
          </p:cNvPr>
          <p:cNvSpPr txBox="1"/>
          <p:nvPr/>
        </p:nvSpPr>
        <p:spPr>
          <a:xfrm>
            <a:off x="7334472" y="3106665"/>
            <a:ext cx="10684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AIO Approval - Internal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D549BDAF-E6E8-BACF-9473-DF9D1EA80BB0}"/>
              </a:ext>
            </a:extLst>
          </p:cNvPr>
          <p:cNvSpPr/>
          <p:nvPr/>
        </p:nvSpPr>
        <p:spPr>
          <a:xfrm>
            <a:off x="8903838" y="1795397"/>
            <a:ext cx="1969809" cy="7998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87ABF1F-AD2D-6916-8637-6544DD5A486D}"/>
              </a:ext>
            </a:extLst>
          </p:cNvPr>
          <p:cNvCxnSpPr/>
          <p:nvPr/>
        </p:nvCxnSpPr>
        <p:spPr>
          <a:xfrm>
            <a:off x="8716595" y="2187896"/>
            <a:ext cx="1854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C3BB9D4-F5A2-D516-2EE9-A46E959171E0}"/>
              </a:ext>
            </a:extLst>
          </p:cNvPr>
          <p:cNvGrpSpPr/>
          <p:nvPr/>
        </p:nvGrpSpPr>
        <p:grpSpPr>
          <a:xfrm>
            <a:off x="9387991" y="2643338"/>
            <a:ext cx="928785" cy="720010"/>
            <a:chOff x="6096000" y="2076450"/>
            <a:chExt cx="1611083" cy="1497644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1A548C68-3EC6-8DAA-C216-90456D77CE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0" y="2076450"/>
              <a:ext cx="1473200" cy="1352550"/>
            </a:xfrm>
            <a:prstGeom prst="rect">
              <a:avLst/>
            </a:prstGeom>
          </p:spPr>
        </p:pic>
        <p:pic>
          <p:nvPicPr>
            <p:cNvPr id="56" name="Graphic 55" descr="Data POEM">
              <a:extLst>
                <a:ext uri="{FF2B5EF4-FFF2-40B4-BE49-F238E27FC236}">
                  <a16:creationId xmlns:a16="http://schemas.microsoft.com/office/drawing/2014/main" id="{782C14E4-AEA5-E7AF-4940-E8771E5B5B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96000" y="3413445"/>
              <a:ext cx="1611083" cy="160649"/>
            </a:xfrm>
            <a:prstGeom prst="rect">
              <a:avLst/>
            </a:prstGeom>
          </p:spPr>
        </p:pic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E00CC3C0-ABBD-3432-E09E-3E063CF09650}"/>
              </a:ext>
            </a:extLst>
          </p:cNvPr>
          <p:cNvSpPr txBox="1"/>
          <p:nvPr/>
        </p:nvSpPr>
        <p:spPr>
          <a:xfrm>
            <a:off x="9069604" y="1942981"/>
            <a:ext cx="1517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Model Training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0D6B3B1-48A0-E74B-A7B6-16A27249AB55}"/>
              </a:ext>
            </a:extLst>
          </p:cNvPr>
          <p:cNvGrpSpPr/>
          <p:nvPr/>
        </p:nvGrpSpPr>
        <p:grpSpPr>
          <a:xfrm>
            <a:off x="4489138" y="2777004"/>
            <a:ext cx="1048173" cy="311888"/>
            <a:chOff x="4332517" y="2726449"/>
            <a:chExt cx="1611083" cy="702551"/>
          </a:xfrm>
        </p:grpSpPr>
        <p:pic>
          <p:nvPicPr>
            <p:cNvPr id="59" name="Picture 58" descr="Download File Upload ICON free | FreePNGimg">
              <a:extLst>
                <a:ext uri="{FF2B5EF4-FFF2-40B4-BE49-F238E27FC236}">
                  <a16:creationId xmlns:a16="http://schemas.microsoft.com/office/drawing/2014/main" id="{96B2EAA7-E21D-8ECA-04CA-CDA10C0C67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83471" y="2726449"/>
              <a:ext cx="381383" cy="470562"/>
            </a:xfrm>
            <a:prstGeom prst="rect">
              <a:avLst/>
            </a:prstGeom>
          </p:spPr>
        </p:pic>
        <p:pic>
          <p:nvPicPr>
            <p:cNvPr id="60" name="Graphic 59" descr="Data POEM">
              <a:extLst>
                <a:ext uri="{FF2B5EF4-FFF2-40B4-BE49-F238E27FC236}">
                  <a16:creationId xmlns:a16="http://schemas.microsoft.com/office/drawing/2014/main" id="{BB1DC6F2-9DBB-D138-E575-71420B6A70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332517" y="3268351"/>
              <a:ext cx="1611083" cy="160649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3BD296D-C983-E8D6-BEE4-D921AE8BF754}"/>
              </a:ext>
            </a:extLst>
          </p:cNvPr>
          <p:cNvGrpSpPr/>
          <p:nvPr/>
        </p:nvGrpSpPr>
        <p:grpSpPr>
          <a:xfrm>
            <a:off x="2295422" y="2683389"/>
            <a:ext cx="1134280" cy="448315"/>
            <a:chOff x="4484917" y="1413557"/>
            <a:chExt cx="1611083" cy="791069"/>
          </a:xfrm>
        </p:grpSpPr>
        <p:pic>
          <p:nvPicPr>
            <p:cNvPr id="62" name="Picture 61" descr="File explorer - Free controls icons">
              <a:extLst>
                <a:ext uri="{FF2B5EF4-FFF2-40B4-BE49-F238E27FC236}">
                  <a16:creationId xmlns:a16="http://schemas.microsoft.com/office/drawing/2014/main" id="{24F99700-A7C2-E315-CD15-57B2B7957D4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19682" y="1413557"/>
              <a:ext cx="710745" cy="710745"/>
            </a:xfrm>
            <a:prstGeom prst="rect">
              <a:avLst/>
            </a:prstGeom>
          </p:spPr>
        </p:pic>
        <p:pic>
          <p:nvPicPr>
            <p:cNvPr id="63" name="Graphic 62" descr="Data POEM">
              <a:extLst>
                <a:ext uri="{FF2B5EF4-FFF2-40B4-BE49-F238E27FC236}">
                  <a16:creationId xmlns:a16="http://schemas.microsoft.com/office/drawing/2014/main" id="{54EABCEA-FC36-1723-E1DD-BA93CBBEFF1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84917" y="2043977"/>
              <a:ext cx="1611083" cy="160649"/>
            </a:xfrm>
            <a:prstGeom prst="rect">
              <a:avLst/>
            </a:prstGeom>
          </p:spPr>
        </p:pic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31746E08-1CA2-EE66-FDA8-664FE5769516}"/>
              </a:ext>
            </a:extLst>
          </p:cNvPr>
          <p:cNvSpPr txBox="1"/>
          <p:nvPr/>
        </p:nvSpPr>
        <p:spPr>
          <a:xfrm>
            <a:off x="10237287" y="2902158"/>
            <a:ext cx="170912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accent6"/>
                </a:solidFill>
              </a:rPr>
              <a:t>Development – will be complete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326C5FF-39C3-E7EC-3FA1-8C6C3466E476}"/>
              </a:ext>
            </a:extLst>
          </p:cNvPr>
          <p:cNvSpPr txBox="1"/>
          <p:nvPr/>
        </p:nvSpPr>
        <p:spPr>
          <a:xfrm>
            <a:off x="7455030" y="3915796"/>
            <a:ext cx="15231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accent6"/>
                </a:solidFill>
              </a:rPr>
              <a:t>Development – Not initiated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BFF1262-4AC8-CE8D-46BD-E825DC9F3CB8}"/>
              </a:ext>
            </a:extLst>
          </p:cNvPr>
          <p:cNvSpPr txBox="1"/>
          <p:nvPr/>
        </p:nvSpPr>
        <p:spPr>
          <a:xfrm>
            <a:off x="6278123" y="1521369"/>
            <a:ext cx="15231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accent6"/>
                </a:solidFill>
              </a:rPr>
              <a:t>Development – Not initiated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3BC3871-E20F-DF9B-CD7C-2BE34371B7BD}"/>
              </a:ext>
            </a:extLst>
          </p:cNvPr>
          <p:cNvSpPr txBox="1"/>
          <p:nvPr/>
        </p:nvSpPr>
        <p:spPr>
          <a:xfrm>
            <a:off x="2196269" y="3260461"/>
            <a:ext cx="1388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>
                <a:solidFill>
                  <a:schemeClr val="accent6"/>
                </a:solidFill>
              </a:rPr>
              <a:t>S3 Explorer </a:t>
            </a:r>
          </a:p>
          <a:p>
            <a:pPr algn="ctr"/>
            <a:r>
              <a:rPr lang="en-US" sz="900">
                <a:solidFill>
                  <a:schemeClr val="accent6"/>
                </a:solidFill>
              </a:rPr>
              <a:t>Development – Complete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801A052-636B-24C9-15DC-0F1B1B4BDBB7}"/>
              </a:ext>
            </a:extLst>
          </p:cNvPr>
          <p:cNvSpPr txBox="1"/>
          <p:nvPr/>
        </p:nvSpPr>
        <p:spPr>
          <a:xfrm>
            <a:off x="4248686" y="3247931"/>
            <a:ext cx="1311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6"/>
                </a:solidFill>
              </a:rPr>
              <a:t>SFU Development – Complete</a:t>
            </a:r>
          </a:p>
          <a:p>
            <a:pPr algn="ctr"/>
            <a:r>
              <a:rPr lang="en-US" sz="900">
                <a:solidFill>
                  <a:schemeClr val="accent2"/>
                </a:solidFill>
              </a:rPr>
              <a:t>Configuration for LCA Paid media to be done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DAB7A91-5287-62E9-62A0-9B19C4C0E06A}"/>
              </a:ext>
            </a:extLst>
          </p:cNvPr>
          <p:cNvSpPr txBox="1"/>
          <p:nvPr/>
        </p:nvSpPr>
        <p:spPr>
          <a:xfrm>
            <a:off x="487680" y="4659787"/>
            <a:ext cx="654384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/>
              <a:t>Human touch points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eyeball raw data and move to “To process” folder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upload or update any supporting files (mappers)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approve summary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approve AIO format</a:t>
            </a:r>
          </a:p>
          <a:p>
            <a:pPr marL="285750" lvl="1" indent="-285750">
              <a:buFont typeface="Wingdings" pitchFamily="2" charset="2"/>
              <a:buChar char="v"/>
            </a:pPr>
            <a:r>
              <a:rPr lang="en-US"/>
              <a:t>AIO format will be saved in S3 folder </a:t>
            </a:r>
            <a:r>
              <a:rPr lang="en-US" err="1"/>
              <a:t>e.g</a:t>
            </a:r>
            <a:r>
              <a:rPr lang="en-US"/>
              <a:t> respective model folder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B5D90103-A969-92BB-E7BB-C1A06CF47783}"/>
              </a:ext>
            </a:extLst>
          </p:cNvPr>
          <p:cNvCxnSpPr/>
          <p:nvPr/>
        </p:nvCxnSpPr>
        <p:spPr>
          <a:xfrm rot="10800000" flipV="1">
            <a:off x="2851716" y="3894262"/>
            <a:ext cx="3091884" cy="26407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E553D1CA-A2DA-CBE6-A90F-51E904CD02C6}"/>
              </a:ext>
            </a:extLst>
          </p:cNvPr>
          <p:cNvSpPr txBox="1"/>
          <p:nvPr/>
        </p:nvSpPr>
        <p:spPr>
          <a:xfrm>
            <a:off x="4378393" y="3915796"/>
            <a:ext cx="10684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Summary rejected</a:t>
            </a:r>
          </a:p>
        </p:txBody>
      </p:sp>
    </p:spTree>
    <p:extLst>
      <p:ext uri="{BB962C8B-B14F-4D97-AF65-F5344CB8AC3E}">
        <p14:creationId xmlns:p14="http://schemas.microsoft.com/office/powerpoint/2010/main" val="877330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5" grpId="0"/>
      <p:bldP spid="66" grpId="0"/>
      <p:bldP spid="67" grpId="0"/>
      <p:bldP spid="6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827D0-1C10-2986-ECCD-A75D860BB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CB159A-005B-AD50-9B8A-9C0DBCE6C09B}"/>
              </a:ext>
            </a:extLst>
          </p:cNvPr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latin typeface="Rubik" pitchFamily="2" charset="-79"/>
                <a:ea typeface="Calibri" pitchFamily="34" charset="-122"/>
                <a:cs typeface="Rubik" pitchFamily="2" charset="-79"/>
              </a:rPr>
              <a:t>Data Automation</a:t>
            </a:r>
            <a:endParaRPr lang="en-US" sz="1100">
              <a:latin typeface="Rubik" pitchFamily="2" charset="-79"/>
              <a:cs typeface="Rubik" pitchFamily="2" charset="-79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1E2BA5A-67B2-BE6C-881F-FEF916B4B1D5}"/>
              </a:ext>
            </a:extLst>
          </p:cNvPr>
          <p:cNvSpPr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latin typeface="Rubik" pitchFamily="2" charset="-79"/>
                <a:cs typeface="Rubik" pitchFamily="2" charset="-79"/>
              </a:rPr>
              <a:t>Timelines</a:t>
            </a:r>
            <a:endParaRPr lang="en-US" sz="3000">
              <a:latin typeface="Rubik" pitchFamily="2" charset="-79"/>
              <a:cs typeface="Rubik" pitchFamily="2" charset="-79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9F59FBD-FC30-F91F-9A51-E7552C6BF181}"/>
              </a:ext>
            </a:extLst>
          </p:cNvPr>
          <p:cNvSpPr/>
          <p:nvPr/>
        </p:nvSpPr>
        <p:spPr>
          <a:xfrm>
            <a:off x="6995160" y="2011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>
              <a:latin typeface="Rubik" pitchFamily="2" charset="-79"/>
              <a:cs typeface="Rubik" pitchFamily="2" charset="-79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00FBE61-839A-1C1F-60DE-04BFB6C6448B}"/>
              </a:ext>
            </a:extLst>
          </p:cNvPr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latin typeface="Rubik" pitchFamily="2" charset="-79"/>
                <a:ea typeface="Calibri" pitchFamily="34" charset="-122"/>
                <a:cs typeface="Rubik" pitchFamily="2" charset="-79"/>
              </a:rPr>
              <a:t>3 / 11</a:t>
            </a:r>
            <a:endParaRPr lang="en-US" sz="900">
              <a:latin typeface="Rubik" pitchFamily="2" charset="-79"/>
              <a:cs typeface="Rubik" pitchFamily="2" charset="-79"/>
            </a:endParaRPr>
          </a:p>
        </p:txBody>
      </p:sp>
      <p:sp>
        <p:nvSpPr>
          <p:cNvPr id="17" name="Text 26">
            <a:extLst>
              <a:ext uri="{FF2B5EF4-FFF2-40B4-BE49-F238E27FC236}">
                <a16:creationId xmlns:a16="http://schemas.microsoft.com/office/drawing/2014/main" id="{B64EFA0E-2E6E-5DE9-8080-DF8624090F50}"/>
              </a:ext>
            </a:extLst>
          </p:cNvPr>
          <p:cNvSpPr/>
          <p:nvPr/>
        </p:nvSpPr>
        <p:spPr>
          <a:xfrm>
            <a:off x="4876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595959"/>
                </a:solidFill>
                <a:latin typeface="Rubik" pitchFamily="2" charset="-79"/>
                <a:ea typeface="+mn-lt"/>
                <a:cs typeface="Rubik" pitchFamily="2" charset="-79"/>
              </a:rPr>
              <a:t>Strictly confidential. Proprietary work of DATA POEM</a:t>
            </a:r>
            <a:endParaRPr lang="en-US" sz="900">
              <a:solidFill>
                <a:srgbClr val="595959"/>
              </a:solidFill>
              <a:latin typeface="Rubik" pitchFamily="2" charset="-79"/>
              <a:cs typeface="Rubik" pitchFamily="2" charset="-79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50481E1-A51C-3AFC-E689-B5376F9CB55E}"/>
              </a:ext>
            </a:extLst>
          </p:cNvPr>
          <p:cNvCxnSpPr/>
          <p:nvPr/>
        </p:nvCxnSpPr>
        <p:spPr>
          <a:xfrm flipV="1">
            <a:off x="925417" y="2291508"/>
            <a:ext cx="8934679" cy="859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38D2351-E025-4D3D-5184-244554554406}"/>
              </a:ext>
            </a:extLst>
          </p:cNvPr>
          <p:cNvSpPr txBox="1"/>
          <p:nvPr/>
        </p:nvSpPr>
        <p:spPr>
          <a:xfrm>
            <a:off x="487680" y="247260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10</a:t>
            </a:r>
            <a:r>
              <a:rPr lang="en-US" baseline="30000"/>
              <a:t>th</a:t>
            </a:r>
            <a:r>
              <a:rPr lang="en-US"/>
              <a:t> Aug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F78699-E40D-A038-5B83-CCA1FD40A07F}"/>
              </a:ext>
            </a:extLst>
          </p:cNvPr>
          <p:cNvSpPr txBox="1"/>
          <p:nvPr/>
        </p:nvSpPr>
        <p:spPr>
          <a:xfrm>
            <a:off x="2335512" y="247260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17</a:t>
            </a:r>
            <a:r>
              <a:rPr lang="en-US" baseline="30000"/>
              <a:t>th</a:t>
            </a:r>
            <a:r>
              <a:rPr lang="en-US"/>
              <a:t> Aug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54678D-FE0B-02B7-C439-F8A62FAB6E6F}"/>
              </a:ext>
            </a:extLst>
          </p:cNvPr>
          <p:cNvSpPr txBox="1"/>
          <p:nvPr/>
        </p:nvSpPr>
        <p:spPr>
          <a:xfrm>
            <a:off x="4413850" y="247260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24</a:t>
            </a:r>
            <a:r>
              <a:rPr lang="en-US" baseline="30000"/>
              <a:t>th</a:t>
            </a:r>
            <a:r>
              <a:rPr lang="en-US"/>
              <a:t> Aug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9E1B25-49A8-DD22-42E8-7AC2CF3F5724}"/>
              </a:ext>
            </a:extLst>
          </p:cNvPr>
          <p:cNvSpPr txBox="1"/>
          <p:nvPr/>
        </p:nvSpPr>
        <p:spPr>
          <a:xfrm>
            <a:off x="6096000" y="2472602"/>
            <a:ext cx="945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Aug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4A3DCE-76DF-45B1-9746-0F4CD4097E5B}"/>
              </a:ext>
            </a:extLst>
          </p:cNvPr>
          <p:cNvSpPr txBox="1"/>
          <p:nvPr/>
        </p:nvSpPr>
        <p:spPr>
          <a:xfrm>
            <a:off x="7720253" y="243871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  <a:r>
              <a:rPr lang="en-US" baseline="30000"/>
              <a:t>th</a:t>
            </a:r>
            <a:r>
              <a:rPr lang="en-US"/>
              <a:t>  Sep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D0304A-64DF-E4C4-BE14-6BD47F578605}"/>
              </a:ext>
            </a:extLst>
          </p:cNvPr>
          <p:cNvSpPr txBox="1"/>
          <p:nvPr/>
        </p:nvSpPr>
        <p:spPr>
          <a:xfrm>
            <a:off x="9439332" y="2439134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14</a:t>
            </a:r>
            <a:r>
              <a:rPr lang="en-US" baseline="30000"/>
              <a:t>th</a:t>
            </a:r>
            <a:r>
              <a:rPr lang="en-US"/>
              <a:t>  Sep</a:t>
            </a:r>
          </a:p>
        </p:txBody>
      </p:sp>
      <p:sp>
        <p:nvSpPr>
          <p:cNvPr id="29" name="Diamond 28">
            <a:extLst>
              <a:ext uri="{FF2B5EF4-FFF2-40B4-BE49-F238E27FC236}">
                <a16:creationId xmlns:a16="http://schemas.microsoft.com/office/drawing/2014/main" id="{06069D84-8C11-AB1D-7475-7E350FE5F2FA}"/>
              </a:ext>
            </a:extLst>
          </p:cNvPr>
          <p:cNvSpPr/>
          <p:nvPr/>
        </p:nvSpPr>
        <p:spPr>
          <a:xfrm>
            <a:off x="811025" y="2278288"/>
            <a:ext cx="140330" cy="198304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0B92C0B5-5325-CC9F-4C16-5987E9F4106A}"/>
              </a:ext>
            </a:extLst>
          </p:cNvPr>
          <p:cNvSpPr/>
          <p:nvPr/>
        </p:nvSpPr>
        <p:spPr>
          <a:xfrm>
            <a:off x="2682057" y="2276450"/>
            <a:ext cx="140330" cy="198304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Diamond 30">
            <a:extLst>
              <a:ext uri="{FF2B5EF4-FFF2-40B4-BE49-F238E27FC236}">
                <a16:creationId xmlns:a16="http://schemas.microsoft.com/office/drawing/2014/main" id="{41F6C7CD-2AB9-0477-F969-5E5ED005F785}"/>
              </a:ext>
            </a:extLst>
          </p:cNvPr>
          <p:cNvSpPr/>
          <p:nvPr/>
        </p:nvSpPr>
        <p:spPr>
          <a:xfrm>
            <a:off x="4817494" y="2241561"/>
            <a:ext cx="140330" cy="198304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Diamond 31">
            <a:extLst>
              <a:ext uri="{FF2B5EF4-FFF2-40B4-BE49-F238E27FC236}">
                <a16:creationId xmlns:a16="http://schemas.microsoft.com/office/drawing/2014/main" id="{A0FE776D-C6CD-5D6C-6A4A-9916A992227D}"/>
              </a:ext>
            </a:extLst>
          </p:cNvPr>
          <p:cNvSpPr/>
          <p:nvPr/>
        </p:nvSpPr>
        <p:spPr>
          <a:xfrm>
            <a:off x="6468188" y="2239723"/>
            <a:ext cx="140330" cy="198304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BCEF89C7-D763-8F66-01C8-A281228F373D}"/>
              </a:ext>
            </a:extLst>
          </p:cNvPr>
          <p:cNvSpPr/>
          <p:nvPr/>
        </p:nvSpPr>
        <p:spPr>
          <a:xfrm>
            <a:off x="8041765" y="2248902"/>
            <a:ext cx="140330" cy="198304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3F26E1A-1E94-6E5C-8098-9B653FB96332}"/>
              </a:ext>
            </a:extLst>
          </p:cNvPr>
          <p:cNvSpPr txBox="1"/>
          <p:nvPr/>
        </p:nvSpPr>
        <p:spPr>
          <a:xfrm>
            <a:off x="811386" y="2841934"/>
            <a:ext cx="2221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Configuration of tools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3EBE5F-0D91-8A9B-9911-41E5B203E291}"/>
              </a:ext>
            </a:extLst>
          </p:cNvPr>
          <p:cNvSpPr txBox="1"/>
          <p:nvPr/>
        </p:nvSpPr>
        <p:spPr>
          <a:xfrm>
            <a:off x="2870441" y="3397775"/>
            <a:ext cx="3123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Data Validation Rules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58FEB14-9FE8-EE13-085C-69F71CFF5460}"/>
              </a:ext>
            </a:extLst>
          </p:cNvPr>
          <p:cNvSpPr txBox="1"/>
          <p:nvPr/>
        </p:nvSpPr>
        <p:spPr>
          <a:xfrm>
            <a:off x="2870442" y="3749434"/>
            <a:ext cx="3858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Data Summary and All in One Format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0352BA2-9DD0-D208-1439-90E16332ECA9}"/>
              </a:ext>
            </a:extLst>
          </p:cNvPr>
          <p:cNvSpPr txBox="1"/>
          <p:nvPr/>
        </p:nvSpPr>
        <p:spPr>
          <a:xfrm>
            <a:off x="2888345" y="4096732"/>
            <a:ext cx="3858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Testing and Validations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DA0A31A-5211-855B-AB56-9EAC3FA1E2AA}"/>
              </a:ext>
            </a:extLst>
          </p:cNvPr>
          <p:cNvCxnSpPr/>
          <p:nvPr/>
        </p:nvCxnSpPr>
        <p:spPr>
          <a:xfrm>
            <a:off x="811025" y="3211266"/>
            <a:ext cx="201136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22EB79B-41BB-3FD3-BBCB-36C7E92197BB}"/>
              </a:ext>
            </a:extLst>
          </p:cNvPr>
          <p:cNvCxnSpPr>
            <a:cxnSpLocks/>
          </p:cNvCxnSpPr>
          <p:nvPr/>
        </p:nvCxnSpPr>
        <p:spPr>
          <a:xfrm>
            <a:off x="2946462" y="3421505"/>
            <a:ext cx="3662056" cy="613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F136F33-A6BD-C85F-66C5-80D92BBA44FE}"/>
              </a:ext>
            </a:extLst>
          </p:cNvPr>
          <p:cNvCxnSpPr>
            <a:cxnSpLocks/>
          </p:cNvCxnSpPr>
          <p:nvPr/>
        </p:nvCxnSpPr>
        <p:spPr>
          <a:xfrm flipV="1">
            <a:off x="6728739" y="4466064"/>
            <a:ext cx="3131357" cy="396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792FF7A-289F-F2FE-608E-634C33AD24D9}"/>
              </a:ext>
            </a:extLst>
          </p:cNvPr>
          <p:cNvSpPr txBox="1"/>
          <p:nvPr/>
        </p:nvSpPr>
        <p:spPr>
          <a:xfrm>
            <a:off x="7085759" y="4584536"/>
            <a:ext cx="2642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Technical &amp; Orchestration Tasks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899133E-CAE1-BA38-D2E6-0C356D4EC65B}"/>
              </a:ext>
            </a:extLst>
          </p:cNvPr>
          <p:cNvCxnSpPr>
            <a:cxnSpLocks/>
          </p:cNvCxnSpPr>
          <p:nvPr/>
        </p:nvCxnSpPr>
        <p:spPr>
          <a:xfrm>
            <a:off x="10041716" y="5230867"/>
            <a:ext cx="200323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E736293-A6C0-6044-225E-520C1AE17697}"/>
              </a:ext>
            </a:extLst>
          </p:cNvPr>
          <p:cNvSpPr txBox="1"/>
          <p:nvPr/>
        </p:nvSpPr>
        <p:spPr>
          <a:xfrm>
            <a:off x="10350307" y="5338727"/>
            <a:ext cx="1354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Integration with cockpit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94F0D72-02BD-5C42-A89D-B39F4822B268}"/>
              </a:ext>
            </a:extLst>
          </p:cNvPr>
          <p:cNvSpPr txBox="1"/>
          <p:nvPr/>
        </p:nvSpPr>
        <p:spPr>
          <a:xfrm>
            <a:off x="565045" y="1893237"/>
            <a:ext cx="632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B0F0"/>
                </a:solidFill>
              </a:rPr>
              <a:t>Start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59FCF1A-75BC-6F41-80B6-B7D5A4751A4D}"/>
              </a:ext>
            </a:extLst>
          </p:cNvPr>
          <p:cNvSpPr txBox="1"/>
          <p:nvPr/>
        </p:nvSpPr>
        <p:spPr>
          <a:xfrm>
            <a:off x="9144000" y="1812779"/>
            <a:ext cx="2356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B0F0"/>
                </a:solidFill>
              </a:rPr>
              <a:t>Handover to data team</a:t>
            </a:r>
          </a:p>
        </p:txBody>
      </p:sp>
      <p:sp>
        <p:nvSpPr>
          <p:cNvPr id="52" name="Diamond 51">
            <a:extLst>
              <a:ext uri="{FF2B5EF4-FFF2-40B4-BE49-F238E27FC236}">
                <a16:creationId xmlns:a16="http://schemas.microsoft.com/office/drawing/2014/main" id="{93ADAEA5-9F5D-7B1C-DB42-FFE107FF4B32}"/>
              </a:ext>
            </a:extLst>
          </p:cNvPr>
          <p:cNvSpPr/>
          <p:nvPr/>
        </p:nvSpPr>
        <p:spPr>
          <a:xfrm>
            <a:off x="9834158" y="2180624"/>
            <a:ext cx="140330" cy="198304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EE7C705-544E-4BE4-A49B-FE9E8DFC6C39}"/>
              </a:ext>
            </a:extLst>
          </p:cNvPr>
          <p:cNvCxnSpPr/>
          <p:nvPr/>
        </p:nvCxnSpPr>
        <p:spPr>
          <a:xfrm>
            <a:off x="6683687" y="3880527"/>
            <a:ext cx="32256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169499F2-44C0-0F0C-1AA3-EC3A3296A48B}"/>
              </a:ext>
            </a:extLst>
          </p:cNvPr>
          <p:cNvSpPr txBox="1"/>
          <p:nvPr/>
        </p:nvSpPr>
        <p:spPr>
          <a:xfrm>
            <a:off x="7160928" y="3934736"/>
            <a:ext cx="26421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err="1"/>
              <a:t>Engg</a:t>
            </a:r>
            <a:r>
              <a:rPr lang="en-US" sz="1100"/>
              <a:t> team will handle data prep for paid media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F6850D-86A9-C0A0-0EB1-46A5BDA988B5}"/>
              </a:ext>
            </a:extLst>
          </p:cNvPr>
          <p:cNvSpPr txBox="1"/>
          <p:nvPr/>
        </p:nvSpPr>
        <p:spPr>
          <a:xfrm>
            <a:off x="5890829" y="1668296"/>
            <a:ext cx="1452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00B0F0"/>
                </a:solidFill>
              </a:rPr>
              <a:t>Functional product ready for use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0390A07-37F2-9357-5055-0D6909A06991}"/>
              </a:ext>
            </a:extLst>
          </p:cNvPr>
          <p:cNvCxnSpPr>
            <a:cxnSpLocks/>
          </p:cNvCxnSpPr>
          <p:nvPr/>
        </p:nvCxnSpPr>
        <p:spPr>
          <a:xfrm>
            <a:off x="2800096" y="1255923"/>
            <a:ext cx="22291" cy="5045725"/>
          </a:xfrm>
          <a:prstGeom prst="line">
            <a:avLst/>
          </a:prstGeom>
          <a:ln w="12700" cmpd="thickThin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9DDC745-26EA-D665-277C-3533BEE5A777}"/>
              </a:ext>
            </a:extLst>
          </p:cNvPr>
          <p:cNvCxnSpPr>
            <a:cxnSpLocks/>
          </p:cNvCxnSpPr>
          <p:nvPr/>
        </p:nvCxnSpPr>
        <p:spPr>
          <a:xfrm>
            <a:off x="6536311" y="1288901"/>
            <a:ext cx="22291" cy="5045725"/>
          </a:xfrm>
          <a:prstGeom prst="line">
            <a:avLst/>
          </a:prstGeom>
          <a:ln w="12700" cmpd="thickThin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6FD7D0B-18B9-2429-C865-BA5D7E535DAE}"/>
              </a:ext>
            </a:extLst>
          </p:cNvPr>
          <p:cNvCxnSpPr>
            <a:cxnSpLocks/>
          </p:cNvCxnSpPr>
          <p:nvPr/>
        </p:nvCxnSpPr>
        <p:spPr>
          <a:xfrm>
            <a:off x="9881929" y="1374935"/>
            <a:ext cx="22291" cy="5045725"/>
          </a:xfrm>
          <a:prstGeom prst="line">
            <a:avLst/>
          </a:prstGeom>
          <a:ln w="12700" cmpd="thickThin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1454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</Words>
  <Application>Microsoft Macintosh PowerPoint</Application>
  <PresentationFormat>Widescreen</PresentationFormat>
  <Paragraphs>98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Rubik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DIH Handover - MARS</dc:title>
  <dc:subject>PptxGenJS Presentation</dc:subject>
  <dc:creator>Project Jedi Team</dc:creator>
  <cp:lastModifiedBy>Paresh Ranjan Rout</cp:lastModifiedBy>
  <cp:revision>1</cp:revision>
  <dcterms:created xsi:type="dcterms:W3CDTF">2026-05-13T06:58:14Z</dcterms:created>
  <dcterms:modified xsi:type="dcterms:W3CDTF">2026-08-08T04:33:25Z</dcterms:modified>
</cp:coreProperties>
</file>