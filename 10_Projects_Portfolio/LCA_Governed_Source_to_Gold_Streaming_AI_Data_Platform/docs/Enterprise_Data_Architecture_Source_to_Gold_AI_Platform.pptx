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architecture brief in the current conversation: "Enterprise Data Architecture - Governed Source-to-Gold Streaming &amp; AI Data Platform."
[Speaker cue]
Open with the vision and the central architecture principle.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architecture brief in the current conversation: "Enterprise Data Architecture - Governed Source-to-Gold Streaming &amp; AI Data Platform."
[Speaker cue]
Explain what the platform is trying to achieve before diving into components.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architecture brief in the current conversation: "Enterprise Data Architecture - Governed Source-to-Gold Streaming &amp; AI Data Platform."
[Speaker cue]
Walk left to right: source changes move into Bronze, get standardized in Silver, and become governed Gold products.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architecture brief in the current conversation: "Enterprise Data Architecture - Governed Source-to-Gold Streaming &amp; AI Data Platform."
[Speaker cue]
Use this slide to explain why Bronze is the secure raw foundation rather than a final business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architecture brief in the current conversation: "Enterprise Data Architecture - Governed Source-to-Gold Streaming &amp; AI Data Platform."
[Speaker cue]
Emphasize that Bronze is not just storage. It is the governance and recovery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architecture brief in the current conversation: "Enterprise Data Architecture - Governed Source-to-Gold Streaming &amp; AI Data Platform."
[Speaker cue]
Explain that Silver is where data becomes trustworthy and business-aligned.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architecture brief in the current conversation: "Enterprise Data Architecture - Governed Source-to-Gold Streaming &amp; AI Data Platform."
[Speaker cue]
This slide clarifies approval ownership and the reject/rework loop before Gold.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architecture brief in the current conversation: "Enterprise Data Architecture - Governed Source-to-Gold Streaming &amp; AI Data Platform."
[Speaker cue]
Connect Gold to concrete consumption: ROI, analytics, BI, AI/ML features, and model execution.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architecture brief in the current conversation: "Enterprise Data Architecture - Governed Source-to-Gold Streaming &amp; AI Data Platform."
[Speaker cue]
Make clear that approval is an explicit gate, not an informal handoff.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architecture brief in the current conversation: "Enterprise Data Architecture - Governed Source-to-Gold Streaming &amp; AI Data Platform."
[Speaker cue]
Show that governance is a control plane across all data layers.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architecture brief in the current conversation: "Enterprise Data Architecture - Governed Source-to-Gold Streaming &amp; AI Data Platform."
[Speaker cue]
This is a reference implementation option, not a finalized technology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architecture brief in the current conversation: "Enterprise Data Architecture - Governed Source-to-Gold Streaming &amp; AI Data Platform."
[Speaker cue]
Present this as an implementation plan that can be broken into epics or quarters.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architecture brief in the current conversation: "Enterprise Data Architecture - Governed Source-to-Gold Streaming &amp; AI Data Platform."
[Speaker cue]
This slide gives the user a practical discussion agenda for leadership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6366F1">
              <a:alpha val="92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02920"/>
            <a:ext cx="11173968" cy="5715000"/>
          </a:xfrm>
          <a:prstGeom prst="rect">
            <a:avLst/>
          </a:prstGeom>
          <a:solidFill>
            <a:srgbClr val="111827">
              <a:alpha val="95000"/>
            </a:srgbClr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841248"/>
            <a:ext cx="2468880" cy="228600"/>
          </a:xfrm>
          <a:prstGeom prst="roundRect">
            <a:avLst/>
          </a:prstGeom>
          <a:solidFill>
            <a:srgbClr val="0F172A">
              <a:alpha val="95000"/>
            </a:srgbClr>
          </a:solidFill>
          <a:ln w="10160">
            <a:solidFill>
              <a:srgbClr val="22D3EE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ORG PROTOTYPE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868680" y="1298448"/>
            <a:ext cx="10012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Enterprise Data Architecture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96112" y="1938528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Governed Source-to-Gold Streaming and AI Data Platform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542032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secure, governed, streaming-enabled architecture that transforms source-system data into trusted, standardized, business-ready, and AI/ML-optimized Gold data products.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304288" y="4242816"/>
            <a:ext cx="512064" cy="0"/>
          </a:xfrm>
          <a:prstGeom prst="line">
            <a:avLst/>
          </a:prstGeom>
          <a:noFill/>
          <a:ln w="1968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34256" y="4242816"/>
            <a:ext cx="512064" cy="0"/>
          </a:xfrm>
          <a:prstGeom prst="line">
            <a:avLst/>
          </a:prstGeom>
          <a:noFill/>
          <a:ln w="1968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364224" y="4242816"/>
            <a:ext cx="512064" cy="0"/>
          </a:xfrm>
          <a:prstGeom prst="line">
            <a:avLst/>
          </a:prstGeom>
          <a:noFill/>
          <a:ln w="1968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394192" y="4242816"/>
            <a:ext cx="512064" cy="0"/>
          </a:xfrm>
          <a:prstGeom prst="line">
            <a:avLst/>
          </a:prstGeom>
          <a:noFill/>
          <a:ln w="19685">
            <a:solidFill>
              <a:srgbClr val="FACC15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14400" y="3913632"/>
            <a:ext cx="1527048" cy="786384"/>
          </a:xfrm>
          <a:prstGeom prst="roundRect">
            <a:avLst/>
          </a:prstGeom>
          <a:solidFill>
            <a:srgbClr val="1E293B"/>
          </a:solidFill>
          <a:ln w="13970">
            <a:solidFill>
              <a:srgbClr val="3B82F6"/>
            </a:solidFill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
</a:t>
            </a:r>
            <a:pPr indent="0" marL="0">
              <a:buNone/>
            </a:pPr>
            <a:r>
              <a:rPr lang="en-US" sz="8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+ streaming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2944368" y="3913632"/>
            <a:ext cx="1527048" cy="786384"/>
          </a:xfrm>
          <a:prstGeom prst="roundRect">
            <a:avLst/>
          </a:prstGeom>
          <a:solidFill>
            <a:srgbClr val="1E293B"/>
          </a:solidFill>
          <a:ln w="13970">
            <a:solidFill>
              <a:srgbClr val="14B8A6"/>
            </a:solidFill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BRONZE
</a:t>
            </a:r>
            <a:pPr indent="0" marL="0">
              <a:buNone/>
            </a:pPr>
            <a:r>
              <a:rPr lang="en-US" sz="8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raw history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4974336" y="3913632"/>
            <a:ext cx="1527048" cy="786384"/>
          </a:xfrm>
          <a:prstGeom prst="roundRect">
            <a:avLst/>
          </a:prstGeom>
          <a:solidFill>
            <a:srgbClr val="1E293B"/>
          </a:solidFill>
          <a:ln w="13970">
            <a:solidFill>
              <a:srgbClr val="22C55E"/>
            </a:solidFill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SILVER
</a:t>
            </a:r>
            <a:pPr indent="0" marL="0">
              <a:buNone/>
            </a:pPr>
            <a:r>
              <a:rPr lang="en-US" sz="8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 standard model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7004304" y="3913632"/>
            <a:ext cx="1527048" cy="786384"/>
          </a:xfrm>
          <a:prstGeom prst="roundRect">
            <a:avLst/>
          </a:prstGeom>
          <a:solidFill>
            <a:srgbClr val="1E293B"/>
          </a:solidFill>
          <a:ln w="13970">
            <a:solidFill>
              <a:srgbClr val="FACC15"/>
            </a:solidFill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GOLD
</a:t>
            </a:r>
            <a:pPr indent="0" marL="0">
              <a:buNone/>
            </a:pPr>
            <a:r>
              <a:rPr lang="en-US" sz="8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AI/analytics products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9034272" y="3913632"/>
            <a:ext cx="1527048" cy="786384"/>
          </a:xfrm>
          <a:prstGeom prst="roundRect">
            <a:avLst/>
          </a:prstGeom>
          <a:solidFill>
            <a:srgbClr val="1E293B"/>
          </a:solidFill>
          <a:ln w="13970">
            <a:solidFill>
              <a:srgbClr val="A855F7"/>
            </a:solidFill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SERVE
</a:t>
            </a:r>
            <a:pPr indent="0" marL="0">
              <a:buNone/>
            </a:pPr>
            <a:r>
              <a:rPr lang="en-US" sz="8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governed consumption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914400" y="513892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i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principle: Ingest once, govern continuously, standardize progressively, approve explicitly, and serve trusted data from Gold.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vision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778240" y="647395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Data Architecture Prototype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6366F1">
              <a:alpha val="92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Vision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Secure, governed, scalable, streaming-enabled, and AI-ready from source to Gold.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13533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ACC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 STAR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627632"/>
            <a:ext cx="106070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controlled data platform where source-system changes flow continuously into a governed lakehouse, then become trusted Gold data products for Product, Marketing, Analytics, BI, and AI/ML teams.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615184"/>
            <a:ext cx="109270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090672"/>
            <a:ext cx="2596896" cy="1417320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EF4444"/>
            </a:solidFill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Secure by design
</a:t>
            </a:r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 PII and confidential attributes; control access by role and purpose.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10712" y="3090672"/>
            <a:ext cx="2596896" cy="1417320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22D3EE"/>
            </a:solidFill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Streaming first
</a:t>
            </a:r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CDC and event-driven ingestion to reduce latency and manual reloads.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27064" y="3090672"/>
            <a:ext cx="2596896" cy="1417320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22C55E"/>
            </a:solidFill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Governed layers
</a:t>
            </a:r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raw history, trusted standard model, and curated Gold products.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043416" y="3090672"/>
            <a:ext cx="2596896" cy="1417320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A855F7"/>
            </a:solidFill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AI/ML optimized
</a:t>
            </a:r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features, metrics, lineage, versions, and reusable data products.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5074920"/>
            <a:ext cx="10927080" cy="658368"/>
          </a:xfrm>
          <a:prstGeom prst="roundRect">
            <a:avLst/>
          </a:prstGeom>
          <a:solidFill>
            <a:srgbClr val="0F172A"/>
          </a:solidFill>
          <a:ln w="13970">
            <a:solidFill>
              <a:srgbClr val="FACC15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outcome
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governed, scalable, streaming-first data platform with an approved path from raw source changes to trusted business data and AI/ML-ready Gold products.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 and architectural outcomes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778240" y="647395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Data Architecture Prototype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6366F1">
              <a:alpha val="92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Source-to-Gold Architecture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progressively improves data quality while governance runs across every layer.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148840" y="1901952"/>
            <a:ext cx="91440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032504" y="1901952"/>
            <a:ext cx="91440" cy="0"/>
          </a:xfrm>
          <a:prstGeom prst="line">
            <a:avLst/>
          </a:prstGeom>
          <a:noFill/>
          <a:ln w="15875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916168" y="1901952"/>
            <a:ext cx="91440" cy="0"/>
          </a:xfrm>
          <a:prstGeom prst="line">
            <a:avLst/>
          </a:prstGeom>
          <a:noFill/>
          <a:ln w="15875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799832" y="1901952"/>
            <a:ext cx="91440" cy="0"/>
          </a:xfrm>
          <a:prstGeom prst="line">
            <a:avLst/>
          </a:prstGeom>
          <a:noFill/>
          <a:ln w="15875">
            <a:solidFill>
              <a:srgbClr val="FACC1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683496" y="1901952"/>
            <a:ext cx="91440" cy="0"/>
          </a:xfrm>
          <a:prstGeom prst="line">
            <a:avLst/>
          </a:prstGeom>
          <a:noFill/>
          <a:ln w="15875">
            <a:solidFill>
              <a:srgbClr val="A855F7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29768" y="1417320"/>
            <a:ext cx="1664208" cy="987552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3B82F6"/>
            </a:solidFill>
          </a:ln>
          <a:effectLst>
            <a:outerShdw sx="100000" sy="100000" kx="0" ky="0" algn="bl" rotWithShape="0" blurRad="12700" dist="12700" dir="2700000">
              <a:srgbClr val="000000">
                <a:alpha val="14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 Systems
</a:t>
            </a:r>
            <a:pPr algn="ctr" indent="0" marL="0">
              <a:buNone/>
            </a:pPr>
            <a:r>
              <a:rPr lang="en-US" sz="9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ERP, CRM, Ad Tech, Product, Finance, operational DBs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313432" y="1417320"/>
            <a:ext cx="1664208" cy="987552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22D3EE"/>
            </a:solidFill>
          </a:ln>
          <a:effectLst>
            <a:outerShdw sx="100000" sy="100000" kx="0" ky="0" algn="bl" rotWithShape="0" blurRad="12700" dist="12700" dir="2700000">
              <a:srgbClr val="000000">
                <a:alpha val="14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CDC / Streaming
</a:t>
            </a:r>
            <a:pPr algn="ctr" indent="0" marL="0">
              <a:buNone/>
            </a:pPr>
            <a:r>
              <a:rPr lang="en-US" sz="9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changes, events, schema signals, and metadata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97096" y="1417320"/>
            <a:ext cx="1664208" cy="987552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14B8A6"/>
            </a:solidFill>
          </a:ln>
          <a:effectLst>
            <a:outerShdw sx="100000" sy="100000" kx="0" ky="0" algn="bl" rotWithShape="0" blurRad="12700" dist="12700" dir="2700000">
              <a:srgbClr val="000000">
                <a:alpha val="14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Bronze
</a:t>
            </a:r>
            <a:pPr algn="ctr" indent="0" marL="0">
              <a:buNone/>
            </a:pPr>
            <a:r>
              <a:rPr lang="en-US" sz="9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raw, incremental, masked, source-aligned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80760" y="1417320"/>
            <a:ext cx="1664208" cy="987552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22C55E"/>
            </a:solidFill>
          </a:ln>
          <a:effectLst>
            <a:outerShdw sx="100000" sy="100000" kx="0" ky="0" algn="bl" rotWithShape="0" blurRad="12700" dist="12700" dir="2700000">
              <a:srgbClr val="000000">
                <a:alpha val="14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Silver
</a:t>
            </a:r>
            <a:pPr algn="ctr" indent="0" marL="0">
              <a:buNone/>
            </a:pPr>
            <a:r>
              <a:rPr lang="en-US" sz="9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Trusted, validated, standardized, SCD2 aligned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64424" y="1417320"/>
            <a:ext cx="1664208" cy="987552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FACC15"/>
            </a:solidFill>
          </a:ln>
          <a:effectLst>
            <a:outerShdw sx="100000" sy="100000" kx="0" ky="0" algn="bl" rotWithShape="0" blurRad="12700" dist="12700" dir="2700000">
              <a:srgbClr val="000000">
                <a:alpha val="14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Gold
</a:t>
            </a:r>
            <a:pPr algn="ctr" indent="0" marL="0">
              <a:buNone/>
            </a:pPr>
            <a:r>
              <a:rPr lang="en-US" sz="9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Curated, AI/analytics ready, business-ready products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848088" y="1417320"/>
            <a:ext cx="1664208" cy="987552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A855F7"/>
            </a:solidFill>
          </a:ln>
          <a:effectLst>
            <a:outerShdw sx="100000" sy="100000" kx="0" ky="0" algn="bl" rotWithShape="0" blurRad="12700" dist="12700" dir="2700000">
              <a:srgbClr val="000000">
                <a:alpha val="14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Gold Serving
</a:t>
            </a:r>
            <a:pPr algn="ctr" indent="0" marL="0">
              <a:buNone/>
            </a:pPr>
            <a:r>
              <a:rPr lang="en-US" sz="9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Product, Marketing, BI, Analytics, AI/ML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24128" y="2852928"/>
            <a:ext cx="2971800" cy="804672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22D3EE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Ingestion and orchestration
</a:t>
            </a:r>
            <a:pPr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loading, schema capture, monitoring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81728" y="2852928"/>
            <a:ext cx="2971800" cy="804672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22C55E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quality and standardization
</a:t>
            </a:r>
            <a:pPr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cleansing, validation, normalization, business model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39328" y="2852928"/>
            <a:ext cx="2971800" cy="804672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FACC15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AI/ML optimization and serving
</a:t>
            </a:r>
            <a:pPr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prep, ROI models, aggregation, consumption layer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514600" y="3255264"/>
            <a:ext cx="758952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172200" y="3255264"/>
            <a:ext cx="758952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658368" y="4343400"/>
            <a:ext cx="10863072" cy="786384"/>
          </a:xfrm>
          <a:prstGeom prst="roundRect">
            <a:avLst/>
          </a:prstGeom>
          <a:solidFill>
            <a:srgbClr val="0F172A"/>
          </a:solidFill>
          <a:ln w="13970">
            <a:solidFill>
              <a:srgbClr val="6366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Cross-cutting governance control plane
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security -&gt; Data quality -&gt; Metadata -&gt; Lineage -&gt; Schema governance -&gt; Access control -&gt; Auditability -&gt; Monitoring -&gt; Approval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58368" y="5504688"/>
            <a:ext cx="10863072" cy="512064"/>
          </a:xfrm>
          <a:prstGeom prst="roundRect">
            <a:avLst/>
          </a:prstGeom>
          <a:solidFill>
            <a:srgbClr val="16213E"/>
          </a:solidFill>
          <a:ln w="13970">
            <a:solidFill>
              <a:srgbClr val="FACC1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rule
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approved, governed Gold data products become the shared consumption layer.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architecture map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778240" y="647395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Data Architecture Prototype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6366F1">
              <a:alpha val="92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1 - Source to Bronze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CDC-based streaming ingestion and governance foundation.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21792" y="1298448"/>
            <a:ext cx="2834640" cy="960120"/>
          </a:xfrm>
          <a:prstGeom prst="roundRect">
            <a:avLst/>
          </a:prstGeom>
          <a:solidFill>
            <a:srgbClr val="0F172A"/>
          </a:solidFill>
          <a:ln w="13970">
            <a:solidFill>
              <a:srgbClr val="22D3EE"/>
            </a:solidFill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
</a:t>
            </a:r>
            <a:pPr indent="0" marL="0">
              <a:buNone/>
            </a:pPr>
            <a:r>
              <a:rPr lang="en-US" sz="11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Establish a secure, automated, continuously ingesting foundation for source-system data.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749040" y="1901952"/>
            <a:ext cx="502920" cy="0"/>
          </a:xfrm>
          <a:prstGeom prst="line">
            <a:avLst/>
          </a:prstGeom>
          <a:noFill/>
          <a:ln w="1524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315968" y="1298448"/>
            <a:ext cx="1828800" cy="960120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3B82F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CDC
</a:t>
            </a:r>
            <a:pPr indent="0" marL="0">
              <a:buNone/>
            </a:pPr>
            <a:r>
              <a:rPr lang="en-US" sz="9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capture</a:t>
            </a:r>
            <a:endParaRPr lang="en-US" sz="1400" dirty="0"/>
          </a:p>
          <a:p>
            <a:pPr indent="0" marL="0">
              <a:buNone/>
            </a:pPr>
            <a:r>
              <a:rPr lang="en-US" sz="9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incremental loads</a:t>
            </a:r>
            <a:endParaRPr lang="en-US" sz="1400" dirty="0"/>
          </a:p>
          <a:p>
            <a:pPr indent="0" marL="0">
              <a:buNone/>
            </a:pPr>
            <a:r>
              <a:rPr lang="en-US" sz="9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timestamps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36792" y="1901952"/>
            <a:ext cx="502920" cy="0"/>
          </a:xfrm>
          <a:prstGeom prst="line">
            <a:avLst/>
          </a:prstGeom>
          <a:noFill/>
          <a:ln w="1524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903720" y="1298448"/>
            <a:ext cx="1965960" cy="960120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22D3E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Streaming
</a:t>
            </a:r>
            <a:pPr indent="0" marL="0">
              <a:buNone/>
            </a:pPr>
            <a:r>
              <a:rPr lang="en-US" sz="9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 real-time flow</a:t>
            </a:r>
            <a:endParaRPr lang="en-US" sz="1400" dirty="0"/>
          </a:p>
          <a:p>
            <a:pPr indent="0" marL="0">
              <a:buNone/>
            </a:pPr>
            <a:r>
              <a:rPr lang="en-US" sz="9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ordered events</a:t>
            </a:r>
            <a:endParaRPr lang="en-US" sz="1400" dirty="0"/>
          </a:p>
          <a:p>
            <a:pPr indent="0" marL="0">
              <a:buNone/>
            </a:pPr>
            <a:r>
              <a:rPr lang="en-US" sz="9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replay-ready design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052560" y="1901952"/>
            <a:ext cx="502920" cy="0"/>
          </a:xfrm>
          <a:prstGeom prst="line">
            <a:avLst/>
          </a:prstGeom>
          <a:noFill/>
          <a:ln w="1524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619488" y="1298448"/>
            <a:ext cx="1901952" cy="960120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14B8A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Bronze
</a:t>
            </a:r>
            <a:pPr indent="0" marL="0">
              <a:buNone/>
            </a:pPr>
            <a:r>
              <a:rPr lang="en-US" sz="9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raw history</a:t>
            </a:r>
            <a:endParaRPr lang="en-US" sz="1400" dirty="0"/>
          </a:p>
          <a:p>
            <a:pPr indent="0" marL="0">
              <a:buNone/>
            </a:pPr>
            <a:r>
              <a:rPr lang="en-US" sz="9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masked access</a:t>
            </a:r>
            <a:endParaRPr lang="en-US" sz="1400" dirty="0"/>
          </a:p>
          <a:p>
            <a:pPr indent="0" marL="0">
              <a:buNone/>
            </a:pPr>
            <a:r>
              <a:rPr lang="en-US" sz="9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metadata captured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770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CAPABILITIES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0080" y="3063240"/>
            <a:ext cx="3246120" cy="749808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3B82F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Streaming ingestion
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or near-real-time source data flow.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4343400" y="3063240"/>
            <a:ext cx="3246120" cy="749808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22D3E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Schema management
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Source-to-Bronze schema tracking and evolution.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8046720" y="3063240"/>
            <a:ext cx="3246120" cy="749808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EF4444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Sensitive data protection
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Column-level masking for PII and confidential fields.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640080" y="4142232"/>
            <a:ext cx="3246120" cy="749808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6366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Metadata and lineage
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source, load, schema, and processing context.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4343400" y="4142232"/>
            <a:ext cx="3246120" cy="749808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F59E0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Auditability
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loads, failures, latency, and operational history.</a:t>
            </a:r>
            <a:endParaRPr lang="en-US" sz="1230" dirty="0"/>
          </a:p>
        </p:txBody>
      </p:sp>
      <p:sp>
        <p:nvSpPr>
          <p:cNvPr id="19" name="Text 17"/>
          <p:cNvSpPr/>
          <p:nvPr/>
        </p:nvSpPr>
        <p:spPr>
          <a:xfrm>
            <a:off x="8046720" y="4142232"/>
            <a:ext cx="3246120" cy="749808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14B8A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Raw preservation
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source-aligned data with governed access.</a:t>
            </a:r>
            <a:endParaRPr lang="en-US" sz="1230" dirty="0"/>
          </a:p>
        </p:txBody>
      </p:sp>
      <p:sp>
        <p:nvSpPr>
          <p:cNvPr id="20" name="Text 18"/>
          <p:cNvSpPr/>
          <p:nvPr/>
        </p:nvSpPr>
        <p:spPr>
          <a:xfrm>
            <a:off x="640080" y="5641848"/>
            <a:ext cx="10881360" cy="457200"/>
          </a:xfrm>
          <a:prstGeom prst="roundRect">
            <a:avLst/>
          </a:prstGeom>
          <a:solidFill>
            <a:srgbClr val="10243A"/>
          </a:solidFill>
          <a:ln w="13970">
            <a:solidFill>
              <a:srgbClr val="14B8A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
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Governed Bronze Layer - secure, incrementally loaded, source-aligned data.</a:t>
            </a:r>
            <a:endParaRPr lang="en-US" sz="133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1: Source to Bronze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778240" y="647395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Data Architecture Prototype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6366F1">
              <a:alpha val="92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Governed Bronze Layer Design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Bronze preserves raw history, protects sensitive data, and creates the traceable base for reprocessing.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21792" y="12435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BRONZE DATA CONTRACT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1572768"/>
            <a:ext cx="2788920" cy="4114800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14B8A6"/>
            </a:solidFill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Bronze record contains
</a:t>
            </a:r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source payload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source table/topic/file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source primary key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operation type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event time and ingest time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schema version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load id / batch id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lineage and audit ids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703320" y="3502152"/>
            <a:ext cx="548640" cy="0"/>
          </a:xfrm>
          <a:prstGeom prst="line">
            <a:avLst/>
          </a:prstGeom>
          <a:noFill/>
          <a:ln w="1524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343400" y="1572768"/>
            <a:ext cx="2971800" cy="713232"/>
          </a:xfrm>
          <a:prstGeom prst="roundRect">
            <a:avLst/>
          </a:prstGeom>
          <a:solidFill>
            <a:srgbClr val="0F172A"/>
          </a:solidFill>
          <a:ln w="13970">
            <a:solidFill>
              <a:srgbClr val="EF4444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Masking policy
</a:t>
            </a:r>
            <a:pPr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 PII and confidential attributes; apply role-aware masking.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43400" y="2596896"/>
            <a:ext cx="2971800" cy="713232"/>
          </a:xfrm>
          <a:prstGeom prst="roundRect">
            <a:avLst/>
          </a:prstGeom>
          <a:solidFill>
            <a:srgbClr val="0F172A"/>
          </a:solidFill>
          <a:ln w="13970">
            <a:solidFill>
              <a:srgbClr val="22D3E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Schema registry
</a:t>
            </a:r>
            <a:pPr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schema versions and source-to-Bronze compatibility.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343400" y="3621024"/>
            <a:ext cx="2971800" cy="713232"/>
          </a:xfrm>
          <a:prstGeom prst="roundRect">
            <a:avLst/>
          </a:prstGeom>
          <a:solidFill>
            <a:srgbClr val="0F172A"/>
          </a:solidFill>
          <a:ln w="13970">
            <a:solidFill>
              <a:srgbClr val="6366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Lineage log
</a:t>
            </a:r>
            <a:pPr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source, ingestion run, schema, and downstream dependencies.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343400" y="4645152"/>
            <a:ext cx="2971800" cy="713232"/>
          </a:xfrm>
          <a:prstGeom prst="roundRect">
            <a:avLst/>
          </a:prstGeom>
          <a:solidFill>
            <a:srgbClr val="0F172A"/>
          </a:solidFill>
          <a:ln w="13970">
            <a:solidFill>
              <a:srgbClr val="F59E0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Quarantine path
</a:t>
            </a:r>
            <a:pPr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malformed records and schema exceptions for investigation.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3502152"/>
            <a:ext cx="548640" cy="0"/>
          </a:xfrm>
          <a:prstGeom prst="line">
            <a:avLst/>
          </a:prstGeom>
          <a:noFill/>
          <a:ln w="15240">
            <a:solidFill>
              <a:srgbClr val="FACC15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229600" y="1572768"/>
            <a:ext cx="3063240" cy="4114800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FACC15"/>
            </a:solidFill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Bronze matters
</a:t>
            </a:r>
            <a:pPr indent="0" marL="0">
              <a:buNone/>
            </a:pPr>
            <a:r>
              <a:rPr lang="en-US" sz="111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Rebuild Silver and Gold when logic changes.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11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Trace every Gold metric back to source changes.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11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Audit who accessed raw or masked data.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11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Separate ingestion reliability from business transformation.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Bronze design principles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778240" y="647395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Data Architecture Prototype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6366F1">
              <a:alpha val="92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2 - Bronze to Silver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quality, cleansing, standardization, and historical modeling.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353312"/>
            <a:ext cx="1691640" cy="868680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14B8A6"/>
            </a:solidFill>
          </a:ln>
          <a:effectLst>
            <a:outerShdw sx="100000" sy="100000" kx="0" ky="0" algn="bl" rotWithShape="0" blurRad="12700" dist="12700" dir="2700000">
              <a:srgbClr val="000000">
                <a:alpha val="14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Bronze
</a:t>
            </a:r>
            <a:pPr algn="ctr" indent="0" marL="0">
              <a:buNone/>
            </a:pPr>
            <a:r>
              <a:rPr lang="en-US" sz="9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governed records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523744" y="1792224"/>
            <a:ext cx="502920" cy="0"/>
          </a:xfrm>
          <a:prstGeom prst="line">
            <a:avLst/>
          </a:prstGeom>
          <a:noFill/>
          <a:ln w="15875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090672" y="1353312"/>
            <a:ext cx="1783080" cy="868680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22C55E"/>
            </a:solidFill>
          </a:ln>
          <a:effectLst>
            <a:outerShdw sx="100000" sy="100000" kx="0" ky="0" algn="bl" rotWithShape="0" blurRad="12700" dist="12700" dir="2700000">
              <a:srgbClr val="000000">
                <a:alpha val="14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DQ Engine
</a:t>
            </a:r>
            <a:pPr algn="ctr" indent="0" marL="0">
              <a:buNone/>
            </a:pPr>
            <a:r>
              <a:rPr lang="en-US" sz="9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validation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74920" y="1792224"/>
            <a:ext cx="502920" cy="0"/>
          </a:xfrm>
          <a:prstGeom prst="line">
            <a:avLst/>
          </a:prstGeom>
          <a:noFill/>
          <a:ln w="15875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641848" y="1353312"/>
            <a:ext cx="1828800" cy="868680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22D3EE"/>
            </a:solidFill>
          </a:ln>
          <a:effectLst>
            <a:outerShdw sx="100000" sy="100000" kx="0" ky="0" algn="bl" rotWithShape="0" blurRad="12700" dist="12700" dir="2700000">
              <a:srgbClr val="000000">
                <a:alpha val="14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Standardize
</a:t>
            </a:r>
            <a:pPr algn="ctr" indent="0" marL="0">
              <a:buNone/>
            </a:pPr>
            <a:r>
              <a:rPr lang="en-US" sz="9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alignment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671816" y="1792224"/>
            <a:ext cx="502920" cy="0"/>
          </a:xfrm>
          <a:prstGeom prst="line">
            <a:avLst/>
          </a:prstGeom>
          <a:noFill/>
          <a:ln w="15875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238744" y="1353312"/>
            <a:ext cx="1783080" cy="868680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6366F1"/>
            </a:solidFill>
          </a:ln>
          <a:effectLst>
            <a:outerShdw sx="100000" sy="100000" kx="0" ky="0" algn="bl" rotWithShape="0" blurRad="12700" dist="12700" dir="2700000">
              <a:srgbClr val="000000">
                <a:alpha val="14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SCD Type 2
</a:t>
            </a:r>
            <a:pPr algn="ctr" indent="0" marL="0">
              <a:buNone/>
            </a:pPr>
            <a:r>
              <a:rPr lang="en-US" sz="9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 tracking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222992" y="1792224"/>
            <a:ext cx="502920" cy="0"/>
          </a:xfrm>
          <a:prstGeom prst="line">
            <a:avLst/>
          </a:prstGeom>
          <a:noFill/>
          <a:ln w="15875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0789920" y="1353312"/>
            <a:ext cx="868680" cy="868680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22C55E"/>
            </a:solidFill>
          </a:ln>
          <a:effectLst>
            <a:outerShdw sx="100000" sy="100000" kx="0" ky="0" algn="bl" rotWithShape="0" blurRad="12700" dist="12700" dir="2700000">
              <a:srgbClr val="000000">
                <a:alpha val="14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Silver
</a:t>
            </a:r>
            <a:pPr algn="ctr" indent="0" marL="0">
              <a:buNone/>
            </a:pPr>
            <a:r>
              <a:rPr lang="en-US" sz="9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26517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TRANSFORMATION LOGIC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0080" y="2971800"/>
            <a:ext cx="5074920" cy="804672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22D3E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Cleanse and normalize
</a:t>
            </a:r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 formats, remove technical noise, normalize dates, currencies, names, and codes.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2971800"/>
            <a:ext cx="5074920" cy="804672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EF444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Validate business rules
</a:t>
            </a:r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Impressions non-null and non-negative; cost non-negative; revenue non-null.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087368"/>
            <a:ext cx="5074920" cy="804672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6366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Align enterprise semantics
</a:t>
            </a:r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Product and Marketing concepts to a common enterprise/LCA data model.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4087368"/>
            <a:ext cx="5074920" cy="804672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F59E0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Score and route exceptions
</a:t>
            </a:r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DQ scoring, failure reason, quarantine, and remediation workflow.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559552"/>
            <a:ext cx="10927080" cy="493776"/>
          </a:xfrm>
          <a:prstGeom prst="roundRect">
            <a:avLst/>
          </a:prstGeom>
          <a:solidFill>
            <a:srgbClr val="102B22"/>
          </a:solidFill>
          <a:ln w="13970">
            <a:solidFill>
              <a:srgbClr val="22C55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
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 Silver Layer - clean, validated, standardized, business-aligned, and historically consistent data.</a:t>
            </a:r>
            <a:endParaRPr lang="en-US" sz="133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2: Bronze to Silver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778240" y="647395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Data Architecture Prototype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6366F1">
              <a:alpha val="92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Silver Governance Gate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stakeholders approve the trusted data model before it feeds Gold transformation.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2194560" cy="960120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22C55E"/>
            </a:solidFill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Silver Candidate
</a:t>
            </a:r>
            <a:pPr indent="0" marL="0">
              <a:buNone/>
            </a:pPr>
            <a:r>
              <a:rPr lang="en-US" sz="9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+ DQ results</a:t>
            </a:r>
            <a:endParaRPr lang="en-US" sz="1400" dirty="0"/>
          </a:p>
          <a:p>
            <a:pPr indent="0" marL="0">
              <a:buNone/>
            </a:pPr>
            <a:r>
              <a:rPr lang="en-US" sz="9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rules</a:t>
            </a:r>
            <a:endParaRPr lang="en-US" sz="1400" dirty="0"/>
          </a:p>
          <a:p>
            <a:pPr indent="0" marL="0">
              <a:buNone/>
            </a:pPr>
            <a:r>
              <a:rPr lang="en-US" sz="9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and lineage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35808" y="1828800"/>
            <a:ext cx="621792" cy="0"/>
          </a:xfrm>
          <a:prstGeom prst="line">
            <a:avLst/>
          </a:prstGeom>
          <a:noFill/>
          <a:ln w="1651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730752" y="1170432"/>
            <a:ext cx="2359152" cy="1298448"/>
          </a:xfrm>
          <a:prstGeom prst="roundRect">
            <a:avLst/>
          </a:prstGeom>
          <a:solidFill>
            <a:srgbClr val="0F172A"/>
          </a:solidFill>
          <a:ln w="13970">
            <a:solidFill>
              <a:srgbClr val="FACC15"/>
            </a:solidFill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Board
</a:t>
            </a:r>
            <a:pPr indent="0" marL="0">
              <a:buNone/>
            </a:pPr>
            <a:r>
              <a:rPr lang="en-US" sz="10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Data Stakeholders</a:t>
            </a:r>
            <a:endParaRPr lang="en-US" sz="1500" dirty="0"/>
          </a:p>
          <a:p>
            <a:pPr indent="0" marL="0">
              <a:buNone/>
            </a:pPr>
            <a:r>
              <a:rPr lang="en-US" sz="10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CDO</a:t>
            </a:r>
            <a:endParaRPr lang="en-US" sz="1500" dirty="0"/>
          </a:p>
          <a:p>
            <a:pPr indent="0" marL="0">
              <a:buNone/>
            </a:pPr>
            <a:r>
              <a:rPr lang="en-US" sz="10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Leadership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91072" y="1828800"/>
            <a:ext cx="621792" cy="0"/>
          </a:xfrm>
          <a:prstGeom prst="line">
            <a:avLst/>
          </a:prstGeom>
          <a:noFill/>
          <a:ln w="1651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986016" y="1170432"/>
            <a:ext cx="1691640" cy="1298448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22D3EE"/>
            </a:solidFill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
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or reject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feedback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887968" y="1828800"/>
            <a:ext cx="576072" cy="0"/>
          </a:xfrm>
          <a:prstGeom prst="line">
            <a:avLst/>
          </a:prstGeom>
          <a:noFill/>
          <a:ln w="1651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555480" y="1325880"/>
            <a:ext cx="1965960" cy="960120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FACC15"/>
            </a:solidFill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Gold Build
</a:t>
            </a:r>
            <a:pPr indent="0" marL="0">
              <a:buNone/>
            </a:pPr>
            <a:r>
              <a:rPr lang="en-US" sz="10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after explicit approval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818120" y="2706624"/>
            <a:ext cx="0" cy="1133856"/>
          </a:xfrm>
          <a:prstGeom prst="line">
            <a:avLst/>
          </a:prstGeom>
          <a:noFill/>
          <a:ln w="15240">
            <a:solidFill>
              <a:srgbClr val="EF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18120" y="3840480"/>
            <a:ext cx="-5943600" cy="0"/>
          </a:xfrm>
          <a:prstGeom prst="line">
            <a:avLst/>
          </a:prstGeom>
          <a:noFill/>
          <a:ln w="15240">
            <a:solidFill>
              <a:srgbClr val="EF444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874520" y="3840480"/>
            <a:ext cx="0" cy="-1307592"/>
          </a:xfrm>
          <a:prstGeom prst="line">
            <a:avLst/>
          </a:prstGeom>
          <a:noFill/>
          <a:ln w="1524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3291840"/>
            <a:ext cx="2743200" cy="1024128"/>
          </a:xfrm>
          <a:prstGeom prst="roundRect">
            <a:avLst/>
          </a:prstGeom>
          <a:solidFill>
            <a:srgbClr val="2A1320"/>
          </a:solidFill>
          <a:ln w="13970">
            <a:solidFill>
              <a:srgbClr val="EF444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Rework path
</a:t>
            </a:r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-&gt; data engineering remediation -&gt; re-validation -&gt; re-submission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47548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ACC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SCOPE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85800" y="5074920"/>
            <a:ext cx="1481328" cy="228600"/>
          </a:xfrm>
          <a:prstGeom prst="roundRect">
            <a:avLst/>
          </a:prstGeom>
          <a:solidFill>
            <a:srgbClr val="1E293B">
              <a:alpha val="95000"/>
            </a:srgbClr>
          </a:solidFill>
          <a:ln w="10160">
            <a:solidFill>
              <a:srgbClr val="FACC15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ACC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Silver schema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2496312" y="5074920"/>
            <a:ext cx="1481328" cy="228600"/>
          </a:xfrm>
          <a:prstGeom prst="roundRect">
            <a:avLst/>
          </a:prstGeom>
          <a:solidFill>
            <a:srgbClr val="1E293B">
              <a:alpha val="95000"/>
            </a:srgbClr>
          </a:solidFill>
          <a:ln w="10160">
            <a:solidFill>
              <a:srgbClr val="22D3EE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DQ scores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4306824" y="5074920"/>
            <a:ext cx="1481328" cy="228600"/>
          </a:xfrm>
          <a:prstGeom prst="roundRect">
            <a:avLst/>
          </a:prstGeom>
          <a:solidFill>
            <a:srgbClr val="1E293B">
              <a:alpha val="95000"/>
            </a:srgbClr>
          </a:solidFill>
          <a:ln w="10160">
            <a:solidFill>
              <a:srgbClr val="FACC15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ACC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rules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6117336" y="5074920"/>
            <a:ext cx="1481328" cy="228600"/>
          </a:xfrm>
          <a:prstGeom prst="roundRect">
            <a:avLst/>
          </a:prstGeom>
          <a:solidFill>
            <a:srgbClr val="1E293B">
              <a:alpha val="95000"/>
            </a:srgbClr>
          </a:solidFill>
          <a:ln w="10160">
            <a:solidFill>
              <a:srgbClr val="22D3EE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alignment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7927848" y="5074920"/>
            <a:ext cx="1481328" cy="228600"/>
          </a:xfrm>
          <a:prstGeom prst="roundRect">
            <a:avLst/>
          </a:prstGeom>
          <a:solidFill>
            <a:srgbClr val="1E293B">
              <a:alpha val="95000"/>
            </a:srgbClr>
          </a:solidFill>
          <a:ln w="10160">
            <a:solidFill>
              <a:srgbClr val="FACC15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ACC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SCD2 behavior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9738360" y="5074920"/>
            <a:ext cx="1481328" cy="228600"/>
          </a:xfrm>
          <a:prstGeom prst="roundRect">
            <a:avLst/>
          </a:prstGeom>
          <a:solidFill>
            <a:srgbClr val="1E293B">
              <a:alpha val="95000"/>
            </a:srgbClr>
          </a:solidFill>
          <a:ln w="10160">
            <a:solidFill>
              <a:srgbClr val="22D3EE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lineage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685800" y="5596128"/>
            <a:ext cx="10835640" cy="411480"/>
          </a:xfrm>
          <a:prstGeom prst="roundRect">
            <a:avLst/>
          </a:prstGeom>
          <a:solidFill>
            <a:srgbClr val="0F172A"/>
          </a:solidFill>
          <a:ln w="13970">
            <a:solidFill>
              <a:srgbClr val="22C55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Gate purpose
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Prevent untrusted, incomplete, or incorrectly standardized data from becoming official Gold products.</a:t>
            </a:r>
            <a:endParaRPr lang="en-US" sz="128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Silver approval and governance gate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778240" y="647395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Data Architecture Prototype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6366F1">
              <a:alpha val="92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3 - Silver to Gold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AI/ML-optimized data products and governed Gold serving.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21792" y="1225296"/>
            <a:ext cx="2743200" cy="950976"/>
          </a:xfrm>
          <a:prstGeom prst="roundRect">
            <a:avLst/>
          </a:prstGeom>
          <a:solidFill>
            <a:srgbClr val="0F172A"/>
          </a:solidFill>
          <a:ln w="13970">
            <a:solidFill>
              <a:srgbClr val="FACC15"/>
            </a:solidFill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
</a:t>
            </a:r>
            <a:pPr indent="0" marL="0">
              <a:buNone/>
            </a:pPr>
            <a:r>
              <a:rPr lang="en-US" sz="10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 approved Silver into consumption-ready data products for Product ROI, Marketing Analytics, BI, and AI/ML execution.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39312" y="1719072"/>
            <a:ext cx="521208" cy="0"/>
          </a:xfrm>
          <a:prstGeom prst="line">
            <a:avLst/>
          </a:prstGeom>
          <a:noFill/>
          <a:ln w="15240">
            <a:solidFill>
              <a:srgbClr val="FACC15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233672" y="1225296"/>
            <a:ext cx="1920240" cy="950976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F59E0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Logic
</a:t>
            </a:r>
            <a:pPr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measures</a:t>
            </a:r>
            <a:endParaRPr lang="en-US" sz="1350" dirty="0"/>
          </a:p>
          <a:p>
            <a:pPr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attributes</a:t>
            </a:r>
            <a:endParaRPr lang="en-US" sz="1350" dirty="0"/>
          </a:p>
          <a:p>
            <a:pPr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derived metrics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55080" y="1719072"/>
            <a:ext cx="521208" cy="0"/>
          </a:xfrm>
          <a:prstGeom prst="line">
            <a:avLst/>
          </a:prstGeom>
          <a:noFill/>
          <a:ln w="15240">
            <a:solidFill>
              <a:srgbClr val="FACC15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949440" y="1225296"/>
            <a:ext cx="1920240" cy="950976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A855F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AI/ML Prep
</a:t>
            </a:r>
            <a:pPr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</a:t>
            </a:r>
            <a:endParaRPr lang="en-US" sz="1350" dirty="0"/>
          </a:p>
          <a:p>
            <a:pPr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labels</a:t>
            </a:r>
            <a:endParaRPr lang="en-US" sz="1350" dirty="0"/>
          </a:p>
          <a:p>
            <a:pPr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alignment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070848" y="1719072"/>
            <a:ext cx="521208" cy="0"/>
          </a:xfrm>
          <a:prstGeom prst="line">
            <a:avLst/>
          </a:prstGeom>
          <a:noFill/>
          <a:ln w="15240">
            <a:solidFill>
              <a:srgbClr val="FACC15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665208" y="1225296"/>
            <a:ext cx="1783080" cy="950976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FACC1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Gold Product
</a:t>
            </a:r>
            <a:pPr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</a:t>
            </a:r>
            <a:endParaRPr lang="en-US" sz="1350" dirty="0"/>
          </a:p>
          <a:p>
            <a:pPr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</a:t>
            </a:r>
            <a:endParaRPr lang="en-US" sz="1350" dirty="0"/>
          </a:p>
          <a:p>
            <a:pPr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serve-ready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8368" y="26974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ACC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 CAPABILITIES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58368" y="3063240"/>
            <a:ext cx="2423160" cy="1170432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FACC1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ROI modeling datasets
</a:t>
            </a:r>
            <a:pPr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Business-level metrics, spend/revenue views, and product impact data.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3401568" y="3063240"/>
            <a:ext cx="2423160" cy="1170432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22D3E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Marketing analytics
</a:t>
            </a:r>
            <a:pPr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Campaign, channel, product, geography, and time-based aggregations.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6144768" y="3063240"/>
            <a:ext cx="2423160" cy="1170432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A855F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AI/ML feature layer
</a:t>
            </a:r>
            <a:pPr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Feature-ready inputs with traceability, quality status, and version control.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8887968" y="3063240"/>
            <a:ext cx="2423160" cy="1170432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22C55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Optimized serving
</a:t>
            </a:r>
            <a:pPr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 schemas designed for BI, applications, model training, and inference.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658368" y="4892040"/>
            <a:ext cx="10789920" cy="713232"/>
          </a:xfrm>
          <a:prstGeom prst="roundRect">
            <a:avLst/>
          </a:prstGeom>
          <a:solidFill>
            <a:srgbClr val="2B260A"/>
          </a:solidFill>
          <a:ln w="13970">
            <a:solidFill>
              <a:srgbClr val="FACC15"/>
            </a:solidFill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Approved Gold Serving Layer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governed consumption layer for downstream Product, Marketing, Analytics, BI, and AI/ML teams.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3: Silver to Gold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778240" y="647395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Data Architecture Prototype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6366F1">
              <a:alpha val="92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Gold Governance and Approval Loop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 does not become a serving product until business and product stakeholders approve it.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624328" y="1828800"/>
            <a:ext cx="265176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919472" y="1828800"/>
            <a:ext cx="265176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214616" y="1828800"/>
            <a:ext cx="265176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509760" y="1828800"/>
            <a:ext cx="265176" cy="0"/>
          </a:xfrm>
          <a:prstGeom prst="line">
            <a:avLst/>
          </a:prstGeom>
          <a:noFill/>
          <a:ln w="15875">
            <a:solidFill>
              <a:srgbClr val="FACC15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85800" y="1417320"/>
            <a:ext cx="1874520" cy="822960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22C55E"/>
            </a:solidFill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Approved Silver
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 input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80944" y="1417320"/>
            <a:ext cx="1874520" cy="822960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22D3EE"/>
            </a:solidFill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Transformation
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+ AI logic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76088" y="1417320"/>
            <a:ext cx="1874520" cy="822960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FACC15"/>
            </a:solidFill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Gold Candidate
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+ metrics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571232" y="1417320"/>
            <a:ext cx="1874520" cy="822960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6366F1"/>
            </a:solidFill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Stakeholder Review
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CDO + Product + Senior Data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66376" y="1417320"/>
            <a:ext cx="1874520" cy="822960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FACC15"/>
            </a:solidFill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Approved Gold
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serving-ready product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01000" y="2496312"/>
            <a:ext cx="0" cy="1389888"/>
          </a:xfrm>
          <a:prstGeom prst="line">
            <a:avLst/>
          </a:prstGeom>
          <a:noFill/>
          <a:ln w="15240">
            <a:solidFill>
              <a:srgbClr val="EF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3886200"/>
            <a:ext cx="-5257800" cy="0"/>
          </a:xfrm>
          <a:prstGeom prst="line">
            <a:avLst/>
          </a:prstGeom>
          <a:noFill/>
          <a:ln w="15240">
            <a:solidFill>
              <a:srgbClr val="EF444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743200" y="3886200"/>
            <a:ext cx="0" cy="-1399032"/>
          </a:xfrm>
          <a:prstGeom prst="line">
            <a:avLst/>
          </a:prstGeom>
          <a:noFill/>
          <a:ln w="1524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6200" y="3246120"/>
            <a:ext cx="3154680" cy="960120"/>
          </a:xfrm>
          <a:prstGeom prst="roundRect">
            <a:avLst/>
          </a:prstGeom>
          <a:solidFill>
            <a:srgbClr val="2A1320"/>
          </a:solidFill>
          <a:ln w="13970">
            <a:solidFill>
              <a:srgbClr val="EF444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If rejected or more data is needed
</a:t>
            </a:r>
            <a:pPr indent="0" marL="0">
              <a:buNone/>
            </a:pPr>
            <a:r>
              <a:rPr lang="en-US" sz="99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-&gt; data engineering transformation -&gt; re-validation -&gt; re-submission -&gt; approval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749808" y="4773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ACC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 EVIDENCE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49808" y="5102352"/>
            <a:ext cx="2971800" cy="228600"/>
          </a:xfrm>
          <a:prstGeom prst="roundRect">
            <a:avLst/>
          </a:prstGeom>
          <a:solidFill>
            <a:srgbClr val="1E293B">
              <a:alpha val="95000"/>
            </a:srgbClr>
          </a:solidFill>
          <a:ln w="10160">
            <a:solidFill>
              <a:srgbClr val="FACC15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ACC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contract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4361688" y="5102352"/>
            <a:ext cx="2971800" cy="228600"/>
          </a:xfrm>
          <a:prstGeom prst="roundRect">
            <a:avLst/>
          </a:prstGeom>
          <a:solidFill>
            <a:srgbClr val="1E293B">
              <a:alpha val="95000"/>
            </a:srgbClr>
          </a:solidFill>
          <a:ln w="10160">
            <a:solidFill>
              <a:srgbClr val="22C55E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definitions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7973568" y="5102352"/>
            <a:ext cx="2971800" cy="228600"/>
          </a:xfrm>
          <a:prstGeom prst="roundRect">
            <a:avLst/>
          </a:prstGeom>
          <a:solidFill>
            <a:srgbClr val="1E293B">
              <a:alpha val="95000"/>
            </a:srgbClr>
          </a:solidFill>
          <a:ln w="10160">
            <a:solidFill>
              <a:srgbClr val="22D3EE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DQ score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749808" y="5522976"/>
            <a:ext cx="2971800" cy="228600"/>
          </a:xfrm>
          <a:prstGeom prst="roundRect">
            <a:avLst/>
          </a:prstGeom>
          <a:solidFill>
            <a:srgbClr val="1E293B">
              <a:alpha val="95000"/>
            </a:srgbClr>
          </a:solidFill>
          <a:ln w="10160">
            <a:solidFill>
              <a:srgbClr val="6366F1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366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lineage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4361688" y="5522976"/>
            <a:ext cx="2971800" cy="228600"/>
          </a:xfrm>
          <a:prstGeom prst="roundRect">
            <a:avLst/>
          </a:prstGeom>
          <a:solidFill>
            <a:srgbClr val="1E293B">
              <a:alpha val="95000"/>
            </a:srgbClr>
          </a:solidFill>
          <a:ln w="10160">
            <a:solidFill>
              <a:srgbClr val="A855F7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A855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id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7973568" y="5522976"/>
            <a:ext cx="2971800" cy="228600"/>
          </a:xfrm>
          <a:prstGeom prst="roundRect">
            <a:avLst/>
          </a:prstGeom>
          <a:solidFill>
            <a:srgbClr val="1E293B">
              <a:alpha val="95000"/>
            </a:srgbClr>
          </a:solidFill>
          <a:ln w="10160">
            <a:solidFill>
              <a:srgbClr val="F59E0B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 and SLA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 approval loop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778240" y="647395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Data Architecture Prototype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6366F1">
              <a:alpha val="92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Cross-Cutting Governance Control Plane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is not a separate final step; it is applied continuously across Source, Bronze, Silver, and Gold.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886200" y="2240280"/>
            <a:ext cx="4389120" cy="1097280"/>
          </a:xfrm>
          <a:prstGeom prst="roundRect">
            <a:avLst/>
          </a:prstGeom>
          <a:solidFill>
            <a:srgbClr val="0F172A"/>
          </a:solidFill>
          <a:ln w="13970">
            <a:solidFill>
              <a:srgbClr val="6366F1"/>
            </a:solidFill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Continuous Governance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+ quality + lineage + access + audit + approval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58368" y="1508760"/>
            <a:ext cx="1874520" cy="603504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EF4444"/>
            </a:solidFill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Security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2880360" y="1243584"/>
            <a:ext cx="1874520" cy="603504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22C55E"/>
            </a:solidFill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Quality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138928" y="1170432"/>
            <a:ext cx="1874520" cy="603504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22D3EE"/>
            </a:solidFill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Metadata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7360920" y="1243584"/>
            <a:ext cx="1874520" cy="603504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6366F1"/>
            </a:solidFill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Lineage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9555480" y="1508760"/>
            <a:ext cx="1874520" cy="603504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F59E0B"/>
            </a:solidFill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Schema Governance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658368" y="4828032"/>
            <a:ext cx="1874520" cy="603504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A855F7"/>
            </a:solidFill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Access Control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2880360" y="5175504"/>
            <a:ext cx="1874520" cy="603504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FACC15"/>
            </a:solidFill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Auditability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5138928" y="5266944"/>
            <a:ext cx="1874520" cy="603504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14B8A6"/>
            </a:solidFill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Monitoring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7360920" y="5175504"/>
            <a:ext cx="1874520" cy="603504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3B82F6"/>
            </a:solidFill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Approval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9555480" y="4828032"/>
            <a:ext cx="1874520" cy="603504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EF4444"/>
            </a:solidFill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Masking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658368" y="5989320"/>
            <a:ext cx="10835640" cy="402336"/>
          </a:xfrm>
          <a:prstGeom prst="roundRect">
            <a:avLst/>
          </a:prstGeom>
          <a:solidFill>
            <a:srgbClr val="0F172A"/>
          </a:solidFill>
          <a:ln w="13970">
            <a:solidFill>
              <a:srgbClr val="22D3E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Governance principle
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should prove where data came from, how it changed, who approved it, who can access it, and whether it is fit for use.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Cross-cutting governance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778240" y="647395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Data Architecture Prototype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6366F1">
              <a:alpha val="92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AWS-Compatible Reference Implementation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practical way to implement the governed streaming platform on AWS.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011680" cy="566928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3B82F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Sources</a:t>
            </a:r>
            <a:endParaRPr lang="en-US" sz="1260" dirty="0"/>
          </a:p>
        </p:txBody>
      </p:sp>
      <p:sp>
        <p:nvSpPr>
          <p:cNvPr id="7" name="Text 5"/>
          <p:cNvSpPr/>
          <p:nvPr/>
        </p:nvSpPr>
        <p:spPr>
          <a:xfrm>
            <a:off x="3017520" y="1170432"/>
            <a:ext cx="8183880" cy="566928"/>
          </a:xfrm>
          <a:prstGeom prst="roundRect">
            <a:avLst/>
          </a:prstGeom>
          <a:solidFill>
            <a:srgbClr val="0F172A"/>
          </a:solidFill>
          <a:ln w="13970">
            <a:solidFill>
              <a:srgbClr val="334155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CBD5E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Databases, SaaS, operational apps, events, files</a:t>
            </a:r>
            <a:endParaRPr lang="en-US" sz="1170" dirty="0"/>
          </a:p>
        </p:txBody>
      </p:sp>
      <p:sp>
        <p:nvSpPr>
          <p:cNvPr id="8" name="Text 6"/>
          <p:cNvSpPr/>
          <p:nvPr/>
        </p:nvSpPr>
        <p:spPr>
          <a:xfrm>
            <a:off x="685800" y="1865376"/>
            <a:ext cx="2011680" cy="566928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22D3E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Ingestion</a:t>
            </a:r>
            <a:endParaRPr lang="en-US" sz="1260" dirty="0"/>
          </a:p>
        </p:txBody>
      </p:sp>
      <p:sp>
        <p:nvSpPr>
          <p:cNvPr id="9" name="Text 7"/>
          <p:cNvSpPr/>
          <p:nvPr/>
        </p:nvSpPr>
        <p:spPr>
          <a:xfrm>
            <a:off x="3017520" y="1865376"/>
            <a:ext cx="8183880" cy="566928"/>
          </a:xfrm>
          <a:prstGeom prst="roundRect">
            <a:avLst/>
          </a:prstGeom>
          <a:solidFill>
            <a:srgbClr val="0F172A"/>
          </a:solidFill>
          <a:ln w="13970">
            <a:solidFill>
              <a:srgbClr val="334155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CBD5E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AWS DMS / MSK / Kinesis / S3 landing</a:t>
            </a:r>
            <a:endParaRPr lang="en-US" sz="1170" dirty="0"/>
          </a:p>
        </p:txBody>
      </p:sp>
      <p:sp>
        <p:nvSpPr>
          <p:cNvPr id="10" name="Text 8"/>
          <p:cNvSpPr/>
          <p:nvPr/>
        </p:nvSpPr>
        <p:spPr>
          <a:xfrm>
            <a:off x="685800" y="2560320"/>
            <a:ext cx="2011680" cy="566928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6366F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Orchestration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3017520" y="2560320"/>
            <a:ext cx="8183880" cy="566928"/>
          </a:xfrm>
          <a:prstGeom prst="roundRect">
            <a:avLst/>
          </a:prstGeom>
          <a:solidFill>
            <a:srgbClr val="0F172A"/>
          </a:solidFill>
          <a:ln w="13970">
            <a:solidFill>
              <a:srgbClr val="334155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CBD5E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Functions, MWAA/Airflow, EventBridge</a:t>
            </a:r>
            <a:endParaRPr lang="en-US" sz="1170" dirty="0"/>
          </a:p>
        </p:txBody>
      </p:sp>
      <p:sp>
        <p:nvSpPr>
          <p:cNvPr id="12" name="Text 10"/>
          <p:cNvSpPr/>
          <p:nvPr/>
        </p:nvSpPr>
        <p:spPr>
          <a:xfrm>
            <a:off x="685800" y="3255264"/>
            <a:ext cx="2011680" cy="566928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22C55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Processing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3017520" y="3255264"/>
            <a:ext cx="8183880" cy="566928"/>
          </a:xfrm>
          <a:prstGeom prst="roundRect">
            <a:avLst/>
          </a:prstGeom>
          <a:solidFill>
            <a:srgbClr val="0F172A"/>
          </a:solidFill>
          <a:ln w="13970">
            <a:solidFill>
              <a:srgbClr val="334155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CBD5E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Databricks on AWS or AWS Glue Spark</a:t>
            </a:r>
            <a:endParaRPr lang="en-US" sz="1170" dirty="0"/>
          </a:p>
        </p:txBody>
      </p:sp>
      <p:sp>
        <p:nvSpPr>
          <p:cNvPr id="14" name="Text 12"/>
          <p:cNvSpPr/>
          <p:nvPr/>
        </p:nvSpPr>
        <p:spPr>
          <a:xfrm>
            <a:off x="685800" y="3950208"/>
            <a:ext cx="2011680" cy="566928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14B8A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Lakehouse Storage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3017520" y="3950208"/>
            <a:ext cx="8183880" cy="566928"/>
          </a:xfrm>
          <a:prstGeom prst="roundRect">
            <a:avLst/>
          </a:prstGeom>
          <a:solidFill>
            <a:srgbClr val="0F172A"/>
          </a:solidFill>
          <a:ln w="13970">
            <a:solidFill>
              <a:srgbClr val="334155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CBD5E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S3 with Delta/Iceberg-style table layers: Bronze, Silver, Gold</a:t>
            </a:r>
            <a:endParaRPr lang="en-US" sz="1170" dirty="0"/>
          </a:p>
        </p:txBody>
      </p:sp>
      <p:sp>
        <p:nvSpPr>
          <p:cNvPr id="16" name="Text 14"/>
          <p:cNvSpPr/>
          <p:nvPr/>
        </p:nvSpPr>
        <p:spPr>
          <a:xfrm>
            <a:off x="685800" y="4645152"/>
            <a:ext cx="2011680" cy="566928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FACC15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Governance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3017520" y="4645152"/>
            <a:ext cx="8183880" cy="566928"/>
          </a:xfrm>
          <a:prstGeom prst="roundRect">
            <a:avLst/>
          </a:prstGeom>
          <a:solidFill>
            <a:srgbClr val="0F172A"/>
          </a:solidFill>
          <a:ln w="13970">
            <a:solidFill>
              <a:srgbClr val="334155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CBD5E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Glue Data Catalog, Lake Formation, IAM, KMS, Secrets Manager</a:t>
            </a:r>
            <a:endParaRPr lang="en-US" sz="1170" dirty="0"/>
          </a:p>
        </p:txBody>
      </p:sp>
      <p:sp>
        <p:nvSpPr>
          <p:cNvPr id="18" name="Text 16"/>
          <p:cNvSpPr/>
          <p:nvPr/>
        </p:nvSpPr>
        <p:spPr>
          <a:xfrm>
            <a:off x="685800" y="5340096"/>
            <a:ext cx="2011680" cy="566928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A855F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Serving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3017520" y="5340096"/>
            <a:ext cx="8183880" cy="566928"/>
          </a:xfrm>
          <a:prstGeom prst="roundRect">
            <a:avLst/>
          </a:prstGeom>
          <a:solidFill>
            <a:srgbClr val="0F172A"/>
          </a:solidFill>
          <a:ln w="13970">
            <a:solidFill>
              <a:srgbClr val="334155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CBD5E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Athena, Redshift, BI, feature store, ML pipelines, product APIs</a:t>
            </a:r>
            <a:endParaRPr lang="en-US" sz="1170" dirty="0"/>
          </a:p>
        </p:txBody>
      </p:sp>
      <p:sp>
        <p:nvSpPr>
          <p:cNvPr id="20" name="Text 18"/>
          <p:cNvSpPr/>
          <p:nvPr/>
        </p:nvSpPr>
        <p:spPr>
          <a:xfrm>
            <a:off x="713232" y="6135624"/>
            <a:ext cx="1965960" cy="329184"/>
          </a:xfrm>
          <a:prstGeom prst="roundRect">
            <a:avLst/>
          </a:prstGeom>
          <a:solidFill>
            <a:srgbClr val="10243A"/>
          </a:solidFill>
          <a:ln w="13970">
            <a:solidFill>
              <a:srgbClr val="22D3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Event-driven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852928" y="6135624"/>
            <a:ext cx="1965960" cy="329184"/>
          </a:xfrm>
          <a:prstGeom prst="roundRect">
            <a:avLst/>
          </a:prstGeom>
          <a:solidFill>
            <a:srgbClr val="102B22"/>
          </a:solidFill>
          <a:ln w="13970">
            <a:solidFill>
              <a:srgbClr val="22C55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Governed layers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4992624" y="6135624"/>
            <a:ext cx="1965960" cy="329184"/>
          </a:xfrm>
          <a:prstGeom prst="roundRect">
            <a:avLst/>
          </a:prstGeom>
          <a:solidFill>
            <a:srgbClr val="2A1320"/>
          </a:solidFill>
          <a:ln w="13970">
            <a:solidFill>
              <a:srgbClr val="EF444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Explicit approval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7132320" y="6135624"/>
            <a:ext cx="1965960" cy="329184"/>
          </a:xfrm>
          <a:prstGeom prst="roundRect">
            <a:avLst/>
          </a:prstGeom>
          <a:solidFill>
            <a:srgbClr val="271B42"/>
          </a:solidFill>
          <a:ln w="13970">
            <a:solidFill>
              <a:srgbClr val="A855F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AI/ML ready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9272016" y="6135624"/>
            <a:ext cx="1965960" cy="329184"/>
          </a:xfrm>
          <a:prstGeom prst="roundRect">
            <a:avLst/>
          </a:prstGeom>
          <a:solidFill>
            <a:srgbClr val="2B260A"/>
          </a:solidFill>
          <a:ln w="13970">
            <a:solidFill>
              <a:srgbClr val="FACC1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Traceable Gold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reference blueprint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778240" y="647395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Data Architecture Prototype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6366F1">
              <a:alpha val="92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Roadmap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the platform as vertical slices so governance and data engineering mature together.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2121408" cy="3337560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3B82F6"/>
            </a:solidFill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 Foundation
</a:t>
            </a:r>
            <a:pPr indent="0" marL="0">
              <a:buNone/>
            </a:pPr>
            <a:r>
              <a:rPr lang="en-US" sz="10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IaC, S3/lakehouse zones, catalog, IAM/KMS, audit baseline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734056" y="3086100"/>
            <a:ext cx="54864" cy="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862072" y="1417320"/>
            <a:ext cx="2121408" cy="3337560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14B8A6"/>
            </a:solidFill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 Source to Bronze
</a:t>
            </a:r>
            <a:pPr indent="0" marL="0">
              <a:buNone/>
            </a:pPr>
            <a:r>
              <a:rPr lang="en-US" sz="10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CDC/stream ingestion, schema capture, masking, lineage, monitoring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01768" y="3086100"/>
            <a:ext cx="54864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129784" y="1417320"/>
            <a:ext cx="2121408" cy="3337560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22C55E"/>
            </a:solidFill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 Bronze to Silver
</a:t>
            </a:r>
            <a:pPr indent="0" marL="0">
              <a:buNone/>
            </a:pPr>
            <a:r>
              <a:rPr lang="en-US" sz="10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DQ rules, cleansing, standardization, SCD2, exception handling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269480" y="3086100"/>
            <a:ext cx="54864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397496" y="1417320"/>
            <a:ext cx="2121408" cy="3337560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FACC15"/>
            </a:solidFill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 Silver to Gold
</a:t>
            </a:r>
            <a:pPr indent="0" marL="0">
              <a:buNone/>
            </a:pPr>
            <a:r>
              <a:rPr lang="en-US" sz="10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ROI models, AI features, aggregations, Gold schema optimization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537192" y="3086100"/>
            <a:ext cx="54864" cy="0"/>
          </a:xfrm>
          <a:prstGeom prst="line">
            <a:avLst/>
          </a:prstGeom>
          <a:noFill/>
          <a:ln w="12700">
            <a:solidFill>
              <a:srgbClr val="FACC15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665208" y="1417320"/>
            <a:ext cx="2121408" cy="3337560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A855F7"/>
            </a:solidFill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 Governed Serving
</a:t>
            </a:r>
            <a:pPr indent="0" marL="0">
              <a:buNone/>
            </a:pPr>
            <a:r>
              <a:rPr lang="en-US" sz="10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approvals, publication, data product versioning, BI/AI access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85800" y="52578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ACC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CRITERIA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85800" y="5559552"/>
            <a:ext cx="10744200" cy="530352"/>
          </a:xfrm>
          <a:prstGeom prst="roundRect">
            <a:avLst/>
          </a:prstGeom>
          <a:solidFill>
            <a:srgbClr val="0F172A"/>
          </a:solidFill>
          <a:ln w="13970">
            <a:solidFill>
              <a:srgbClr val="FACC1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First production-grade milestone
</a:t>
            </a:r>
            <a:pPr indent="0" marL="0">
              <a:buNone/>
            </a:pPr>
            <a:r>
              <a:rPr lang="en-US" sz="10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source change is captured once, written to governed Bronze, validated into Silver, transformed into a versioned Gold product, explicitly approved, and served with lineage.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roadmap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778240" y="647395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Data Architecture Prototype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6366F1">
              <a:alpha val="92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Architecture Decisions to Confirm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these as CTO/CDO discussion points before implementation begins.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1234440"/>
            <a:ext cx="5166360" cy="749808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22D3EE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 strategy
</a:t>
            </a:r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systems need CDC, streaming, batch files, or API ingestion?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6190488" y="1234440"/>
            <a:ext cx="5166360" cy="749808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22C55E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Platform choice
</a:t>
            </a:r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Databricks on AWS, AWS Glue, or hybrid processing?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658368" y="2304288"/>
            <a:ext cx="5166360" cy="749808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FACC15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Storage format
</a:t>
            </a:r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Delta, Iceberg, or platform-standard lakehouse table format?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6190488" y="2304288"/>
            <a:ext cx="5166360" cy="749808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6366F1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contracts
</a:t>
            </a:r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Canonical schema, required fields, ownership, and versioning rules?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658368" y="3374136"/>
            <a:ext cx="5166360" cy="749808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EF4444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Governance model
</a:t>
            </a:r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Masking policies, approval owners, audit requirements, access rules?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6190488" y="3374136"/>
            <a:ext cx="5166360" cy="749808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14B8A6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Gold product grain
</a:t>
            </a:r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row-level grain and metric contract for each Gold product?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58368" y="4443984"/>
            <a:ext cx="5166360" cy="749808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A855F7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AI/ML alignment
</a:t>
            </a:r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features, labels, data freshness, and serving patterns are required?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6190488" y="4443984"/>
            <a:ext cx="5166360" cy="749808"/>
          </a:xfrm>
          <a:prstGeom prst="roundRect">
            <a:avLst/>
          </a:prstGeom>
          <a:solidFill>
            <a:srgbClr val="172033"/>
          </a:solidFill>
          <a:ln w="13970">
            <a:solidFill>
              <a:srgbClr val="F59E0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Operating model
</a:t>
            </a:r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owns failures, reprocessing, remediation, releases, and SLAs?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10698480" cy="475488"/>
          </a:xfrm>
          <a:prstGeom prst="roundRect">
            <a:avLst/>
          </a:prstGeom>
          <a:solidFill>
            <a:srgbClr val="0F172A"/>
          </a:solidFill>
          <a:ln w="13970">
            <a:solidFill>
              <a:srgbClr val="22D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Meeting close
</a:t>
            </a:r>
            <a:pPr indent="0" marL="0">
              <a:buNone/>
            </a:pPr>
            <a:r>
              <a:rPr lang="en-US" sz="10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for one real source example, one expected Silver model, and one target Gold product contract to use as the build reference.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decisions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778240" y="647395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Data Architecture Prototype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Data Platform Prototype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Data Architecture - Governed Source-to-Gold Streaming and AI Data Platform</dc:title>
  <dc:subject>Enterprise Data Architecture - Governed Source-to-Gold Streaming and AI Data Platform</dc:subject>
  <dc:creator>OpenAI</dc:creator>
  <cp:lastModifiedBy>OpenAI</cp:lastModifiedBy>
  <cp:revision>1</cp:revision>
  <dcterms:created xsi:type="dcterms:W3CDTF">2026-08-08T19:46:14Z</dcterms:created>
  <dcterms:modified xsi:type="dcterms:W3CDTF">2026-08-08T19:46:14Z</dcterms:modified>
</cp:coreProperties>
</file>