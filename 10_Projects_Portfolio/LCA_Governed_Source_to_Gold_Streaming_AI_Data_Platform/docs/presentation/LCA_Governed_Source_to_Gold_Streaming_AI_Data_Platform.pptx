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e97b9780484b19" /><Relationship Type="http://schemas.openxmlformats.org/officeDocument/2006/relationships/extended-properties" Target="/docProps/app.xml" Id="Rfdb5145d26af4065" /><Relationship Type="http://schemas.openxmlformats.org/officeDocument/2006/relationships/officeDocument" Target="/ppt/presentation.xml" Id="Rc686da7dec6a44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55a01b446f4b55"/>
  </p:sldMasterIdLst>
  <p:notesMasterIdLst>
    <p:notesMasterId xmlns:r="http://schemas.openxmlformats.org/officeDocument/2006/relationships" r:id="R88f4ee609993419e"/>
  </p:notesMasterIdLst>
  <p:sldIdLst>
    <p:sldId xmlns:r="http://schemas.openxmlformats.org/officeDocument/2006/relationships" id="256" r:id="Rc0a17eb0fae648ce"/>
    <p:sldId xmlns:r="http://schemas.openxmlformats.org/officeDocument/2006/relationships" id="257" r:id="R94925b23c5404ed6"/>
    <p:sldId xmlns:r="http://schemas.openxmlformats.org/officeDocument/2006/relationships" id="258" r:id="R8f094b2832724f19"/>
    <p:sldId xmlns:r="http://schemas.openxmlformats.org/officeDocument/2006/relationships" id="259" r:id="Re0c77066e32e438a"/>
    <p:sldId xmlns:r="http://schemas.openxmlformats.org/officeDocument/2006/relationships" id="260" r:id="R5471261e64ef46d9"/>
    <p:sldId xmlns:r="http://schemas.openxmlformats.org/officeDocument/2006/relationships" id="261" r:id="Ra3a9f7be01db4c5f"/>
    <p:sldId xmlns:r="http://schemas.openxmlformats.org/officeDocument/2006/relationships" id="262" r:id="R41a55be143f04095"/>
    <p:sldId xmlns:r="http://schemas.openxmlformats.org/officeDocument/2006/relationships" id="263" r:id="R5986c31cf3d7498d"/>
    <p:sldId xmlns:r="http://schemas.openxmlformats.org/officeDocument/2006/relationships" id="264" r:id="Rf3bd45e0c7ae4c4b"/>
    <p:sldId xmlns:r="http://schemas.openxmlformats.org/officeDocument/2006/relationships" id="265" r:id="R55c913f62ed84b8c"/>
    <p:sldId xmlns:r="http://schemas.openxmlformats.org/officeDocument/2006/relationships" id="266" r:id="R2bd9d796fc574636"/>
    <p:sldId xmlns:r="http://schemas.openxmlformats.org/officeDocument/2006/relationships" id="267" r:id="R8f94bc70276c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d50109187a4a96" /><Relationship Type="http://schemas.openxmlformats.org/officeDocument/2006/relationships/slideMaster" Target="/ppt/slideMasters/slideMaster1.xml" Id="R3d55a01b446f4b55" /><Relationship Type="http://schemas.openxmlformats.org/officeDocument/2006/relationships/notesMaster" Target="/ppt/notesMasters/notesMaster1.xml" Id="R88f4ee609993419e" /><Relationship Type="http://schemas.openxmlformats.org/officeDocument/2006/relationships/presProps" Target="/ppt/presProps.xml" Id="R66f5ffba74504bbc" /><Relationship Type="http://schemas.openxmlformats.org/officeDocument/2006/relationships/tableStyles" Target="/ppt/tableStyles.xml" Id="R05375a621904435d" /><Relationship Type="http://schemas.openxmlformats.org/officeDocument/2006/relationships/slide" Target="/ppt/slides/slide1.xml" Id="Rc0a17eb0fae648ce" /><Relationship Type="http://schemas.openxmlformats.org/officeDocument/2006/relationships/slide" Target="/ppt/slides/slide2.xml" Id="R94925b23c5404ed6" /><Relationship Type="http://schemas.openxmlformats.org/officeDocument/2006/relationships/slide" Target="/ppt/slides/slide3.xml" Id="R8f094b2832724f19" /><Relationship Type="http://schemas.openxmlformats.org/officeDocument/2006/relationships/slide" Target="/ppt/slides/slide4.xml" Id="Re0c77066e32e438a" /><Relationship Type="http://schemas.openxmlformats.org/officeDocument/2006/relationships/slide" Target="/ppt/slides/slide5.xml" Id="R5471261e64ef46d9" /><Relationship Type="http://schemas.openxmlformats.org/officeDocument/2006/relationships/slide" Target="/ppt/slides/slide6.xml" Id="Ra3a9f7be01db4c5f" /><Relationship Type="http://schemas.openxmlformats.org/officeDocument/2006/relationships/slide" Target="/ppt/slides/slide7.xml" Id="R41a55be143f04095" /><Relationship Type="http://schemas.openxmlformats.org/officeDocument/2006/relationships/slide" Target="/ppt/slides/slide8.xml" Id="R5986c31cf3d7498d" /><Relationship Type="http://schemas.openxmlformats.org/officeDocument/2006/relationships/slide" Target="/ppt/slides/slide9.xml" Id="Rf3bd45e0c7ae4c4b" /><Relationship Type="http://schemas.openxmlformats.org/officeDocument/2006/relationships/slide" Target="/ppt/slides/slide10.xml" Id="R55c913f62ed84b8c" /><Relationship Type="http://schemas.openxmlformats.org/officeDocument/2006/relationships/slide" Target="/ppt/slides/slide11.xml" Id="R2bd9d796fc574636" /><Relationship Type="http://schemas.openxmlformats.org/officeDocument/2006/relationships/slide" Target="/ppt/slides/slide12.xml" Id="R8f94bc70276c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453ed7a8e4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d69aa1bc34aaf" /><Relationship Type="http://schemas.openxmlformats.org/officeDocument/2006/relationships/notesMaster" Target="/ppt/notesMasters/notesMaster1.xml" Id="R1614ed49850844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afba4182d24512" /><Relationship Type="http://schemas.openxmlformats.org/officeDocument/2006/relationships/notesMaster" Target="/ppt/notesMasters/notesMaster1.xml" Id="R78d0d460cf0f41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dbd648cb564c5e" /><Relationship Type="http://schemas.openxmlformats.org/officeDocument/2006/relationships/notesMaster" Target="/ppt/notesMasters/notesMaster1.xml" Id="Rdeb07e30f35e46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fcbb013db54e37" /><Relationship Type="http://schemas.openxmlformats.org/officeDocument/2006/relationships/notesMaster" Target="/ppt/notesMasters/notesMaster1.xml" Id="Rc1375ca8d5c847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093e7d3179485a" /><Relationship Type="http://schemas.openxmlformats.org/officeDocument/2006/relationships/notesMaster" Target="/ppt/notesMasters/notesMaster1.xml" Id="R0977db323d474d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f30ff3a214311" /><Relationship Type="http://schemas.openxmlformats.org/officeDocument/2006/relationships/notesMaster" Target="/ppt/notesMasters/notesMaster1.xml" Id="R86ca750ac22247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54659d574547e8" /><Relationship Type="http://schemas.openxmlformats.org/officeDocument/2006/relationships/notesMaster" Target="/ppt/notesMasters/notesMaster1.xml" Id="R7347008f9e3249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a1643f04854f4b" /><Relationship Type="http://schemas.openxmlformats.org/officeDocument/2006/relationships/notesMaster" Target="/ppt/notesMasters/notesMaster1.xml" Id="R3dc9c5169e504b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9152817cff4541" /><Relationship Type="http://schemas.openxmlformats.org/officeDocument/2006/relationships/notesMaster" Target="/ppt/notesMasters/notesMaster1.xml" Id="R6a696ef9d3f548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192929279744d3" /><Relationship Type="http://schemas.openxmlformats.org/officeDocument/2006/relationships/notesMaster" Target="/ppt/notesMasters/notesMaster1.xml" Id="R6dc3ea1680f64e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6a063f93604323" /><Relationship Type="http://schemas.openxmlformats.org/officeDocument/2006/relationships/notesMaster" Target="/ppt/notesMasters/notesMaster1.xml" Id="R18022a73c3564b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688a5814204838" /><Relationship Type="http://schemas.openxmlformats.org/officeDocument/2006/relationships/notesMaster" Target="/ppt/notesMasters/notesMaster1.xml" Id="Rced39ed5eebb4e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claims; architecture proposal by Paresh Ranjan Rout.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https://docs.aws.amazon.com/wellarchitected/latest/analytics-lens/modern-data-architecture.html</a:t>
            </a:r>
          </a:p>
          <a:p xmlns:a="http://schemas.openxmlformats.org/drawingml/2006/main">
            <a:r>
              <a:t>- https://docs.aws.amazon.com/wellarchitected/latest/analytics-lens/characteristics-1.html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https://docs.aws.amazon.com/wellarchitected/latest/analytics-lens/analytics-lens.html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claims; architecture proposal by Paresh Ranjan Rout.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https://docs.aws.amazon.com/pdfs/decision-guides/latest/fargate-or-lambda/fargate-or-lambda.pdf</a:t>
            </a:r>
          </a:p>
          <a:p xmlns:a="http://schemas.openxmlformats.org/drawingml/2006/main">
            <a:r>
              <a:t>- https://docs.aws.amazon.com/streams/latest/dev/key-concepts.html</a:t>
            </a:r>
          </a:p>
          <a:p xmlns:a="http://schemas.openxmlformats.org/drawingml/2006/main">
            <a:r>
              <a:t>- https://docs.aws.amazon.com/glue/latest/dg/schema-registry.html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https://docs.aws.amazon.com/streams/latest/dev/key-concepts.html</a:t>
            </a:r>
          </a:p>
          <a:p xmlns:a="http://schemas.openxmlformats.org/drawingml/2006/main">
            <a:r>
              <a:t>- https://docs.aws.amazon.com/AWSSimpleQueueService/latest/SQSDeveloperGuide/sqs-queue-types.html</a:t>
            </a:r>
          </a:p>
          <a:p xmlns:a="http://schemas.openxmlformats.org/drawingml/2006/main">
            <a:r>
              <a:t>- https://docs.aws.amazon.com/glue/latest/dg/schema-registry.html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https://docs.aws.amazon.com/streams/latest/dev/key-concepts.html</a:t>
            </a:r>
          </a:p>
          <a:p xmlns:a="http://schemas.openxmlformats.org/drawingml/2006/main">
            <a:r>
              <a:t>- https://docs.aws.amazon.com/AWSSimpleQueueService/latest/SQSDeveloperGuide/sqs-dead-letter-queues.html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https://docs.aws.amazon.com/lake-formation/latest/dg/lf-permissions-overview.html</a:t>
            </a:r>
          </a:p>
          <a:p xmlns:a="http://schemas.openxmlformats.org/drawingml/2006/main">
            <a:r>
              <a:t>- https://docs.aws.amazon.com/lake-formation/latest/dg/permissions-reference.html</a:t>
            </a:r>
          </a:p>
          <a:p xmlns:a="http://schemas.openxmlformats.org/drawingml/2006/main">
            <a:r>
              <a:t>- https://docs.aws.amazon.com/wellarchitected/latest/analytics-lens/characteristics-1.html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claims; architecture proposal by Paresh Ranjan Rout.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claims; architecture proposal by Paresh Ranjan Rout.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claims; architecture proposal by Paresh Ranjan Rout.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claims; architecture proposal by Paresh Ranjan Rout.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d0911b05d4c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31ce57bfe42e2" /><Relationship Type="http://schemas.openxmlformats.org/officeDocument/2006/relationships/slideLayout" Target="/ppt/slideLayouts/slideLayout1.xml" Id="Rdeaa1a1880724d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aa1a1880724d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89ab600454aa5" /><Relationship Type="http://schemas.openxmlformats.org/officeDocument/2006/relationships/notesSlide" Target="/ppt/notesSlides/notesSlide1.xml" Id="R59fc76bc3b32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c2293fef5402c" /><Relationship Type="http://schemas.openxmlformats.org/officeDocument/2006/relationships/notesSlide" Target="/ppt/notesSlides/notesSlide2.xml" Id="R2f171a662dd64c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1d16ab7e3441c" /><Relationship Type="http://schemas.openxmlformats.org/officeDocument/2006/relationships/notesSlide" Target="/ppt/notesSlides/notesSlide3.xml" Id="Raca0e110657e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aab85bb894f9d" /><Relationship Type="http://schemas.openxmlformats.org/officeDocument/2006/relationships/notesSlide" Target="/ppt/notesSlides/notesSlide4.xml" Id="Rc13e939dd68747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091097de142d4" /><Relationship Type="http://schemas.openxmlformats.org/officeDocument/2006/relationships/notesSlide" Target="/ppt/notesSlides/notesSlide5.xml" Id="R90f87c6b4d2147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2f2a7c32b49cc" /><Relationship Type="http://schemas.openxmlformats.org/officeDocument/2006/relationships/notesSlide" Target="/ppt/notesSlides/notesSlide6.xml" Id="R6fcd86a75ca84b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5fbbeb89b44ce" /><Relationship Type="http://schemas.openxmlformats.org/officeDocument/2006/relationships/notesSlide" Target="/ppt/notesSlides/notesSlide7.xml" Id="R08f081b4ed5d48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e10298a6a4abe" /><Relationship Type="http://schemas.openxmlformats.org/officeDocument/2006/relationships/notesSlide" Target="/ppt/notesSlides/notesSlide8.xml" Id="Rddf8da3cf9c244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61a93ce1344e3" /><Relationship Type="http://schemas.openxmlformats.org/officeDocument/2006/relationships/notesSlide" Target="/ppt/notesSlides/notesSlide9.xml" Id="R0b3f8b263e6745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d3ebb630d41c1" /><Relationship Type="http://schemas.openxmlformats.org/officeDocument/2006/relationships/notesSlide" Target="/ppt/notesSlides/notesSlide10.xml" Id="R7bd32420ebcf4a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9890a7c5b40ea" /><Relationship Type="http://schemas.openxmlformats.org/officeDocument/2006/relationships/notesSlide" Target="/ppt/notesSlides/notesSlide11.xml" Id="Rdcdf686aaddc44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66ce4ecb845fe" /><Relationship Type="http://schemas.openxmlformats.org/officeDocument/2006/relationships/notesSlide" Target="/ppt/notesSlides/notesSlide12.xml" Id="R8742f519ab5f46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95B97-CF11-4742-8C31-368E5047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C57BF-3586-47D1-AC8B-CD39869A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9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9900"/>
                </a:solidFill>
                <a:latin typeface="Aptos"/>
                <a:ea typeface="Aptos"/>
                <a:cs typeface="Aptos"/>
              </a:rPr>
              <a:t>LCA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A7895704-01DA-4776-BB87-D990DD6C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47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Governed Source-to-Gold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Streaming &amp; AI Data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05C81-7788-4323-9F41-DC69CA15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8D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8C8D3"/>
                </a:solidFill>
                <a:latin typeface="Aptos"/>
                <a:ea typeface="Aptos"/>
                <a:cs typeface="Aptos"/>
              </a:rPr>
              <a:t>A three-phase AWS architecture that makes real-time data reliable, trustworthy and safe for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48D14-E77C-4DE8-93D9-04C0D14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A"/>
          </a:solidFill>
          <a:ln xmlns:a="http://schemas.openxmlformats.org/drawingml/2006/main" w="9525">
            <a:solidFill>
              <a:srgbClr val="2946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1897E-15AB-4926-98FD-F35FC7A9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5B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FA5B5"/>
                </a:solidFill>
                <a:latin typeface="Aptos"/>
                <a:ea typeface="Aptos"/>
                <a:cs typeface="Aptos"/>
              </a:rPr>
              <a:t>Architecture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9B9DD-6B34-45BD-B7E2-BF97A968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Paresh Ranjan Rout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6CC80-6180-4985-8FAF-A2F88DB1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D0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D08A"/>
                </a:solidFill>
                <a:latin typeface="Aptos"/>
                <a:ea typeface="Aptos"/>
                <a:cs typeface="Aptos"/>
              </a:rPr>
              <a:t>Phase 1 baseline  |  10 August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797F1-E566-4D74-943B-402E26DD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A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AC7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217FC-6140-400D-8757-93E91159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A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A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8811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4C7CB0-D9FD-46F0-813D-B00D850B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The company problem is pipeline fragmentation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A5DF5-DB28-42E1-972F-C5A8C6E3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A38CF-9C80-44E7-BC58-B1FE958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Every source becomes a new reliability and governance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665FB-8001-43BB-A684-C98EE62A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5D72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01564-01EA-4635-A7E3-3E62E4B4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4787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85C92-C95E-4224-82AE-736E367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Market feed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7D059-A284-47DC-8593-7426D4C6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09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DE1E6"/>
          </a:solidFill>
          <a:ln xmlns:a="http://schemas.openxmlformats.org/drawingml/2006/main" w="9525">
            <a:solidFill>
              <a:srgbClr val="F3AAB5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Custom pipeline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C9FD3-E707-4C8C-A798-D787A21E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4797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289B2-47CB-4BB1-BF12-6C72D5F7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Customer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A7734-EE89-4722-984D-37F40D71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209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DE1E6"/>
          </a:solidFill>
          <a:ln xmlns:a="http://schemas.openxmlformats.org/drawingml/2006/main" w="9525">
            <a:solidFill>
              <a:srgbClr val="F3AAB5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Custom pipeline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93F7-BDD9-46CA-8244-2D9FED32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4807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8DD6A-FC30-4E6F-BB10-13F97D85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Application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E5F66-73F2-453D-9CAA-4466FEC9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209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DE1E6"/>
          </a:solidFill>
          <a:ln xmlns:a="http://schemas.openxmlformats.org/drawingml/2006/main" w="9525">
            <a:solidFill>
              <a:srgbClr val="F3AAB5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Custom pipeline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50B36-A121-4878-86D5-6D3F371B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4817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12108-BA1F-4E24-AD07-91597D38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Partner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37CC2-EC2C-4931-85C9-A29408F0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24350"/>
            <a:ext cx="209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DE1E6"/>
          </a:solidFill>
          <a:ln xmlns:a="http://schemas.openxmlformats.org/drawingml/2006/main" w="9525">
            <a:solidFill>
              <a:srgbClr val="F3AAB5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Custom pipeline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B3786-CEE6-409C-BD8B-410F5EF7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Duplicated retries · inconsistent schemas · unclear lineage · slow onboarding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CCABC-16E7-40CF-9530-1658021B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7E884-150A-4F4E-A684-6DA1FBD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90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9F2E8"/>
          </a:solidFill>
          <a:ln xmlns:a="http://schemas.openxmlformats.org/drawingml/2006/main" w="9525">
            <a:solidFill>
              <a:srgbClr val="18BFA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9655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Reusable adapters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6B1DD-AABE-4BD0-B510-C8ACF467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3619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8BFA3"/>
          </a:solidFill>
          <a:ln xmlns:a="http://schemas.openxmlformats.org/drawingml/2006/main" w="0">
            <a:solidFill>
              <a:srgbClr val="18BFA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8DFE8-2EE9-46E7-B94C-91128142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667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93C"/>
          </a:solidFill>
          <a:ln xmlns:a="http://schemas.openxmlformats.org/drawingml/2006/main" w="9525">
            <a:solidFill>
              <a:srgbClr val="1029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9716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Governed streaming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BB95F-0919-4F18-93D1-7351A04B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3619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8BFA3"/>
          </a:solidFill>
          <a:ln xmlns:a="http://schemas.openxmlformats.org/drawingml/2006/main" w="0">
            <a:solidFill>
              <a:srgbClr val="18BFA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1081B-D07B-4131-92D9-EF51BF98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190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7E6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8245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Trusted data products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C10F2-28C7-49D8-AACD-2A0030D7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816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0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Build the platform once; onboard sources through contracts.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C3008-0C9D-4AE7-9712-A5264301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590925-6DC3-4DC2-8D79-22AC00CC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8702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9F2FE6-B261-4754-8C66-1C9EE496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3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One backbone turns source diversity into trusted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A2AA2-3A4D-48C2-8784-2C706AB2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A6E24-B286-4EE4-8B74-5D8C7F77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Stable interfaces decouple producers from every downstream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5C0E8-B8CD-459F-A6EE-5D825D6F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813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2A6B3-9DC5-4BDD-BBD6-58291179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9E432-1044-4889-9298-E1A40419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BFA3"/>
          </a:solidFill>
          <a:ln xmlns:a="http://schemas.openxmlformats.org/drawingml/2006/main" w="0">
            <a:solidFill>
              <a:srgbClr val="18BFA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5202E-6827-4E31-8A1F-464EC3F5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BFA3"/>
          </a:solidFill>
          <a:ln xmlns:a="http://schemas.openxmlformats.org/drawingml/2006/main" w="0">
            <a:solidFill>
              <a:srgbClr val="18BFA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406B9-E36B-4149-B00E-9C8D7EBE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1809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Sources</a:t>
            </a:r>
          </a:p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APIs · apps · IoT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41260-17CA-4B3E-8495-7930173A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33625"/>
            <a:ext cx="1809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D08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Contract</a:t>
            </a:r>
          </a:p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identity · time · 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53725-B648-43C1-9C44-234C26E1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809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93C"/>
          </a:solidFill>
          <a:ln xmlns:a="http://schemas.openxmlformats.org/drawingml/2006/main" w="9525">
            <a:solidFill>
              <a:srgbClr val="1029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Stream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ordered · retained · replayable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4582F-2F14-445C-BD00-814EA5CD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33625"/>
            <a:ext cx="1809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C9F2E8"/>
          </a:solidFill>
          <a:ln xmlns:a="http://schemas.openxmlformats.org/drawingml/2006/main" w="9525">
            <a:solidFill>
              <a:srgbClr val="18BF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Trust</a:t>
            </a:r>
          </a:p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Bronze · Silver · Gold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3414F-2DDC-4DA9-9311-CF7FABA8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7E6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Value</a:t>
            </a:r>
          </a:p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BI · APIs · ML ·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0521F-438C-4579-A0EA-9F6DC3B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F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89600-8271-4159-9298-2C2818B6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EB6AC-6F93-47BE-97AA-19185A36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8DB79-9A27-43FC-B1E9-93E55B59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10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6B158-786C-4717-BA6D-32271AAF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45F5E-F736-459D-BBA4-2F351577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01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06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Cost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FD457-F248-48DC-926A-507BB06F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Cross-cutting from day one—not retrofitted after data reaches analytics.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969C5-BDF2-4CEF-8856-74BBCF44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0891D-635D-4DA4-9BEA-C2A5CA16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5143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71D7C4-40AD-4707-B485-F949A14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Three gates move data from reliable to trusted to useful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C9BD3-5815-4C7F-B84C-E7717B17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D8029-82D5-413D-9DB9-A0147CB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Implementation advances only when measurable evidence passes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1757B-75EF-49AE-87C5-28F9EADC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0512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07486"/>
          </a:solidFill>
          <a:ln xmlns:a="http://schemas.openxmlformats.org/drawingml/2006/main" w="0">
            <a:solidFill>
              <a:srgbClr val="60748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7CD56-EBBC-435D-A45C-B0B67F79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0512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07486"/>
          </a:solidFill>
          <a:ln xmlns:a="http://schemas.openxmlformats.org/drawingml/2006/main" w="0">
            <a:solidFill>
              <a:srgbClr val="6074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1828-9614-4ABB-A334-42831100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190875" cy="352425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D08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EC73D-B90D-4EE3-8D47-8B7E552F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9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9900"/>
                </a:solidFill>
                <a:latin typeface="Aptos"/>
                <a:ea typeface="Aptos"/>
                <a:cs typeface="Aptos"/>
              </a:rPr>
              <a:t>PHASE 1 — ACTIVE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73C63-8BFB-4FA5-B2FC-F7A4A640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Source → Stream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E0FD2-1C2E-46E7-8D89-EDD735FF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9087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Fargate · Schema Registry · Kinesis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B427B-7538-4ABB-9770-2E3F8A85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733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8367F-07E8-4F76-A60F-FDE36538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Prove reconnect, retry, replay and accountability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9AB49-E0FB-4F22-A53C-0300E5AE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90700"/>
            <a:ext cx="3190875" cy="352425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C9F2E8"/>
          </a:solidFill>
          <a:ln xmlns:a="http://schemas.openxmlformats.org/drawingml/2006/main" w="9525">
            <a:solidFill>
              <a:srgbClr val="18BF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D1CE7-FCCD-4CF7-B42D-90BDB2C9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574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BFA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BFA3"/>
                </a:solidFill>
                <a:latin typeface="Aptos"/>
                <a:ea typeface="Aptos"/>
                <a:cs typeface="Aptos"/>
              </a:rPr>
              <a:t>PHASE 2 — 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9F75C-1121-4F10-9813-60F999A7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527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Bronze → Silver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EFD35-B62B-4262-970E-398E5003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9087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Firehose · S3 · Glue · Iceberg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97A3D-A432-4747-9934-FB265716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81450"/>
            <a:ext cx="2733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FA3"/>
          </a:solidFill>
          <a:ln xmlns:a="http://schemas.openxmlformats.org/drawingml/2006/main" w="9525">
            <a:solidFill>
              <a:srgbClr val="18BFA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23571-AC5B-4488-BEC6-AD3FD372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672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Prove reconciliation, quality and reproducibility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7CC00-F0C2-41CE-ADA5-C236187A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190875" cy="352425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D7E6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6E370-AF47-4392-81C6-2457DAC1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PHASE 3 —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90CC8-07CF-4930-A0A7-B855C27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Silver → Gold →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05273-2491-4FA6-92B0-12C72732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dbt · Athena · Redshift · Bedrock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C9F4B-100E-48E3-A987-7B59643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2733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CE801-8816-45AE-8A65-A80A53C6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Prove metric ownership, access and 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8771D-4CC8-4B25-A8DD-8F2A0028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93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93C"/>
                </a:solidFill>
                <a:latin typeface="Aptos"/>
                <a:ea typeface="Aptos"/>
                <a:cs typeface="Aptos"/>
              </a:rPr>
              <a:t>Governance and architecture decisions span all three phases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9D5C8-3FCB-4F9B-87C9-B45D165D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72DDC-8CA2-498D-B08B-3DB16932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4688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71858A-3506-487F-A920-CF0F8EB2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Phase 1 proves a governed source-to-stream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FA989-B704-453D-BE85-A6768657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D2D0A-7960-4E92-A3EF-A8BD29B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The happy path stays simple; every failure has an owned destination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AB5C8-08BD-470E-8B8F-1C39E51A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003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D57E7-0404-4C11-8750-A99088A5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BAE4F-D52D-4E3B-A8DC-B1B112DA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003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D6B55-7BE2-4394-AF3B-6880246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53D73-A2A7-406E-98A6-13CE4E4F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952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Market WebSocket</a:t>
            </a:r>
          </a:p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or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CDF81-ABE5-4A9F-A689-1E7E7263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1952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08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ECS Fargate</a:t>
            </a:r>
          </a:p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source adapter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A2E87-1481-4041-9405-FEC717EF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1952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9F2E8"/>
          </a:solidFill>
          <a:ln xmlns:a="http://schemas.openxmlformats.org/drawingml/2006/main" w="9525">
            <a:solidFill>
              <a:srgbClr val="18BF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Canonical contract</a:t>
            </a:r>
          </a:p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Schema Registry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082AE-B7C6-4B0B-9BE8-F63FE205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00250"/>
            <a:ext cx="1952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93C"/>
          </a:solidFill>
          <a:ln xmlns:a="http://schemas.openxmlformats.org/drawingml/2006/main" w="9525">
            <a:solidFill>
              <a:srgbClr val="1029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Kinesis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Data Streams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C7B06-9331-4928-BEA5-9427C8E6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00250"/>
            <a:ext cx="1381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E6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Independent</a:t>
            </a:r>
          </a:p>
          <a:p xmlns:a="http://schemas.openxmlformats.org/drawingml/2006/main">
            <a:pPr algn="ctr">
              <a:defRPr sz="142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consumers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D4AD9-EB80-4A2F-8E57-D03FC803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3048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09698-6E76-4053-954D-DE94189A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3048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4A563-AAAF-417D-BFE8-1B0EA84E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62375"/>
            <a:ext cx="2286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DE1E6"/>
          </a:solidFill>
          <a:ln xmlns:a="http://schemas.openxmlformats.org/drawingml/2006/main" w="9525">
            <a:solidFill>
              <a:srgbClr val="E95D72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S3 quarantine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invalid contracts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B8268-8440-452F-804A-3884495D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62375"/>
            <a:ext cx="2286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DE1E6"/>
          </a:solidFill>
          <a:ln xmlns:a="http://schemas.openxmlformats.org/drawingml/2006/main" w="9525">
            <a:solidFill>
              <a:srgbClr val="E95D72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SQS DLQ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retry exhausted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03F6E-CB51-4C4F-B5E5-090FCFF4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62375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DynamoDB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checkpoints · idempotency ·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5A9A3-F504-4201-B4DB-5932B173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3BD3C-8913-4B3E-A0F0-A97B913D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673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IAM task roles   ·   Secrets Manager   ·   KMS   ·   CloudWatch   ·   CloudTrail   ·   Terraform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B278D-9BB6-4D6E-8273-DCB8A527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05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99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9900"/>
                </a:solidFill>
                <a:latin typeface="Aptos"/>
                <a:ea typeface="Aptos"/>
                <a:cs typeface="Aptos"/>
              </a:rPr>
              <a:t>DynamoDB is control state—not the default event queue.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224EC-95F1-4234-9E58-29E72C4F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8DE4A-DE00-44A6-8682-17AFA38C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5942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470850-9A5B-40E9-9729-7C3D2853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Service selection follows workload behavior—not fashion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61D45-732C-4D2F-B08C-41725EF0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9003B-1748-46A7-BC54-F36CE53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Each decision includes a rejected alternative and a measurable revisit trigger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D6170-BE61-4673-95CA-C1918738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930C6-A4A6-4E1E-8C79-B3E07F2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SELECTED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3B714-45F9-4322-9213-DA94F91F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76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NOT DEFAULT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9E38D-99D4-4886-A520-B2A49640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763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DECISION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8C600-E8EA-420B-BF62-2D1D523F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B0FAA-5087-40C3-86A3-61B27C00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Long-lived connection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EE41A-2536-4FBD-AA2E-823BFAAD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ECS Fargate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4B66A-486C-4B77-8851-4A3C9AAE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193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5D72"/>
                </a:solidFill>
                <a:latin typeface="Aptos"/>
                <a:ea typeface="Aptos"/>
                <a:cs typeface="Aptos"/>
              </a:rPr>
              <a:t>Lambda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4B1C3-F964-4734-BA97-493BF242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335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Persistent runtime; revisit for bounded events or organization-wide EKS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361E4-C23B-427D-8F7D-876C87D8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63BA6-605A-47BB-88CB-D2BD3AB1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5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Replayable ordered stream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D9C07-F7C6-449F-8D55-67A664EF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Kinesis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A3EEB-62EB-4B6C-B483-E78ED803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5D72"/>
                </a:solidFill>
                <a:latin typeface="Aptos"/>
                <a:ea typeface="Aptos"/>
                <a:cs typeface="Aptos"/>
              </a:rPr>
              <a:t>SQS / EventBridge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48B57-02AC-47FA-A7E3-97CA4875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Multiple consumers and retention; revisit for Kafka ecosystem demand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103C2-E4C9-4EAD-B6FC-20BE6073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07E86-484D-4D81-8681-E7961B22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Delivery 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465CC-98A9-4CA3-A8DB-A57D0C40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SQS DLQ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FCC6C-AA78-4EDD-98D9-FED0F07E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5D72"/>
                </a:solidFill>
                <a:latin typeface="Aptos"/>
                <a:ea typeface="Aptos"/>
                <a:cs typeface="Aptos"/>
              </a:rPr>
              <a:t>DynamoDB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5E43C-29EE-4D5D-B782-B18A6835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147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Purpose-built redrive; keep DynamoDB for queryable control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A5D52-2F27-463C-9D34-9CA5DED2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1101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E2205-CB7A-4D24-B0C3-226371BA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Schema governance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61991-C16D-4559-A249-66D87C9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Glue Schema Registry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4AF8F-712B-44EE-A31C-07326246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911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5D72"/>
                </a:solidFill>
                <a:latin typeface="Aptos"/>
                <a:ea typeface="Aptos"/>
                <a:cs typeface="Aptos"/>
              </a:rPr>
              <a:t>App-only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261E2A-D834-4BA6-BAA6-3FC61539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Compatibility policy and versioned contract; Git remains source of truth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BBF7F3-E87B-4BDE-BB82-626F72B5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93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93C"/>
                </a:solidFill>
                <a:latin typeface="Aptos"/>
                <a:ea typeface="Aptos"/>
                <a:cs typeface="Aptos"/>
              </a:rPr>
              <a:t>Architecture rule: every material choice gets an ADR, evidence and a revisit trigger.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F69E2C-9D0D-4EBC-B0EF-CEAF6ECC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E07CB-BE5E-4A8B-9211-06DC43F8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5907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20B6E9-3653-4618-870E-1C715417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Reliability means every accepted event has an explainable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E139D-50C8-4D4E-B897-9601E5A4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29957-E35A-4406-864D-6681FE92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At-least-once delivery plus idempotency replaces unrealistic exactly-once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0EFE9-5759-4E59-92FC-5D0A5DF1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717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1D0E5-5D29-45B8-BABE-86E5BA0F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717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2AA37-D4AE-49E0-AA91-69FB164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717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50D1A-60D1-4A1F-B8E3-983CAE81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RECEIVED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944C9-13EC-4753-95C1-CFBCD20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050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08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6DC40-5499-4605-BF19-5708EE63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050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C9F2E8"/>
          </a:solidFill>
          <a:ln xmlns:a="http://schemas.openxmlformats.org/drawingml/2006/main" w="9525">
            <a:solidFill>
              <a:srgbClr val="18BFA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ACKNOWLEDGED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CC057-0C76-44E9-94BA-827994F3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7E6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CONSUMABLE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B33B7-C753-4A56-9368-15DE0C16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5D72"/>
                </a:solidFill>
                <a:latin typeface="Aptos"/>
                <a:ea typeface="Aptos"/>
                <a:cs typeface="Aptos"/>
              </a:rPr>
              <a:t>EXCEPTION OWNERSHIP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DFBAB-1AAA-4F29-88C4-1AA42379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Invalid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E10D4-5BC2-4C31-A09B-060C6A7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480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F32AC-726C-4615-B624-7DA84DB1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004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5D72"/>
                </a:solidFill>
                <a:latin typeface="Aptos"/>
                <a:ea typeface="Aptos"/>
                <a:cs typeface="Aptos"/>
              </a:rPr>
              <a:t>S3 quarantine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9840E-226A-4276-93C5-C331414D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Steward fixes or rejects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2402F-FFC2-47D8-9B63-7763C3D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Delivery exhausted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69F49-D5C3-48DD-BD87-21D16981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0052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77D5C-0B6A-4693-8427-F3EBF30A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529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5D72"/>
                </a:solidFill>
                <a:latin typeface="Aptos"/>
                <a:ea typeface="Aptos"/>
                <a:cs typeface="Aptos"/>
              </a:rPr>
              <a:t>SQS DLQ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A50D2-EB1A-43FC-A871-F4B78993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Operator investigates and redrives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10CE0-05F1-4938-93CE-A897AAEB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Duplicate event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B16F6-F1BC-4AC6-91B5-82B91965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529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45C5E-83D8-4698-A258-701DE5A9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053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5D72"/>
                </a:solidFill>
                <a:latin typeface="Aptos"/>
                <a:ea typeface="Aptos"/>
                <a:cs typeface="Aptos"/>
              </a:rPr>
              <a:t>Silver idempotency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C6214-D782-46E1-A8BE-4E51C8A8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One deterministic business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ED27EA-C11A-4D41-A79E-79BE2FB7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Source gap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CBB7EE-B47B-4508-ABBB-246A7734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0542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5D72"/>
          </a:solidFill>
          <a:ln xmlns:a="http://schemas.openxmlformats.org/drawingml/2006/main" w="0">
            <a:solidFill>
              <a:srgbClr val="E95D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7F3572-8286-4F8A-9A2D-45448CD3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578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5D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5D72"/>
                </a:solidFill>
                <a:latin typeface="Aptos"/>
                <a:ea typeface="Aptos"/>
                <a:cs typeface="Aptos"/>
              </a:rPr>
              <a:t>Checkpoint + gap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E2E96-6888-4CE0-A09E-286FC3CE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Recover if source permits replay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E41CC5-7C1F-4814-8593-B854F38C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1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F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07C1AE-D440-44E9-93AE-764A63C8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04837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93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93C"/>
                </a:solidFill>
                <a:latin typeface="Aptos"/>
                <a:ea typeface="Aptos"/>
                <a:cs typeface="Aptos"/>
              </a:rPr>
              <a:t>Reconciliation is the proof: received = accepted + rejected; accepted = acknowledged + retry/DLQ.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A9D694-84B0-403F-BF32-2CD64F2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BBEF18-A48C-46D2-A8B3-512D1275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3127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FA85B8-9297-43F9-B414-ABAD1D8E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Governance is embedded across the data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0B12C-B3F4-4B0B-BB93-540919C6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4F146-9981-4CC1-AE47-1E98F301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Policy, identity and evidence travel with the data—not behind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87CE4-65C1-4E21-9288-D0F217E6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1790700" cy="40957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B1D27-F1A6-43AF-86CC-AF4B77C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4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D0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D08A"/>
                </a:solidFill>
                <a:latin typeface="Aptos"/>
                <a:ea typeface="Aptos"/>
                <a:cs typeface="Aptos"/>
              </a:rPr>
              <a:t>CROSS-CUTTING</a:t>
            </a:r>
          </a:p>
          <a:p xmlns:a="http://schemas.openxmlformats.org/drawingml/2006/main">
            <a:pPr algn="ctr">
              <a:defRPr sz="1350" b="1">
                <a:solidFill>
                  <a:srgbClr val="FFD0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D08A"/>
                </a:solidFill>
                <a:latin typeface="Aptos"/>
                <a:ea typeface="Aptos"/>
                <a:cs typeface="Aptos"/>
              </a:rPr>
              <a:t>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54D2B-0540-4DD2-8109-F5ABF44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19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IAM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KMS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Secrets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CloudTrail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Catalog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Lineage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Budgets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0A3B5-E536-4F25-985B-956865A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57350"/>
            <a:ext cx="8667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D08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E6A9F-D32A-44EF-83A4-CCF285E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954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C032F-F01E-42D4-8515-376B0131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38325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Owner · contract · classification</a:t>
            </a:r>
          </a:p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Task role · schema compatibility</a:t>
            </a:r>
          </a:p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Quarantine · audit · unit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AE0B8-3F2A-45F6-895A-0B514830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8667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C9F2E8"/>
          </a:solidFill>
          <a:ln xmlns:a="http://schemas.openxmlformats.org/drawingml/2006/main" w="9525">
            <a:solidFill>
              <a:srgbClr val="18BF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DCFCA-B23D-4CD2-B931-BBE2839C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051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BRONZE / SILVER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317C2-0746-4771-A1F7-FDB83996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48025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Immutable raw history · retention</a:t>
            </a:r>
          </a:p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Quality · deduplication · lineage</a:t>
            </a:r>
          </a:p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Lake Formation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3D6AD-B0E2-40FB-B708-4F2788B3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76750"/>
            <a:ext cx="8667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7E6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ABF37-B765-4EA8-915F-F9DFB027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148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GOLD /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D8017-5F43-469F-8BC1-25EE59DA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57725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Business metric approval</a:t>
            </a:r>
          </a:p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Purpose-limited access · evaluation</a:t>
            </a:r>
          </a:p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Human oversight · 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06C21-4098-42AB-B0C5-2F0F0488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000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Access must pass both IAM and Lake Formation controls where Lake Formation governs the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D67DB-088C-48F4-AD4E-A7F5FA2B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899D3-3985-40D4-9FB6-CC2C93A8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81300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A2670D-08F2-47EA-AD58-F69FE4AE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37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Automation converts architecture intent into repeatable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7353E-0769-4FF6-8211-1333B12A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AE7A7-97FE-4574-9076-13251371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A successful manual demo is not a production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CCBEE-3C61-404F-8DE4-66D92E82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003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55B3C-9FCB-4F35-9777-8F6151AC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8F507-61A7-4AAD-883D-6668FD1C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1F4C2-697E-4948-8DE0-3C55341A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C1E87-3901-44F6-8D23-574528A5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BFA3"/>
          </a:solidFill>
          <a:ln xmlns:a="http://schemas.openxmlformats.org/drawingml/2006/main" w="0">
            <a:solidFill>
              <a:srgbClr val="18BF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B66EC-A8F4-41D5-9B83-76EFA41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003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BFA3"/>
          </a:solidFill>
          <a:ln xmlns:a="http://schemas.openxmlformats.org/drawingml/2006/main" w="0">
            <a:solidFill>
              <a:srgbClr val="18BF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F9B5B-7DDE-4FCC-A175-6448092E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352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Pull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96864-9E32-4977-BD4C-30022B79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47875"/>
            <a:ext cx="1352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Format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and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A10BE-FC3A-4229-BB1D-AF84F1DE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47875"/>
            <a:ext cx="1352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1E6"/>
          </a:solidFill>
          <a:ln xmlns:a="http://schemas.openxmlformats.org/drawingml/2006/main" w="9525">
            <a:solidFill>
              <a:srgbClr val="E95D72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Security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and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459E6-16F8-4002-A9A5-96B5A1E3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47875"/>
            <a:ext cx="1352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D08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Terraform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06797-8177-45FE-B636-3673B2CC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47875"/>
            <a:ext cx="1352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D08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Protected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approval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80F4A-60A1-45CD-A67B-CB972659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1352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9F2E8"/>
          </a:solidFill>
          <a:ln xmlns:a="http://schemas.openxmlformats.org/drawingml/2006/main" w="9525">
            <a:solidFill>
              <a:srgbClr val="18BFA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Apply and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smoke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5AE0B-3DA6-45F8-8726-A83AB8BC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47875"/>
            <a:ext cx="1352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7E6FF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Publish</a:t>
            </a:r>
          </a:p>
          <a:p xmlns:a="http://schemas.openxmlformats.org/drawingml/2006/main">
            <a:pPr algn="ctr">
              <a:defRPr sz="13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C8F6B-F86B-4B7A-8F97-359D3F69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AUTOMATED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ACD8C-8618-432A-81F2-323EA655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Contract compatibility</a:t>
            </a:r>
          </a:p>
          <a:p xmlns:a="http://schemas.openxmlformats.org/drawingml/2006/main">
            <a:pPr algn="l">
              <a:defRPr sz="150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Unit and integration tests</a:t>
            </a:r>
          </a:p>
          <a:p xmlns:a="http://schemas.openxmlformats.org/drawingml/2006/main">
            <a:pPr algn="l">
              <a:defRPr sz="150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Terraform validate and security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EDEE4-0844-4C3D-BFA6-BE2404F2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SUPPLY CHAIN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B328E-B4F5-4AD4-8155-633404E0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481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Secret and dependency scanning</a:t>
            </a:r>
          </a:p>
          <a:p xmlns:a="http://schemas.openxmlformats.org/drawingml/2006/main">
            <a:pPr algn="l">
              <a:defRPr sz="150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SBOM and container scan</a:t>
            </a:r>
          </a:p>
          <a:p xmlns:a="http://schemas.openxmlformats.org/drawingml/2006/main">
            <a:pPr algn="l">
              <a:defRPr sz="150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Immutable image tag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9BF63-5412-40B2-B8D6-C10B01A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7760B-4713-4D68-9C63-FE3E8007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Failure and redrive tests</a:t>
            </a:r>
          </a:p>
          <a:p xmlns:a="http://schemas.openxmlformats.org/drawingml/2006/main">
            <a:pPr algn="l">
              <a:defRPr sz="150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SLO and cost dashboards</a:t>
            </a:r>
          </a:p>
          <a:p xmlns:a="http://schemas.openxmlformats.org/drawingml/2006/main">
            <a:pPr algn="l">
              <a:defRPr sz="1500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Rollback and evidence 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968A5-1ED0-437B-814F-3E020BE5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93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93C"/>
                </a:solidFill>
                <a:latin typeface="Aptos"/>
                <a:ea typeface="Aptos"/>
                <a:cs typeface="Aptos"/>
              </a:rPr>
              <a:t>Promotion requires architecture, security, reliability, governance and cost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E7225-5B92-4236-82D1-97D492F1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CC11D1-3697-4E4F-96A5-8E7A6C3A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1021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FA8832-35E5-4AC5-9652-09D5BB2B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Phase 1 is delivered in five evidence-producing increments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C1A34-5F2F-466E-A1D3-54A26D9D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D3847-0B49-4B35-9076-B846A20E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Each increment reduces a specific production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D950D-C1AD-452B-8359-377D7C6C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F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C7C1B-CB84-4E2B-B48D-7CA08BF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574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E65EF-3541-4781-90AD-CB0BB85F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43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11A49-3F36-4D9D-9E78-9A1F4764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69F14-059F-45FF-AE1B-F18E4BF9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Identity, time, schema and partition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DA770-9000-4B28-96CA-00EA176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93C"/>
          </a:solidFill>
          <a:ln xmlns:a="http://schemas.openxmlformats.org/drawingml/2006/main" w="9525">
            <a:solidFill>
              <a:srgbClr val="1029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699DB-160B-405B-832F-19AB559B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43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4A122-F5A4-40FF-B72A-F42F5C72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Adapter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A9C16-F828-4912-BECC-1017FDD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57625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Fargate connection, secrets and telemetry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D44CB-CCC6-4BCB-A49D-331D374D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574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93C"/>
          </a:solidFill>
          <a:ln xmlns:a="http://schemas.openxmlformats.org/drawingml/2006/main" w="9525">
            <a:solidFill>
              <a:srgbClr val="1029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FAC98-F6CA-4632-B8C4-BA84C49A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3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42E81-F248-4149-B897-2EA64BBE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A8521-0FD8-43CA-AAB3-F4C862D6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57625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Kinesis batching, retry, replay and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84E13-C3C6-4F96-975D-4B0738A8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93C"/>
          </a:solidFill>
          <a:ln xmlns:a="http://schemas.openxmlformats.org/drawingml/2006/main" w="9525">
            <a:solidFill>
              <a:srgbClr val="1029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3ECBF-6641-49AD-8BE3-6E70ABBE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43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478FE-DD27-4AAC-A013-7A17A11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A9257-2A0B-43DC-BC67-805542FF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57625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Quarantine, DLQ, checkpoints and failure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D3C14-4879-467E-95BC-E1B2E1BC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574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93C"/>
          </a:solidFill>
          <a:ln xmlns:a="http://schemas.openxmlformats.org/drawingml/2006/main" w="9525">
            <a:solidFill>
              <a:srgbClr val="1029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7A158-6423-4881-8F2B-50967094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431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33840-6425-4B28-BE4C-46CB5BBB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337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CDCA7-E681-4F47-95EE-43CA0309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IaC, controls, runbook, SLO and cost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64EF6-F755-44FA-8413-58476A71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0715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C8E2A-2D47-4D24-83CB-242C7E1C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47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Gate 1 unlocks Bronze/Silver only after reconciliation, recovery, security and cost evidence pass.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29D04D-8AF9-4070-B849-D304B9D5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B17D3-198C-4FF6-969C-2B122A66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95696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5FDDB4-1811-4D35-946A-762CEC3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233"/>
                </a:solidFill>
                <a:latin typeface="Aptos"/>
                <a:ea typeface="Aptos"/>
                <a:cs typeface="Aptos"/>
              </a:rPr>
              <a:t>Phase 1 completes when the evidence survives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D8793-7A18-437F-93DD-57552DD2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3E528-11BB-4C90-95B0-97A74F96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667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Targets remain proposals until monitoring and test results prove them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95006-5D99-4273-B0CB-758A81B5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9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9900"/>
                </a:solidFill>
                <a:latin typeface="Aptos"/>
                <a:ea typeface="Aptos"/>
                <a:cs typeface="Aptos"/>
              </a:rPr>
              <a:t>PROPOSED SLOs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115AC-AAC3-4576-88D9-C2C39063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93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0293C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6248B-5115-4465-8E4A-A6C67998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accepted events have an explained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8A9B3-E820-4C12-BC7A-35D9A453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BFA3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8BFA3"/>
                </a:solidFill>
                <a:latin typeface="Aptos"/>
                <a:ea typeface="Aptos"/>
                <a:cs typeface="Aptos"/>
              </a:rPr>
              <a:t>&lt; 2 sec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7D8E8-9735-4893-BA7A-0EE1DF4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proposed p95 receipt-to-Kinesis acknowledgement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D89D8-E299-478D-99A5-A9D35951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3B82F6"/>
                </a:solidFill>
                <a:latin typeface="Aptos"/>
                <a:ea typeface="Aptos"/>
                <a:cs typeface="Aptos"/>
              </a:rPr>
              <a:t>&lt; 5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3613E-9CC8-421B-A5CD-2971A649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proposed recovery after one adapter task 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3356A-3720-4293-B861-6AB50956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66675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AD7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AB866-13D8-44A9-9FE6-4ECE8964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57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GATE 1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D9302-C317-453E-AFC5-B7C267DD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60E06-0581-4EFF-AF2D-29AF10A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Contract compatibility and invalid-event quarantine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0F000-5F57-4BFD-BFE9-F5B6EA3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765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FFF63-8635-4A2A-A074-F2C1AD01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7655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Reconnect, retry, throttling and task-replacement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758B6-99FF-45FB-BF54-AE1E966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194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FCACD-A1BD-4A89-AB53-1CBC3F6B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1947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Accepted-event reconciliation with no unexplained loss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8986C-9DB7-49E8-969F-88595429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624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707B4-A8D2-42CD-BCAE-378C1119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624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Least privilege, encryption and secret-scan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D891A-1C94-472C-8FB1-BD9C5706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053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7830E-FC1B-4571-9D36-D742E245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Reproducible Terraform and protected deployment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C872AC-1D0D-47E5-90A0-E2FB5891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48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8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866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82EDC-AE19-490C-8BB6-41B1DDF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4825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233"/>
                </a:solidFill>
                <a:latin typeface="Aptos"/>
                <a:ea typeface="Aptos"/>
                <a:cs typeface="Aptos"/>
              </a:rPr>
              <a:t>Dashboard, alarms, runbook and measured unit cost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0CD288-98FF-4223-8209-E1F94001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486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D83C5-172F-4822-94A9-9688A0AD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188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12D3D-AEFF-46ED-BF36-A2A88CE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9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9900"/>
                </a:solidFill>
                <a:latin typeface="Aptos"/>
                <a:ea typeface="Aptos"/>
                <a:cs typeface="Aptos"/>
              </a:rPr>
              <a:t>THE ARCHITECTURE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6721D-42E3-4A32-B4B3-7F3A34C3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Trusted data reaches decisions faster—</a:t>
            </a:r>
          </a:p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without sacrificing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A295D-5AD4-442D-B3F2-3F2DA15A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658"/>
          </a:solidFill>
          <a:ln xmlns:a="http://schemas.openxmlformats.org/drawingml/2006/main" w="9525">
            <a:solidFill>
              <a:srgbClr val="2C46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80B68-6799-4C42-8223-6FC4146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0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D08A"/>
                </a:solidFill>
                <a:latin typeface="Aptos"/>
                <a:ea typeface="Aptos"/>
                <a:cs typeface="Aptos"/>
              </a:rPr>
              <a:t>Company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BCFE1-A0F0-4D0A-B451-FCD1EB5C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Faster source onboarding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Less duplicated engineering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Reliable replay and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AB014-1E3E-428F-83B4-80192073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71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0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D08A"/>
                </a:solidFill>
                <a:latin typeface="Aptos"/>
                <a:ea typeface="Aptos"/>
                <a:cs typeface="Aptos"/>
              </a:rPr>
              <a:t>Engineering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3FB1F-E175-4A06-AE6B-348E22A3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57625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Explicit contracts and SLOs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Automated governance evidence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Measured service trade-offs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A765D-6851-442A-8F85-2CFEF907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0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D08A"/>
                </a:solidFill>
                <a:latin typeface="Aptos"/>
                <a:ea typeface="Aptos"/>
                <a:cs typeface="Aptos"/>
              </a:rPr>
              <a:t>Decision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B6120-DEEE-4517-AAD6-283B132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Trusted metrics and lineage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Controlled ML/AI inputs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Transparent operating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29947-8C0B-47D4-AD11-52EF92F0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Paresh Ranjan Rout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3D9AD-6322-4D95-BACC-8C6FE123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FB2C0"/>
                </a:solidFill>
                <a:latin typeface="Aptos"/>
                <a:ea typeface="Aptos"/>
                <a:cs typeface="Aptos"/>
              </a:rPr>
              <a:t>Owner and Lead Architect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733EC-685A-4202-8B69-CB966F05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A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AC7"/>
                </a:solidFill>
                <a:latin typeface="Aptos"/>
                <a:ea typeface="Aptos"/>
                <a:cs typeface="Aptos"/>
              </a:rPr>
              <a:t>Paresh Ranjan Rout  |  LCA Governed Streaming &amp; AI Data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1833B-55E6-4D17-BD7C-64D1C66B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A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A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91792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2026-08-10T14:55:40.6010000Z</dcterms:created>
  <dcterms:modified xsi:type="dcterms:W3CDTF">2026-08-10T14:55:40.6010000Z</dcterms:modified>
</coreProperties>
</file>