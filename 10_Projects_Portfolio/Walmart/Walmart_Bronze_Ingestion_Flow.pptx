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requested a simplified Bronze-only technical ingestion deck; remove Temporary Landing Path / LANDING_BASE and no stakeholder review slide.
- Common functions show API response downloadUrls and Parquet file download before Spark/Delta write: turn1file0 lines 195-224.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Common functions define request headers, GET calls, API response parsing, downloadUrls extraction, Parquet download, Spark read, and Delta write: turn1file0 lines 57-64 and 180-224.
- User requested removal of Temporary Landing Path / LANDING_BASE from PPT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Fact feeds define incremental and history endpoint paths in common functions: turn1file0 lines 126-131.
- Daily gap check uses POST with feedDate body: turn1file3 lines 82-106.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make_signature writes temp private key, runs Java JAR, parses signature and timestamp: turn1file0 lines 28-52.
- request_headers attaches the four Walmart headers: turn1file0 lines 57-64.
- request_with_retry regenerates headers each attempt and handles 429/network retry: turn1file0 lines 67-96.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load_dim_feed downloads URLs, Spark reads Parquet, adds metadata, writes Delta overwrite: turn1file0 lines 147-176.
- load_fact reads JSON downloadUrls, downloads Parquet, adds metadata, writes Delta append: turn1file0 lines 195-224.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History notebook warns it is manual/one-time and prevents reloading if the target table already has data: turn1file2 lines 6-39.
- Daily incremental notebook loads all fact feeds, then checks/fills gaps: turn1file3 lines 6-17 and 43-134.
- Common functions handle duplicate check, 204 no-data, and retry behavior: turn1file0 lines 67-112 and 180-225.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88952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01968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Walmart Scintilla → Databricks Bronze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77240"/>
            <a:ext cx="9052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Walmart Scintilla APIs to Databricks Bronze Ingestion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21792" y="18745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Clear technical flow only: authenticated API call → download URLs → Parquet files → Spark → Bronze Delta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792" y="2606040"/>
            <a:ext cx="109728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E4F5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40280" y="3703320"/>
            <a:ext cx="777240" cy="0"/>
          </a:xfrm>
          <a:prstGeom prst="line">
            <a:avLst/>
          </a:prstGeom>
          <a:noFill/>
          <a:ln w="25400">
            <a:solidFill>
              <a:srgbClr val="2463E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617720" y="3703320"/>
            <a:ext cx="777240" cy="0"/>
          </a:xfrm>
          <a:prstGeom prst="line">
            <a:avLst/>
          </a:prstGeom>
          <a:noFill/>
          <a:ln w="25400">
            <a:solidFill>
              <a:srgbClr val="24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995160" y="3703320"/>
            <a:ext cx="777240" cy="0"/>
          </a:xfrm>
          <a:prstGeom prst="line">
            <a:avLst/>
          </a:prstGeom>
          <a:noFill/>
          <a:ln w="25400">
            <a:solidFill>
              <a:srgbClr val="2463E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372600" y="3703320"/>
            <a:ext cx="777240" cy="0"/>
          </a:xfrm>
          <a:prstGeom prst="line">
            <a:avLst/>
          </a:prstGeom>
          <a:noFill/>
          <a:ln w="25400">
            <a:solidFill>
              <a:srgbClr val="2463E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14400" y="3063240"/>
            <a:ext cx="1325880" cy="1298448"/>
          </a:xfrm>
          <a:prstGeom prst="roundRect">
            <a:avLst>
              <a:gd name="adj" fmla="val 8451"/>
            </a:avLst>
          </a:prstGeom>
          <a:solidFill>
            <a:srgbClr val="EEF6FF"/>
          </a:solidFill>
          <a:ln w="15240">
            <a:solidFill>
              <a:srgbClr val="8AB4F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" y="320954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Walmart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33272" y="3557016"/>
            <a:ext cx="108813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Scintilla API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63240" y="3063240"/>
            <a:ext cx="1554480" cy="1298448"/>
          </a:xfrm>
          <a:prstGeom prst="roundRect">
            <a:avLst>
              <a:gd name="adj" fmla="val 845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32095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Databricks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82112" y="3557016"/>
            <a:ext cx="131673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Notebook calls API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40680" y="3063240"/>
            <a:ext cx="1554480" cy="1298448"/>
          </a:xfrm>
          <a:prstGeom prst="roundRect">
            <a:avLst>
              <a:gd name="adj" fmla="val 8451"/>
            </a:avLst>
          </a:prstGeom>
          <a:solidFill>
            <a:srgbClr val="FFF7ED"/>
          </a:solidFill>
          <a:ln w="15240">
            <a:solidFill>
              <a:srgbClr val="FDBA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77840" y="32095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Response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59552" y="3557016"/>
            <a:ext cx="131673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downloadUrls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818120" y="3063240"/>
            <a:ext cx="1554480" cy="1298448"/>
          </a:xfrm>
          <a:prstGeom prst="roundRect">
            <a:avLst>
              <a:gd name="adj" fmla="val 8451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955280" y="32095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Parquet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36992" y="3557016"/>
            <a:ext cx="131673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downloaded files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195560" y="3063240"/>
            <a:ext cx="1143000" cy="1298448"/>
          </a:xfrm>
          <a:prstGeom prst="roundRect">
            <a:avLst>
              <a:gd name="adj" fmla="val 9600"/>
            </a:avLst>
          </a:prstGeom>
          <a:solidFill>
            <a:srgbClr val="EEF2FF"/>
          </a:solidFill>
          <a:ln w="15240">
            <a:solidFill>
              <a:srgbClr val="A5B4F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332720" y="320954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Bronze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314432" y="3557016"/>
            <a:ext cx="90525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Delta tables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" y="5166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</a:rPr>
              <a:t>Scope note: Silver/Gold are referenced only as downstream handoff, not covered in this deck.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Bronze ingestion: one straight technical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863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No direct database access; no volume box; the API response gives file URLs, then Databricks downloads and ingests Parquet.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645920" y="2377440"/>
            <a:ext cx="301752" cy="0"/>
          </a:xfrm>
          <a:prstGeom prst="line">
            <a:avLst/>
          </a:prstGeom>
          <a:noFill/>
          <a:ln w="25400">
            <a:solidFill>
              <a:srgbClr val="2463EB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200400" y="2377440"/>
            <a:ext cx="347472" cy="0"/>
          </a:xfrm>
          <a:prstGeom prst="line">
            <a:avLst/>
          </a:prstGeom>
          <a:noFill/>
          <a:ln w="25400">
            <a:solidFill>
              <a:srgbClr val="2463EB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800600" y="2377440"/>
            <a:ext cx="438912" cy="0"/>
          </a:xfrm>
          <a:prstGeom prst="line">
            <a:avLst/>
          </a:prstGeom>
          <a:noFill/>
          <a:ln w="25400">
            <a:solidFill>
              <a:srgbClr val="2463E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92240" y="2377440"/>
            <a:ext cx="393192" cy="0"/>
          </a:xfrm>
          <a:prstGeom prst="line">
            <a:avLst/>
          </a:prstGeom>
          <a:noFill/>
          <a:ln w="25400">
            <a:solidFill>
              <a:srgbClr val="24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138160" y="2377440"/>
            <a:ext cx="393192" cy="0"/>
          </a:xfrm>
          <a:prstGeom prst="line">
            <a:avLst/>
          </a:prstGeom>
          <a:noFill/>
          <a:ln w="25400">
            <a:solidFill>
              <a:srgbClr val="2463E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784080" y="2377440"/>
            <a:ext cx="347472" cy="0"/>
          </a:xfrm>
          <a:prstGeom prst="line">
            <a:avLst/>
          </a:prstGeom>
          <a:noFill/>
          <a:ln w="25400">
            <a:solidFill>
              <a:srgbClr val="2463E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2920" y="1874520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EEF6FF"/>
          </a:solidFill>
          <a:ln w="15240">
            <a:solidFill>
              <a:srgbClr val="8AB4F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194767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3EB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" y="2157984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Walmart Scintilla API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576072" y="2441448"/>
            <a:ext cx="1088136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Exposes approved feeds through endpoints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2057400" y="1874520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30552" y="194767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3EB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67128" y="2157984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Build signed request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2130552" y="2441448"/>
            <a:ext cx="1088136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Consumer ID + timestamp + signature + key version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3657600" y="1874520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30752" y="194767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3EB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67328" y="2157984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Call endpoint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3730752" y="2441448"/>
            <a:ext cx="1088136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GET latest/history or POST feedDate/fileName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5349240" y="1874520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FFF7ED"/>
          </a:solidFill>
          <a:ln w="15240">
            <a:solidFill>
              <a:srgbClr val="FDBA74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22392" y="194767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3EB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58968" y="2157984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Receive response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5422392" y="2441448"/>
            <a:ext cx="1088136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JSON response contains downloadUrls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6995160" y="1874520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068312" y="194767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3EB"/>
                </a:solidFill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04888" y="2157984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Download Parquet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7068312" y="2441448"/>
            <a:ext cx="1088136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Databricks downloads actual data files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8641080" y="1874520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714232" y="194767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3EB"/>
                </a:solidFill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750808" y="2157984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Spark processing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8714232" y="2441448"/>
            <a:ext cx="1088136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Read Parquet and add Bronze metadata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10241280" y="1874520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EEF2FF"/>
          </a:solidFill>
          <a:ln w="15240">
            <a:solidFill>
              <a:srgbClr val="A5B4F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0314432" y="194767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3EB"/>
                </a:solidFill>
              </a:rPr>
              <a:t>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351008" y="2157984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Bronze Delta</a:t>
            </a:r>
            <a:endParaRPr lang="en-US" sz="930" dirty="0"/>
          </a:p>
        </p:txBody>
      </p:sp>
      <p:sp>
        <p:nvSpPr>
          <p:cNvPr id="37" name="Text 35"/>
          <p:cNvSpPr/>
          <p:nvPr/>
        </p:nvSpPr>
        <p:spPr>
          <a:xfrm>
            <a:off x="10314432" y="2441448"/>
            <a:ext cx="1088136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Write overwrite for dimensions; append for facts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640080" y="38221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5B"/>
                </a:solidFill>
              </a:rPr>
              <a:t>Core idea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31520" y="4206240"/>
            <a:ext cx="53949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The API does not return billions of rows directly; it returns secure download URLs.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31520" y="4617720"/>
            <a:ext cx="53949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The actual data is transferred as Parquet files and read by Spark.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31520" y="5029200"/>
            <a:ext cx="53949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Bronze stores raw data with only ingestion metadata for traceability.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537960" y="3913632"/>
            <a:ext cx="4892040" cy="1691640"/>
          </a:xfrm>
          <a:prstGeom prst="roundRect">
            <a:avLst>
              <a:gd name="adj" fmla="val 7027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41330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Implementation note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766560" y="4526280"/>
            <a:ext cx="43891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This diagram intentionally removes any “Landing Volume / LANDING_BASE” storage box. The simplified architecture shows Databricks downloading Parquet and ingesting it into Bronze.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Scintilla API operations used by Bronze ingestion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863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Each feed has fixed endpoint patterns. GET/POST is the request style; the operation defines what data is requested.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920240" cy="43891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545336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Operation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14600" y="1417320"/>
            <a:ext cx="1005840" cy="43891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87752" y="1545336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Method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1417320"/>
            <a:ext cx="3108960" cy="43891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93592" y="1545336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Endpoint pattern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629400" y="1417320"/>
            <a:ext cx="4572000" cy="43891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02552" y="1545336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Technical use in Bronze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1856232"/>
            <a:ext cx="192024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020824"/>
            <a:ext cx="1773936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Get Latest Data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14600" y="1856232"/>
            <a:ext cx="100584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3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87752" y="2020824"/>
            <a:ext cx="859536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GET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520440" y="1856232"/>
            <a:ext cx="310896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3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93592" y="2020824"/>
            <a:ext cx="2962656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/bulkfeeds/incremental/{feed}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29400" y="1856232"/>
            <a:ext cx="457200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3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2020824"/>
            <a:ext cx="4425696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Daily incremental pull for latest available data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360" y="2569464"/>
            <a:ext cx="1920240" cy="713232"/>
          </a:xfrm>
          <a:prstGeom prst="rect">
            <a:avLst/>
          </a:prstGeom>
          <a:solidFill>
            <a:srgbClr val="F8FAFC"/>
          </a:solidFill>
          <a:ln w="10160">
            <a:solidFill>
              <a:srgbClr val="D8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2734056"/>
            <a:ext cx="1773936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Get Data By FeedDate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14600" y="2569464"/>
            <a:ext cx="1005840" cy="713232"/>
          </a:xfrm>
          <a:prstGeom prst="rect">
            <a:avLst/>
          </a:prstGeom>
          <a:solidFill>
            <a:srgbClr val="F8FAFC"/>
          </a:solidFill>
          <a:ln w="10160">
            <a:solidFill>
              <a:srgbClr val="D8E3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87752" y="2734056"/>
            <a:ext cx="859536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</a:rPr>
              <a:t>POST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520440" y="2569464"/>
            <a:ext cx="3108960" cy="713232"/>
          </a:xfrm>
          <a:prstGeom prst="rect">
            <a:avLst/>
          </a:prstGeom>
          <a:solidFill>
            <a:srgbClr val="F8FAFC"/>
          </a:solidFill>
          <a:ln w="10160">
            <a:solidFill>
              <a:srgbClr val="D8E3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93592" y="2734056"/>
            <a:ext cx="2962656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/bulkfeeds/incremental/{feed}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629400" y="2569464"/>
            <a:ext cx="4572000" cy="713232"/>
          </a:xfrm>
          <a:prstGeom prst="rect">
            <a:avLst/>
          </a:prstGeom>
          <a:solidFill>
            <a:srgbClr val="F8FAFC"/>
          </a:solidFill>
          <a:ln w="10160">
            <a:solidFill>
              <a:srgbClr val="D8E3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02552" y="2734056"/>
            <a:ext cx="4425696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Request one specific feedDate, mainly gap recovery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4360" y="3282696"/>
            <a:ext cx="192024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3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3447288"/>
            <a:ext cx="1773936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Get Available History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14600" y="3282696"/>
            <a:ext cx="100584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3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87752" y="3447288"/>
            <a:ext cx="859536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GET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520440" y="3282696"/>
            <a:ext cx="310896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3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93592" y="3447288"/>
            <a:ext cx="2962656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/bulkfeeds/history/{feed}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29400" y="3282696"/>
            <a:ext cx="457200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3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02552" y="3447288"/>
            <a:ext cx="4425696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Initial one-time historical backfill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4360" y="3995928"/>
            <a:ext cx="1920240" cy="713232"/>
          </a:xfrm>
          <a:prstGeom prst="rect">
            <a:avLst/>
          </a:prstGeom>
          <a:solidFill>
            <a:srgbClr val="F8FAFC"/>
          </a:solidFill>
          <a:ln w="10160">
            <a:solidFill>
              <a:srgbClr val="D8E3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" y="4160520"/>
            <a:ext cx="1773936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Get History By FileName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514600" y="3995928"/>
            <a:ext cx="1005840" cy="713232"/>
          </a:xfrm>
          <a:prstGeom prst="rect">
            <a:avLst/>
          </a:prstGeom>
          <a:solidFill>
            <a:srgbClr val="F8FAFC"/>
          </a:solidFill>
          <a:ln w="10160">
            <a:solidFill>
              <a:srgbClr val="D8E3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87752" y="4160520"/>
            <a:ext cx="859536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</a:rPr>
              <a:t>POST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520440" y="3995928"/>
            <a:ext cx="3108960" cy="713232"/>
          </a:xfrm>
          <a:prstGeom prst="rect">
            <a:avLst/>
          </a:prstGeom>
          <a:solidFill>
            <a:srgbClr val="F8FAFC"/>
          </a:solidFill>
          <a:ln w="10160">
            <a:solidFill>
              <a:srgbClr val="D8E3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93592" y="4160520"/>
            <a:ext cx="2962656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/bulkfeeds/history/{feed}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629400" y="3995928"/>
            <a:ext cx="4572000" cy="713232"/>
          </a:xfrm>
          <a:prstGeom prst="rect">
            <a:avLst/>
          </a:prstGeom>
          <a:solidFill>
            <a:srgbClr val="F8FAFC"/>
          </a:solidFill>
          <a:ln w="10160">
            <a:solidFill>
              <a:srgbClr val="D8E3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02552" y="4160520"/>
            <a:ext cx="4425696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Request specific historical file names when needed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85800" y="4892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5B"/>
                </a:solidFill>
              </a:rPr>
              <a:t>Mental model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2606040" y="4828032"/>
            <a:ext cx="2377440" cy="301752"/>
          </a:xfrm>
          <a:prstGeom prst="roundRect">
            <a:avLst>
              <a:gd name="adj" fmla="val 36364"/>
            </a:avLst>
          </a:prstGeom>
          <a:solidFill>
            <a:srgbClr val="EAF8F6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51760" y="490118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GET = ask for latest / available history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257800" y="4828032"/>
            <a:ext cx="2057400" cy="301752"/>
          </a:xfrm>
          <a:prstGeom prst="roundRect">
            <a:avLst>
              <a:gd name="adj" fmla="val 36364"/>
            </a:avLst>
          </a:prstGeom>
          <a:solidFill>
            <a:srgbClr val="F3E8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03520" y="4901184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POST = ask with a specific body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85800" y="5440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Example POST body for a missing day:  { "feedDate": "2026-07-13" }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Request construction: what Databricks sends to Walmart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863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notebook generates a fresh signature and attaches the required headers for every API call.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493776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</a:rPr>
              <a:t>Required request headers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057400"/>
            <a:ext cx="4343400" cy="420624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157984"/>
            <a:ext cx="2057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WM_CONSUMER.ID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154680" y="2157984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Consumer/account identifier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868680" y="2715768"/>
            <a:ext cx="4343400" cy="420624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816352"/>
            <a:ext cx="2057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WM_CONSUMER.INTIMESTAMP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154680" y="281635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Current request timestamp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868680" y="3374136"/>
            <a:ext cx="4343400" cy="420624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474720"/>
            <a:ext cx="2057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WM_SEC.AUTH_SIGNATURE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154680" y="347472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Fresh digital signature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68680" y="4032504"/>
            <a:ext cx="4343400" cy="420624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133088"/>
            <a:ext cx="2057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WM_SEC.KEY_VERSION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154680" y="413308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Key version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868680" y="48463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</a:rPr>
              <a:t>Implementation behavior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517550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Signature is regenerated per request; retries also generate fresh headers.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400800" y="1965960"/>
            <a:ext cx="1280160" cy="0"/>
          </a:xfrm>
          <a:prstGeom prst="line">
            <a:avLst/>
          </a:prstGeom>
          <a:noFill/>
          <a:ln w="25400">
            <a:solidFill>
              <a:srgbClr val="2463E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06840" y="1965960"/>
            <a:ext cx="1188720" cy="0"/>
          </a:xfrm>
          <a:prstGeom prst="line">
            <a:avLst/>
          </a:prstGeom>
          <a:noFill/>
          <a:ln w="25400">
            <a:solidFill>
              <a:srgbClr val="2463E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806440" y="1417320"/>
            <a:ext cx="1325880" cy="1097280"/>
          </a:xfrm>
          <a:prstGeom prst="roundRect">
            <a:avLst>
              <a:gd name="adj" fmla="val 10000"/>
            </a:avLst>
          </a:prstGeom>
          <a:solidFill>
            <a:srgbClr val="EAF2FF"/>
          </a:solidFill>
          <a:ln w="15240">
            <a:solidFill>
              <a:srgbClr val="9EC5F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0" y="156362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key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25312" y="1911096"/>
            <a:ext cx="108813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+ Consumer ID + Key version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7726680" y="1417320"/>
            <a:ext cx="1325880" cy="1097280"/>
          </a:xfrm>
          <a:prstGeom prst="roundRect">
            <a:avLst>
              <a:gd name="adj" fmla="val 10000"/>
            </a:avLst>
          </a:prstGeom>
          <a:solidFill>
            <a:srgbClr val="EAF8F6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863840" y="156362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Signature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45552" y="1911096"/>
            <a:ext cx="108813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one-time proof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0241280" y="1417320"/>
            <a:ext cx="1325880" cy="109728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5240">
            <a:solidFill>
              <a:srgbClr val="FDBA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378440" y="156362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Headers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60152" y="1911096"/>
            <a:ext cx="108813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sent with API call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89320" y="32461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</a:rPr>
              <a:t>Why this matters technically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080760" y="3657600"/>
            <a:ext cx="49377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Walmart validates the request identity.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080760" y="4069080"/>
            <a:ext cx="49377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The same request style works for dimensions, facts, history and incremental.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080760" y="4617720"/>
            <a:ext cx="4937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If Walmart throttles or the network fails, the retry logic waits and tries again.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Bronze write pattern: what happens after downloadUrls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863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downloaded Parquet is read by Spark, tagged with metadata, then saved as Delta in the Bronze schema.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057400" y="1874520"/>
            <a:ext cx="914400" cy="0"/>
          </a:xfrm>
          <a:prstGeom prst="line">
            <a:avLst/>
          </a:prstGeom>
          <a:noFill/>
          <a:ln w="25400">
            <a:solidFill>
              <a:srgbClr val="2463EB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526280" y="1874520"/>
            <a:ext cx="960120" cy="0"/>
          </a:xfrm>
          <a:prstGeom prst="line">
            <a:avLst/>
          </a:prstGeom>
          <a:noFill/>
          <a:ln w="25400">
            <a:solidFill>
              <a:srgbClr val="2463EB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995160" y="1874520"/>
            <a:ext cx="914400" cy="0"/>
          </a:xfrm>
          <a:prstGeom prst="line">
            <a:avLst/>
          </a:prstGeom>
          <a:noFill/>
          <a:ln w="25400">
            <a:solidFill>
              <a:srgbClr val="2463E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418320" y="1874520"/>
            <a:ext cx="685800" cy="0"/>
          </a:xfrm>
          <a:prstGeom prst="line">
            <a:avLst/>
          </a:prstGeom>
          <a:noFill/>
          <a:ln w="25400">
            <a:solidFill>
              <a:srgbClr val="24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85800" y="1307592"/>
            <a:ext cx="1371600" cy="1143000"/>
          </a:xfrm>
          <a:prstGeom prst="roundRect">
            <a:avLst>
              <a:gd name="adj" fmla="val 9600"/>
            </a:avLst>
          </a:prstGeom>
          <a:solidFill>
            <a:srgbClr val="FFF7ED"/>
          </a:solidFill>
          <a:ln w="15240">
            <a:solidFill>
              <a:srgbClr val="FDBA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4538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1801368"/>
            <a:ext cx="11338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downloadUrls[]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17520" y="1307592"/>
            <a:ext cx="1508760" cy="1143000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54680" y="145389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36392" y="1801368"/>
            <a:ext cx="127101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Parquet file(s)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32120" y="1307592"/>
            <a:ext cx="1463040" cy="1143000"/>
          </a:xfrm>
          <a:prstGeom prst="roundRect">
            <a:avLst>
              <a:gd name="adj" fmla="val 9600"/>
            </a:avLst>
          </a:prstGeom>
          <a:solidFill>
            <a:srgbClr val="EAF8F6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0" y="14538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Spark read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50992" y="1801368"/>
            <a:ext cx="12252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spark.read.parquet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955280" y="1307592"/>
            <a:ext cx="1463040" cy="1143000"/>
          </a:xfrm>
          <a:prstGeom prst="roundRect">
            <a:avLst>
              <a:gd name="adj" fmla="val 9600"/>
            </a:avLst>
          </a:prstGeom>
          <a:solidFill>
            <a:srgbClr val="EAF2FF"/>
          </a:solidFill>
          <a:ln w="15240">
            <a:solidFill>
              <a:srgbClr val="9EC5F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092440" y="14538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74152" y="1801368"/>
            <a:ext cx="12252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</a:rPr>
              <a:t>_ingested_at, _source_feed, _feed_date, _env</a:t>
            </a:r>
            <a:endParaRPr lang="en-US" sz="710" dirty="0"/>
          </a:p>
        </p:txBody>
      </p:sp>
      <p:sp>
        <p:nvSpPr>
          <p:cNvPr id="20" name="Shape 18"/>
          <p:cNvSpPr/>
          <p:nvPr/>
        </p:nvSpPr>
        <p:spPr>
          <a:xfrm>
            <a:off x="10149840" y="1307592"/>
            <a:ext cx="1371600" cy="1143000"/>
          </a:xfrm>
          <a:prstGeom prst="roundRect">
            <a:avLst>
              <a:gd name="adj" fmla="val 9600"/>
            </a:avLst>
          </a:prstGeom>
          <a:solidFill>
            <a:srgbClr val="EEF2FF"/>
          </a:solidFill>
          <a:ln w="15240">
            <a:solidFill>
              <a:srgbClr val="A5B4F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287000" y="14538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Bronze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68712" y="1801368"/>
            <a:ext cx="11338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Delta table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" y="3154680"/>
            <a:ext cx="5257800" cy="18288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34564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</a:rPr>
              <a:t>Dimensions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971800" y="3410712"/>
            <a:ext cx="914400" cy="301752"/>
          </a:xfrm>
          <a:prstGeom prst="roundRect">
            <a:avLst>
              <a:gd name="adj" fmla="val 36364"/>
            </a:avLst>
          </a:prstGeom>
          <a:solidFill>
            <a:srgbClr val="EAF2FF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0" y="3483864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63EB"/>
                </a:solidFill>
              </a:rPr>
              <a:t>overwrite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05840" y="3886200"/>
            <a:ext cx="4572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Reference tables are refreshed as latest snapshots. Old version is replaced because Bronze only needs the current reference view.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4526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</a:rPr>
              <a:t>Examples: dcdimensions, itemattributes, productdimensions, storedimensions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0" y="3154680"/>
            <a:ext cx="5074920" cy="18288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34564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</a:rPr>
              <a:t>Facts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818120" y="3410712"/>
            <a:ext cx="777240" cy="301752"/>
          </a:xfrm>
          <a:prstGeom prst="roundRect">
            <a:avLst>
              <a:gd name="adj" fmla="val 36364"/>
            </a:avLst>
          </a:prstGeom>
          <a:solidFill>
            <a:srgbClr val="EAF8F6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0" y="3483864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append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675120" y="3886200"/>
            <a:ext cx="43891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Historical and daily fact records are appended so business history is preserved over time.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75120" y="45262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</a:rPr>
              <a:t>Examples: digitaltransactability, ecomitem, omni-sales2, storeitem, store-sales2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design: history, daily incrementals, and safety checks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863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Bronze ingestion is not just API calling; it includes backfill control, duplicate protection, and missing-day recovery.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0749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087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</a:rPr>
              <a:t>Initial historical backfill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0" y="1472184"/>
            <a:ext cx="1234440" cy="301752"/>
          </a:xfrm>
          <a:prstGeom prst="roundRect">
            <a:avLst>
              <a:gd name="adj" fmla="val 36364"/>
            </a:avLst>
          </a:prstGeom>
          <a:solidFill>
            <a:srgbClr val="EAF2FF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60520" y="1545336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63EB"/>
                </a:solidFill>
              </a:rPr>
              <a:t>03_load_fact_history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14400" y="1847088"/>
            <a:ext cx="4526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</a:rPr>
              <a:t>Run manually once for fact tables; protected so it does not silently reload the same history twice.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6355080" y="1325880"/>
            <a:ext cx="50749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5087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</a:rPr>
              <a:t>Daily incremental job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784080" y="1472184"/>
            <a:ext cx="1234440" cy="301752"/>
          </a:xfrm>
          <a:prstGeom prst="roundRect">
            <a:avLst>
              <a:gd name="adj" fmla="val 36364"/>
            </a:avLst>
          </a:prstGeom>
          <a:solidFill>
            <a:srgbClr val="EAF2FF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29800" y="1545336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63EB"/>
                </a:solidFill>
              </a:rPr>
              <a:t>04_load_fact_incremental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583680" y="1847088"/>
            <a:ext cx="4526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</a:rPr>
              <a:t>Scheduled notebook pulls latest data for all fact feeds using incremental APIs.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685800" y="2834640"/>
            <a:ext cx="50749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30175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</a:rPr>
              <a:t>Duplicate guard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114800" y="2980944"/>
            <a:ext cx="1234440" cy="301752"/>
          </a:xfrm>
          <a:prstGeom prst="roundRect">
            <a:avLst>
              <a:gd name="adj" fmla="val 36364"/>
            </a:avLst>
          </a:prstGeom>
          <a:solidFill>
            <a:srgbClr val="EAF2FF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0" y="3054096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63EB"/>
                </a:solidFill>
              </a:rPr>
              <a:t>feed_date_already_loaded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14400" y="3355848"/>
            <a:ext cx="4526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</a:rPr>
              <a:t>Before incremental write, check if that _feed_date already exists for the table.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6355080" y="2834640"/>
            <a:ext cx="50749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0" y="30175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</a:rPr>
              <a:t>Gap recovery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784080" y="2980944"/>
            <a:ext cx="1234440" cy="301752"/>
          </a:xfrm>
          <a:prstGeom prst="roundRect">
            <a:avLst>
              <a:gd name="adj" fmla="val 36364"/>
            </a:avLst>
          </a:prstGeom>
          <a:solidFill>
            <a:srgbClr val="EAF2FF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29800" y="3054096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63EB"/>
                </a:solidFill>
              </a:rPr>
              <a:t>POST feedDate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83680" y="3355848"/>
            <a:ext cx="4526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</a:rPr>
              <a:t>If a date is missing, call POST Get Data By FeedDate and append that missing day.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685800" y="4343400"/>
            <a:ext cx="50749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45262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</a:rPr>
              <a:t>Expected no-data response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114800" y="4489704"/>
            <a:ext cx="1234440" cy="301752"/>
          </a:xfrm>
          <a:prstGeom prst="roundRect">
            <a:avLst>
              <a:gd name="adj" fmla="val 36364"/>
            </a:avLst>
          </a:prstGeom>
          <a:solidFill>
            <a:srgbClr val="EAF2FF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4562856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63EB"/>
                </a:solidFill>
              </a:rPr>
              <a:t>204 handling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14400" y="4864608"/>
            <a:ext cx="4526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</a:rPr>
              <a:t>HTTP 204 means no data is ready; it is handled as a normal condition, not a pipeline failure.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6355080" y="4343400"/>
            <a:ext cx="50749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83680" y="45262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</a:rPr>
              <a:t>Throttling/network retry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9784080" y="4489704"/>
            <a:ext cx="1234440" cy="301752"/>
          </a:xfrm>
          <a:prstGeom prst="roundRect">
            <a:avLst>
              <a:gd name="adj" fmla="val 36364"/>
            </a:avLst>
          </a:prstGeom>
          <a:solidFill>
            <a:srgbClr val="EAF2FF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29800" y="4562856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63EB"/>
                </a:solidFill>
              </a:rPr>
              <a:t>retry logic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583680" y="4864608"/>
            <a:ext cx="4526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</a:rPr>
              <a:t>HTTP 429 or transient network failure triggers wait-and-retry instead of immediate job failure.</a:t>
            </a:r>
            <a:endParaRPr lang="en-US" sz="1060" dirty="0"/>
          </a:p>
        </p:txBody>
      </p:sp>
      <p:sp>
        <p:nvSpPr>
          <p:cNvPr id="34" name="Text 32"/>
          <p:cNvSpPr/>
          <p:nvPr/>
        </p:nvSpPr>
        <p:spPr>
          <a:xfrm>
            <a:off x="685800" y="5989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</a:rPr>
              <a:t>Silver / Gold reference only: downstream teams consume Bronze and apply quality checks, deduplication, SCD2, standardization, analytics-ready models.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DataPOEM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Walmart Scintilla to Databricks Bronze Ingestion</dc:title>
  <dc:subject>Walmart Scintilla to Databricks Bronze ingestion</dc:subject>
  <dc:creator>OpenAI</dc:creator>
  <cp:lastModifiedBy>OpenAI</cp:lastModifiedBy>
  <cp:revision>1</cp:revision>
  <dcterms:created xsi:type="dcterms:W3CDTF">2026-08-13T03:42:47Z</dcterms:created>
  <dcterms:modified xsi:type="dcterms:W3CDTF">2026-08-13T03:42:47Z</dcterms:modified>
</cp:coreProperties>
</file>